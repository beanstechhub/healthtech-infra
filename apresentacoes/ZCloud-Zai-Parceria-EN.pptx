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Singapore (current)</c:v>
                </c:pt>
              </c:strCache>
            </c:strRef>
          </c:tx>
          <c:spPr>
            <a:solidFill>
              <a:srgbClr val="B0342C"/>
            </a:solidFill>
            <a:effectLst/>
          </c:spPr>
          <c:invertIfNegative val="0"/>
          <c:dLbls>
            <c:numFmt formatCode="0&quot;ms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2332"/>
                    </a:solidFill>
                    <a:latin typeface="Helvetica Neue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São Paulo</c:v>
                  </c:pt>
                  <c:pt idx="1">
                    <c:v>Europe</c:v>
                  </c:pt>
                  <c:pt idx="2">
                    <c:v>US East</c:v>
                  </c:pt>
                  <c:pt idx="3">
                    <c:v>LATAM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180</c:v>
                </c:pt>
                <c:pt idx="1">
                  <c:v>250</c:v>
                </c:pt>
                <c:pt idx="2">
                  <c:v>200</c:v>
                </c:pt>
                <c:pt idx="3">
                  <c:v>300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PB/CE (proposed)</c:v>
                </c:pt>
              </c:strCache>
            </c:strRef>
          </c:tx>
          <c:spPr>
            <a:solidFill>
              <a:srgbClr val="C9A227"/>
            </a:solidFill>
            <a:effectLst/>
          </c:spPr>
          <c:invertIfNegative val="0"/>
          <c:dLbls>
            <c:numFmt formatCode="0&quot;ms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2332"/>
                    </a:solidFill>
                    <a:latin typeface="Helvetica Neue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São Paulo</c:v>
                  </c:pt>
                  <c:pt idx="1">
                    <c:v>Europe</c:v>
                  </c:pt>
                  <c:pt idx="2">
                    <c:v>US East</c:v>
                  </c:pt>
                  <c:pt idx="3">
                    <c:v>LATAM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20</c:v>
                </c:pt>
                <c:pt idx="1">
                  <c:v>120</c:v>
                </c:pt>
                <c:pt idx="2">
                  <c:v>100</c:v>
                </c:pt>
                <c:pt idx="3">
                  <c:v>80</c:v>
                </c:pt>
              </c:numCache>
            </c:numRef>
          </c:val>
        </c:ser>
        <c:dLbls>
          <c:numFmt formatCode="0&quot;ms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A2332"/>
                  </a:solidFill>
                  <a:latin typeface="Helvetica Neue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B7A"/>
                </a:solidFill>
                <a:latin typeface="Helvetica Neue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C8D2D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A6B7A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5A6B7A"/>
                    </a:solidFill>
                    <a:latin typeface="Arial"/>
                  </a:rPr>
                  <a:t>Round-trip latency (ms)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B7A"/>
                </a:solidFill>
                <a:latin typeface="Helvetica Neue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5A6B7A"/>
              </a:solidFill>
              <a:latin typeface="Helvetica Neue"/>
              <a:cs typeface="Helvetica Neue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Revenue (US$M)</c:v>
                </c:pt>
              </c:strCache>
            </c:strRef>
          </c:tx>
          <c:spPr>
            <a:solidFill>
              <a:srgbClr val="C9A227"/>
            </a:solidFill>
            <a:effectLst/>
          </c:spPr>
          <c:invertIfNegative val="0"/>
          <c:dLbls>
            <c:numFmt formatCode="$#,##0&quot;M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A1628"/>
                    </a:solidFill>
                    <a:latin typeface="Helvetica Neue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  <c:pt idx="3">
                    <c:v>Year 4</c:v>
                  </c:pt>
                  <c:pt idx="4">
                    <c:v>Year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14.2</c:v>
                </c:pt>
                <c:pt idx="1">
                  <c:v>55</c:v>
                </c:pt>
                <c:pt idx="2">
                  <c:v>108</c:v>
                </c:pt>
                <c:pt idx="3">
                  <c:v>187</c:v>
                </c:pt>
                <c:pt idx="4">
                  <c:v>279</c:v>
                </c:pt>
              </c:numCache>
            </c:numRef>
          </c:val>
        </c:ser>
        <c:dLbls>
          <c:numFmt formatCode="$#,##0&quot;M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0A1628"/>
                  </a:solidFill>
                  <a:latin typeface="Helvetica Neue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B7A"/>
                </a:solidFill>
                <a:latin typeface="Helvetica Neue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C8D2D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A6B7A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5A6B7A"/>
                    </a:solidFill>
                    <a:latin typeface="Arial"/>
                  </a:rPr>
                  <a:t>Revenue (US$ millions)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B7A"/>
                </a:solidFill>
                <a:latin typeface="Helvetica Neue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11512" y="457200"/>
            <a:ext cx="1645920" cy="1645920"/>
          </a:xfrm>
          <a:prstGeom prst="ellipse">
            <a:avLst/>
          </a:prstGeom>
          <a:solidFill>
            <a:srgbClr val="0A1628">
              <a:alpha val="0"/>
            </a:srgbClr>
          </a:solidFill>
          <a:ln w="25400">
            <a:solidFill>
              <a:srgbClr val="C9A22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85832" y="731520"/>
            <a:ext cx="1097280" cy="1097280"/>
          </a:xfrm>
          <a:prstGeom prst="ellipse">
            <a:avLst/>
          </a:prstGeom>
          <a:solidFill>
            <a:srgbClr val="0A1628">
              <a:alpha val="0"/>
            </a:srgbClr>
          </a:solidFill>
          <a:ln w="12700">
            <a:solidFill>
              <a:srgbClr val="E8C84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85832" y="73152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Z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502920" y="1463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 ×  Z.AI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02920" y="2011680"/>
            <a:ext cx="8686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Sovereign AI for</a:t>
            </a:r>
            <a:endParaRPr lang="en-US" sz="48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Regulated Markets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502920" y="402336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B0C4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Bringing GLM to Latin America's largest economy — with data sovereignty,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B0C4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energy independence, and auditability as design principles, not afterthoughts.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5212080"/>
            <a:ext cx="274320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539496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US$ 300,000,000</a:t>
            </a:r>
            <a:endParaRPr lang="en-US" sz="2800" dirty="0"/>
          </a:p>
          <a:p>
            <a:pPr indent="0" marL="0">
              <a:buNone/>
            </a:pPr>
            <a:r>
              <a:rPr lang="en-US" sz="1100" dirty="0">
                <a:solidFill>
                  <a:srgbClr val="8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Strategic Partnership Value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7571232" y="539496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Matheus Ximenes · Founder &amp; CEO</a:t>
            </a:r>
            <a:endParaRPr lang="en-US" sz="900" dirty="0"/>
          </a:p>
          <a:p>
            <a:pPr algn="r"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Attorney · Postgraduate in Cloud Computing &amp; Data Protection</a:t>
            </a:r>
            <a:endParaRPr lang="en-US" sz="900" dirty="0"/>
          </a:p>
          <a:p>
            <a:pPr algn="r"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September 2026 · São Paulo, Brazil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Executive Summary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foundation already exists — the partnership scales it globally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554480"/>
            <a:ext cx="2011680" cy="11887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6276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US$ 300M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02920" y="21762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Partnership Value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715768" y="1554480"/>
            <a:ext cx="2011680" cy="11887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15768" y="16276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US$ 8.2B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2715768" y="21762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Market (BR Regulated)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928616" y="1554480"/>
            <a:ext cx="2011680" cy="11887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28616" y="16276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928616" y="21762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Regulated Verticals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7141464" y="1554480"/>
            <a:ext cx="2011680" cy="11887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41464" y="16276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16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7141464" y="21762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GPUs in Production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9354312" y="1554480"/>
            <a:ext cx="2011680" cy="11887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54312" y="16276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1.75M+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9354312" y="21762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Professionals (BR)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02920" y="3017520"/>
            <a:ext cx="11183112" cy="137160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200400"/>
            <a:ext cx="106344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E8C847"/>
                </a:solidFill>
              </a:rPr>
              <a:t>The hardest part — the model — already exists.</a:t>
            </a:r>
            <a:endParaRPr lang="en-US" sz="15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0C4D4"/>
                </a:solidFill>
              </a:rPr>
              <a:t>What typically takes years to build (infrastructure, regulatory expertise, distribution, domains) is already operational. BeansTech runs 16 GPUs, 6 frontier models, 8 medical portals, a complete compliance stack — and a clinical benchmark that validated GLM-5.3 as the top performer.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02920" y="45720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6F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Z.ai Gains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02920" y="4937760"/>
            <a:ext cx="5303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Sovereign presence — first frontier model with API executed in Brazilian territory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Market access — 550k physicians, 1.2M attorneys, 740 financial institutions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Premium domains — z.cloud and glm.cloud as the joint product identity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Energy independence — solar-powered data centers, ESG-auditable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400800" y="45720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6F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BeansTech Brings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0" y="4937760"/>
            <a:ext cx="5303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Production infrastructure — 16 GPUs, 6 models, 31 live health probes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Clinical benchmark — 156 evaluations, zero errors, GLM-5.3 validated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75 production domains across 6 regulated verticals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Regulatory expertise — founder attorney, 12 years Judiciary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Benchmark That Validated This Partnership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26 real Brazilian clinical cases · 6 frontier models · 156 evaluations · zero errors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54480"/>
          <a:ext cx="1118311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371600"/>
                <a:gridCol w="1371600"/>
                <a:gridCol w="3959352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Model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Coverage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Speed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Best Domain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Security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A162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GLM-5.3 (Z.ai)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A162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0.45 ★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A162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93 tok/s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A162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Surgery 0.88 · Management 0.67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A162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 (best)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Baichuan-M2-32B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0.45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41 tok/s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Medication 0.57 · Veterinary 0.62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Qwen-plus (Alibaba)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0.44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51 tok/s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Surgery 0.75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AntAngelMed-100B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0.41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149 tok/s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Native PT reasoning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3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Baichuan-M3-235B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0.39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71 tok/s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Emergency 0.63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MedGemma-27B (Google)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0.39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25 tok/s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Emergency 0.63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4572000"/>
            <a:ext cx="11183112" cy="1463040"/>
          </a:xfrm>
          <a:prstGeom prst="rect">
            <a:avLst/>
          </a:prstGeom>
          <a:solidFill>
            <a:srgbClr val="0A1628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4754880"/>
            <a:ext cx="106344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E8C847"/>
                </a:solidFill>
              </a:rPr>
              <a:t>What impressed us most was not the score — it was the character.</a:t>
            </a:r>
            <a:endParaRPr lang="en-US" sz="13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0C4D4"/>
                </a:solidFill>
              </a:rPr>
              <a:t>GLM-5.3 was the only model that identified rivaroxaban 20mg as an excessive dose for CrCl 28, cited ANVISA as the Brazilian regulatory source, mentioned andexanet alfa as a specific Factor Xa reversal agent — and said explicitly: "I cannot assert the exact dose without consulting the local protocol."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6172200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Source: BeansTech Clinical Benchmark, September 16, 2026 · Full results available for due diligence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z.cloud Thesis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AI cloud that proves what it answers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554480"/>
            <a:ext cx="2011680" cy="2011680"/>
          </a:xfrm>
          <a:prstGeom prst="ellipse">
            <a:avLst/>
          </a:prstGeom>
          <a:solidFill>
            <a:srgbClr val="0D1F35"/>
          </a:solidFill>
          <a:ln w="3175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554480"/>
            <a:ext cx="2011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Z</a:t>
            </a:r>
            <a:endParaRPr lang="en-US" sz="6400" dirty="0"/>
          </a:p>
        </p:txBody>
      </p:sp>
      <p:sp>
        <p:nvSpPr>
          <p:cNvPr id="7" name="Text 5"/>
          <p:cNvSpPr/>
          <p:nvPr/>
        </p:nvSpPr>
        <p:spPr>
          <a:xfrm>
            <a:off x="3200400" y="1554480"/>
            <a:ext cx="7772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FFFFFF"/>
                </a:solidFill>
              </a:rPr>
              <a:t>The Seventh Letter</a:t>
            </a:r>
            <a:endParaRPr lang="en-US" sz="16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B0C4D4"/>
                </a:solidFill>
              </a:rPr>
              <a:t>The last letter. The one that completes.</a:t>
            </a:r>
            <a:endParaRPr lang="en-US" sz="16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B0C4D4"/>
                </a:solidFill>
              </a:rPr>
              <a:t>When a regulated institution asks "where is my data processed?" — the current answer is "outside Brazil" or "we don't know."</a:t>
            </a:r>
            <a:endParaRPr lang="en-US" sz="16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E8C847"/>
                </a:solidFill>
              </a:rPr>
              <a:t>With GLM on z.cloud, the answer is: "In Brazilian territory, with complete audit trail, transparent abstention, and a frontier-quality model."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02920" y="3840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Brazil's Regulated Landscape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4206240"/>
          <a:ext cx="11183112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011680"/>
                <a:gridCol w="3200400"/>
                <a:gridCol w="21945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Sector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Regulated By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Professionals / Entities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Market (BR)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Healthcare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CFM, ANS, LGPD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550k physicians · 6.8k hospitals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R$ 4.4B/yr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Legal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OAB, LGPD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1.2M attorneys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R$ 80B/yr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Financial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BACEN, COAF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740 institutions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R$ 12B/yr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Insurance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ANS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740 operators · 48M lives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R$ 220B/yr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TOTAL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—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~1.75M professionals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US$ 8.2B/yr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GLM-5.3 &amp; GLM-5.3 Flash: Two Engines, One Platform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Both running in Brazilian territory — API and local deployment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554480"/>
            <a:ext cx="5303520" cy="457200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373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6F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GLM-5.3 FLASH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" y="21945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Engine — High Volume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2651760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Banking compliance: AML screening, transaction monitoring, SAR pre-processing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Legal volume: case-law search, document triage, citation extraction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Health triage: symptom screening, protocol lookup, appointment routing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Cost: near-zero (covered by existing Model Studio allocations)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Latency: sub-second for standard queries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77240" y="53035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Deployed via z.cloud API · Singapore region today · Brazilian territory upon data center completion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0" y="1554480"/>
            <a:ext cx="5303520" cy="4572000"/>
          </a:xfrm>
          <a:prstGeom prst="rect">
            <a:avLst/>
          </a:prstGeom>
          <a:solidFill>
            <a:srgbClr val="0A1628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75120" y="17373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GLM-5.3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675120" y="21945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Specialist — Deep Reasoning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2651760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800"/>
              </a:spcAft>
              <a:buSzPct val="100000"/>
              <a:buChar char="▸"/>
            </a:pPr>
            <a:r>
              <a:rPr lang="en-US" sz="1050" dirty="0">
                <a:solidFill>
                  <a:srgbClr val="B0C4D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Clinical decision support: complex cases, multi-morbidity, drug interactions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▸"/>
            </a:pPr>
            <a:r>
              <a:rPr lang="en-US" sz="1050" dirty="0">
                <a:solidFill>
                  <a:srgbClr val="B0C4D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Complex litigation: multi-party analysis, regulatory interpretation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▸"/>
            </a:pPr>
            <a:r>
              <a:rPr lang="en-US" sz="1050" dirty="0">
                <a:solidFill>
                  <a:srgbClr val="B0C4D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SAR narrative generation: full audit trail, regulator-ready output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▸"/>
            </a:pPr>
            <a:r>
              <a:rPr lang="en-US" sz="1050" dirty="0">
                <a:solidFill>
                  <a:srgbClr val="B0C4D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model that won our clinical benchmark (coverage 0.45)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▸"/>
            </a:pPr>
            <a:r>
              <a:rPr lang="en-US" sz="1050" dirty="0">
                <a:solidFill>
                  <a:srgbClr val="B0C4D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Available via API in Brazil + local deployment on sovereign infra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675120" y="53035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Fine-tuning target: coverage 0.45 → 0.70+ with Brazilian bilingual clinical dataset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Data Center Advantage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Santa Terezinha/PB (solar + satellite) + ZPE Caucaia/CE (same ZPE as TikTok)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463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Latency Comparison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02920" y="182880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400800" y="1463040"/>
            <a:ext cx="5303520" cy="182880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675120" y="160020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0A1628"/>
                </a:solidFill>
              </a:rPr>
              <a:t>Santa Terezinha · Paraíba</a:t>
            </a:r>
            <a:endParaRPr lang="en-US" sz="13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000" i="1" dirty="0">
                <a:solidFill>
                  <a:srgbClr val="2E6FAF"/>
                </a:solidFill>
              </a:rPr>
              <a:t>Solar + Satellite</a:t>
            </a:r>
            <a:endParaRPr lang="en-US" sz="13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5A6B7A"/>
                </a:solidFill>
              </a:rPr>
              <a:t>Photovoltaic plant on owned land. Direct satellite connectivity — zero connection to public grid. Energy-independent, ESG-auditable, zero-carbon processing.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0" y="3474720"/>
            <a:ext cx="5303520" cy="1828800"/>
          </a:xfrm>
          <a:prstGeom prst="rect">
            <a:avLst/>
          </a:prstGeom>
          <a:solidFill>
            <a:srgbClr val="0A1628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675120" y="361188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E8C847"/>
                </a:solidFill>
              </a:rPr>
              <a:t>ZPE Caucaia · Ceará</a:t>
            </a:r>
            <a:endParaRPr lang="en-US" sz="13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000" i="1" dirty="0">
                <a:solidFill>
                  <a:srgbClr val="8FB0C8"/>
                </a:solidFill>
              </a:rPr>
              <a:t>Special Economic Zone</a:t>
            </a:r>
            <a:endParaRPr lang="en-US" sz="13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B0C4D4"/>
                </a:solidFill>
              </a:rPr>
              <a:t>Same ZPE as TikTok's Brazilian DC. Tax incentives, customs special regime, direct submarine cable access. João Pessoa and Fortaleza projects ready for construction.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02920" y="548640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0342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Latency to São Paulo: 9× improvement (180ms → &lt;20ms) — enabling real-time clinical decision support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BeansTech Ecosystem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75 production domains · 6 regulated verticals · shared infrastructure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554480"/>
            <a:ext cx="5394960" cy="21031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69164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A1628"/>
                </a:solidFill>
              </a:rPr>
              <a:t>HealthTech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2E6FAF"/>
                </a:solidFill>
              </a:rPr>
              <a:t>dodr.ai · ragmed.ai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5A6B7A"/>
                </a:solidFill>
              </a:rPr>
              <a:t>8 portals live · 6 frontier models · anti-hallucination chain · clinical decision support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B0342C"/>
                </a:solidFill>
              </a:rPr>
              <a:t>550k physicians · R$ 4.4B/yr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126480" y="1554480"/>
            <a:ext cx="5394960" cy="21031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55080" y="169164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A1628"/>
                </a:solidFill>
              </a:rPr>
              <a:t>LegalTech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2E6FAF"/>
                </a:solidFill>
              </a:rPr>
              <a:t>ragjur.ai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5A6B7A"/>
                </a:solidFill>
              </a:rPr>
              <a:t>67M+ court decisions indexed · 55 sources · GLM-5.3 for analysis, Flash for volume search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B0342C"/>
                </a:solidFill>
              </a:rPr>
              <a:t>1.2M attorneys · R$ 80B/yr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" y="3931920"/>
            <a:ext cx="5394960" cy="21031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406908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A1628"/>
                </a:solidFill>
              </a:rPr>
              <a:t>FinTech / RegTech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2E6FAF"/>
                </a:solidFill>
              </a:rPr>
              <a:t>beansbank · pldbr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5A6B7A"/>
                </a:solidFill>
              </a:rPr>
              <a:t>AML compliance, SAR narrative, KYC · GLM-5.3 for deep analysis, Flash for triage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B0342C"/>
                </a:solidFill>
              </a:rPr>
              <a:t>740 institutions · R$ 12B/yr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126480" y="3931920"/>
            <a:ext cx="5394960" cy="2103120"/>
          </a:xfrm>
          <a:prstGeom prst="rect">
            <a:avLst/>
          </a:prstGeom>
          <a:solidFill>
            <a:srgbClr val="0A1628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5080" y="406908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E8C847"/>
                </a:solidFill>
              </a:rPr>
              <a:t>PropTech ★ GLM Flash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8FB0C8"/>
                </a:solidFill>
              </a:rPr>
              <a:t>alirealty.com.br · cyrela.ai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B0C4D4"/>
                </a:solidFill>
              </a:rPr>
              <a:t>Document analysis, credit triage, due diligence · GLM-5.3 Flash processes in seconds what takes hours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E8C847"/>
                </a:solidFill>
              </a:rPr>
              <a:t>R$ 15B/yr (real estate tech)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02920" y="6236208"/>
            <a:ext cx="11183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All verticals share the same model engine — adding GLM upgrades all simultaneously.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Fine-Tuning: From 0.45 to 0.70+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SFT → DPO → Clinical Validation — GLM-Med becomes the first frontier medical model trained on Brazilian regulatory data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54480"/>
          <a:ext cx="54864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Weakness (Base)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Resolution (Fine-Tuned)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Method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Pediatrics: 0.28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Target: &gt; 0.60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SFT with SBP protocols + pediatric dosing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Reasoning in English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Native PT reasoning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SFT with bilingual reasoning chains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Abstention: 0.50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Target: &gt; 0.80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DPO with preference for correct abstention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Citation: external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Native citation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SFT with citation-grounded examples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0" y="1554480"/>
            <a:ext cx="5303520" cy="137160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675120" y="169164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0A1628"/>
                </a:solidFill>
              </a:rPr>
              <a:t>Phase 1 · SFT</a:t>
            </a:r>
            <a:endParaRPr lang="en-US" sz="1300" dirty="0"/>
          </a:p>
          <a:p>
            <a:pPr indent="0" marL="0">
              <a:lnSpc>
                <a:spcPts val="15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5A6B7A"/>
                </a:solidFill>
              </a:rPr>
              <a:t>10,000 bilingual clinical cases · PCDT + ANVISA + SciELO · 8× H100 or 16× L20 · 2-4 weeks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400800" y="3108960"/>
            <a:ext cx="5303520" cy="137160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675120" y="324612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0A1628"/>
                </a:solidFill>
              </a:rPr>
              <a:t>Phase 2 · DPO</a:t>
            </a:r>
            <a:endParaRPr lang="en-US" sz="1300" dirty="0"/>
          </a:p>
          <a:p>
            <a:pPr indent="0" marL="0">
              <a:lnSpc>
                <a:spcPts val="15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5A6B7A"/>
                </a:solidFill>
              </a:rPr>
              <a:t>Brazilian physician preference ranking · Abstention &gt; assertion · 2 weeks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400800" y="4663440"/>
            <a:ext cx="5303520" cy="1371600"/>
          </a:xfrm>
          <a:prstGeom prst="rect">
            <a:avLst/>
          </a:prstGeom>
          <a:solidFill>
            <a:srgbClr val="0A1628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675120" y="480060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E8C847"/>
                </a:solidFill>
              </a:rPr>
              <a:t>Phase 3 · Validation</a:t>
            </a:r>
            <a:endParaRPr lang="en-US" sz="1300" dirty="0"/>
          </a:p>
          <a:p>
            <a:pPr indent="0" marL="0">
              <a:lnSpc>
                <a:spcPts val="15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B0C4D4"/>
                </a:solidFill>
              </a:rPr>
              <a:t>200 blind cases · 2 independent medical reviewers · Error = 0 (blocker) · Einstein / Rede D'Or pilot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5120640"/>
            <a:ext cx="5486400" cy="1280160"/>
          </a:xfrm>
          <a:prstGeom prst="rect">
            <a:avLst/>
          </a:prstGeom>
          <a:solidFill>
            <a:srgbClr val="F0F4F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525780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0A1628"/>
                </a:solidFill>
              </a:rPr>
              <a:t>The fine-tuned model becomes: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A6B7A"/>
                </a:solidFill>
              </a:rPr>
              <a:t>IP of the joint venture — licensable to hospitals, research institutions, and 3rd parties across LATAM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Global Revenue Projection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US$ 300M partnership → US$ 643M cumulative revenue (5 years) → US$ 2.2B enterprise value at exit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502920" y="1554480"/>
          <a:ext cx="530352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554480"/>
          <a:ext cx="530352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Revenue Stream (Year 5)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US$M/yr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Brazil (all verticals)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134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Latin America (Spanish)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60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Europe (GDPR-aligned)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40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US East Coast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25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GLM-Med licensing (3rd parties)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C9A22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TOTAL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9A22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279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02920" y="5029200"/>
            <a:ext cx="11183112" cy="1371600"/>
          </a:xfrm>
          <a:prstGeom prst="rect">
            <a:avLst/>
          </a:prstGeom>
          <a:solidFill>
            <a:srgbClr val="0A1628"/>
          </a:solidFill>
          <a:ln w="25400">
            <a:solidFill>
              <a:srgbClr val="C9A227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960120" y="5166360"/>
            <a:ext cx="102687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E8C847"/>
                </a:solidFill>
              </a:rPr>
              <a:t>US$ 300M Investment → US$ 643M Revenue (5 years) → US$ 2.2B Enterprise Value at Exit</a:t>
            </a:r>
            <a:endParaRPr lang="en-US" sz="14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B0C4D4"/>
                </a:solidFill>
              </a:rPr>
              <a:t>Direct ROI: 2.1×  ·  Enterprise Value Multiple: 7.4×  ·  Year 5 Run-Rate: US$ 279M/year</a:t>
            </a:r>
            <a:endParaRPr lang="en-US" sz="14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900" i="1" dirty="0">
                <a:solidFill>
                  <a:srgbClr val="6B8BB0"/>
                </a:solidFill>
              </a:rPr>
              <a:t>Excluding: data center assets, fine-tuned model IP, domain portfolio, recurring revenue beyond Year 5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Governance &amp; Ethics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Principles that both companies share — and that regulated markets demand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645920"/>
            <a:ext cx="5394960" cy="169164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78308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8C847"/>
                </a:solidFill>
              </a:rPr>
              <a:t>Transparency</a:t>
            </a:r>
            <a:endParaRPr lang="en-US" sz="1400" dirty="0"/>
          </a:p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B0C4D4"/>
                </a:solidFill>
              </a:rPr>
              <a:t>Every response discloses: which model, which version, which corpus, whether PII was detected. The user always knows what they are talking to.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26480" y="1645920"/>
            <a:ext cx="5394960" cy="169164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55080" y="178308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8C847"/>
                </a:solidFill>
              </a:rPr>
              <a:t>Abstention</a:t>
            </a:r>
            <a:endParaRPr lang="en-US" sz="1400" dirty="0"/>
          </a:p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B0C4D4"/>
                </a:solidFill>
              </a:rPr>
              <a:t>When the system cannot find evidence, it says "insufficient" — it does not guess. This is the GLM behavior that won our benchmark and our trust.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3566160"/>
            <a:ext cx="5394960" cy="169164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70332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8C847"/>
                </a:solidFill>
              </a:rPr>
              <a:t>Data Sovereignty</a:t>
            </a:r>
            <a:endParaRPr lang="en-US" sz="1400" dirty="0"/>
          </a:p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B0C4D4"/>
                </a:solidFill>
              </a:rPr>
              <a:t>PII removed before any model sees the data. Upon data center completion, all processing is domestic — sovereign by design.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26480" y="3566160"/>
            <a:ext cx="5394960" cy="169164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5080" y="370332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8C847"/>
                </a:solidFill>
              </a:rPr>
              <a:t>Professional Authority</a:t>
            </a:r>
            <a:endParaRPr lang="en-US" sz="1400" dirty="0"/>
          </a:p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B0C4D4"/>
                </a:solidFill>
              </a:rPr>
              <a:t>The physician, attorney, or compliance officer makes the decision. The system provides evidence, not verdicts.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5577840"/>
            <a:ext cx="11183112" cy="731520"/>
          </a:xfrm>
          <a:prstGeom prst="rect">
            <a:avLst/>
          </a:prstGeom>
          <a:solidFill>
            <a:srgbClr val="0D1F35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5669280"/>
            <a:ext cx="10634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E8C847"/>
                </a:solidFill>
              </a:rPr>
              <a:t>About the Founder: 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B0C4D4"/>
                </a:solidFill>
              </a:rPr>
              <a:t>Matheus Ximenes — Attorney, 12 years in the Brazilian Judiciary (7 as legal advisor to a Supreme Court Minister). Postgraduate in Cloud Computing and Data Protection. Creator of ragjur.ai (67M+ decisions) and ragmed.ai. Owner of z.cloud and glm.cloud.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We Ask — What We Give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partnership of equals, each bringing what the other cannot build alone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554480"/>
            <a:ext cx="5303520" cy="3840480"/>
          </a:xfrm>
          <a:prstGeom prst="rect">
            <a:avLst/>
          </a:prstGeom>
          <a:solidFill>
            <a:srgbClr val="0A1628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373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Z.AI CONTRIBUTES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210312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ts val="1400"/>
              </a:lnSpc>
              <a:spcAft>
                <a:spcPts val="400"/>
              </a:spcAft>
              <a:buSzPct val="100000"/>
              <a:buChar char="▸"/>
            </a:pPr>
            <a:r>
              <a:rPr lang="en-US" b="1" dirty="0">
                <a:solidFill>
                  <a:srgbClr val="E8C847"/>
                </a:solidFill>
              </a:rPr>
              <a:t>US$ 300M partnership value</a:t>
            </a:r>
            <a:endParaRPr lang="en-US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8FB0C8"/>
                </a:solidFill>
              </a:rPr>
              <a:t>Enterprise value of the joint venture — covering data center construction, model fine-tuning, operational scale-up, and global market expansion</a:t>
            </a:r>
            <a:endParaRPr lang="en-US" sz="900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400"/>
              </a:lnSpc>
              <a:spcAft>
                <a:spcPts val="400"/>
              </a:spcAft>
              <a:buSzPct val="100000"/>
              <a:buChar char="▸"/>
            </a:pPr>
            <a:r>
              <a:rPr lang="en-US" sz="900" b="1" dirty="0">
                <a:solidFill>
                  <a:srgbClr val="FFFFFF"/>
                </a:solidFill>
              </a:rPr>
              <a:t>GLM-5.3 training license</a:t>
            </a:r>
            <a:endParaRPr lang="en-US" sz="900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8FB0C8"/>
                </a:solidFill>
              </a:rPr>
              <a:t>Base weights + right to derive proprietary models for LATAM</a:t>
            </a:r>
            <a:endParaRPr lang="en-US" sz="900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400"/>
              </a:lnSpc>
              <a:spcAft>
                <a:spcPts val="400"/>
              </a:spcAft>
              <a:buSzPct val="100000"/>
              <a:buChar char="▸"/>
            </a:pPr>
            <a:r>
              <a:rPr lang="en-US" sz="900" b="1" dirty="0">
                <a:solidFill>
                  <a:srgbClr val="FFFFFF"/>
                </a:solidFill>
              </a:rPr>
              <a:t>Priority access to new models</a:t>
            </a:r>
            <a:endParaRPr lang="en-US" sz="900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8FB0C8"/>
                </a:solidFill>
              </a:rPr>
              <a:t>GLM-5.4+ and multimodal variants as released</a:t>
            </a:r>
            <a:endParaRPr lang="en-US" sz="900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400"/>
              </a:lnSpc>
              <a:spcAft>
                <a:spcPts val="400"/>
              </a:spcAft>
              <a:buSzPct val="100000"/>
              <a:buChar char="▸"/>
            </a:pPr>
            <a:r>
              <a:rPr lang="en-US" sz="900" b="1" dirty="0">
                <a:solidFill>
                  <a:srgbClr val="FFFFFF"/>
                </a:solidFill>
              </a:rPr>
              <a:t>Co-branding: z.cloud × GLM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0" y="1554480"/>
            <a:ext cx="5303520" cy="384048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0" y="17373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CONTRIBUTES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675120" y="210312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ts val="1300"/>
              </a:lnSpc>
              <a:spcAft>
                <a:spcPts val="200"/>
              </a:spcAft>
              <a:buSzPct val="100000"/>
              <a:buChar char="–"/>
            </a:pPr>
            <a:r>
              <a:rPr lang="en-US" b="1" dirty="0">
                <a:solidFill>
                  <a:srgbClr val="0A1628"/>
                </a:solidFill>
              </a:rPr>
              <a:t>Complete production infrastructure</a:t>
            </a:r>
            <a:endParaRPr lang="en-US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16 GPUs, 6 models, 31 health probes, 8 portals — all live and auditable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300"/>
              </a:lnSpc>
              <a:spcAft>
                <a:spcPts val="200"/>
              </a:spcAft>
              <a:buSzPct val="100000"/>
              <a:buChar char="–"/>
            </a:pPr>
            <a:r>
              <a:rPr lang="en-US" sz="900" b="1" dirty="0">
                <a:solidFill>
                  <a:srgbClr val="0A1628"/>
                </a:solidFill>
              </a:rPr>
              <a:t>Distribution across 6 regulated verticals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75 domains, 1.75M professionals, existing sales relationships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300"/>
              </a:lnSpc>
              <a:spcAft>
                <a:spcPts val="200"/>
              </a:spcAft>
              <a:buSzPct val="100000"/>
              <a:buChar char="–"/>
            </a:pPr>
            <a:r>
              <a:rPr lang="en-US" sz="900" b="1" dirty="0">
                <a:solidFill>
                  <a:srgbClr val="0A1628"/>
                </a:solidFill>
              </a:rPr>
              <a:t>Training dataset (Brazilian, bilingual)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10,000+ clinical cases with verified answers and citation grounding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300"/>
              </a:lnSpc>
              <a:spcAft>
                <a:spcPts val="200"/>
              </a:spcAft>
              <a:buSzPct val="100000"/>
              <a:buChar char="–"/>
            </a:pPr>
            <a:r>
              <a:rPr lang="en-US" sz="900" b="1" dirty="0">
                <a:solidFill>
                  <a:srgbClr val="0A1628"/>
                </a:solidFill>
              </a:rPr>
              <a:t>Sovereign infrastructure + premium domains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Land in PB (solar+satellite) and CE (ZPE) · z.cloud, glm.cloud, ragjur.ai, ragmed.ai, dodr.ai, ativo.tech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300"/>
              </a:lnSpc>
              <a:spcAft>
                <a:spcPts val="200"/>
              </a:spcAft>
              <a:buSzPct val="100000"/>
              <a:buChar char="–"/>
            </a:pPr>
            <a:r>
              <a:rPr lang="en-US" sz="900" b="1" dirty="0">
                <a:solidFill>
                  <a:srgbClr val="0A1628"/>
                </a:solidFill>
              </a:rPr>
              <a:t>Regulatory expertise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Founder attorney, 12 years Judiciary, postgraduate in Data Protection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 Steps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From agreement to launch in 60 days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645920"/>
            <a:ext cx="2560320" cy="164592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7830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b="1" spc="200" kern="0" dirty="0">
                <a:solidFill>
                  <a:srgbClr val="C9A227"/>
                </a:solidFill>
              </a:rPr>
              <a:t>Step 1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</a:rPr>
              <a:t>45-minute presentation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B0C4D4"/>
                </a:solidFill>
              </a:rPr>
              <a:t>Live demonstration of GLM-5.3 on the clinical benchmark, z.cloud, and ragjur.ai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17520" y="21945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9A227"/>
                </a:solidFill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337560" y="1645920"/>
            <a:ext cx="2560320" cy="164592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20440" y="17830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b="1" spc="200" kern="0" dirty="0">
                <a:solidFill>
                  <a:srgbClr val="C9A227"/>
                </a:solidFill>
              </a:rPr>
              <a:t>Step 2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</a:rPr>
              <a:t>Technical due diligence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B0C4D4"/>
                </a:solidFill>
              </a:rPr>
              <a:t>Access to results.json, health.beanstech.com.br (31 live probes), private GitHub repository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852160" y="21945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9A227"/>
                </a:solidFill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172200" y="1645920"/>
            <a:ext cx="2560320" cy="164592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5080" y="17830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b="1" spc="200" kern="0" dirty="0">
                <a:solidFill>
                  <a:srgbClr val="C9A227"/>
                </a:solidFill>
              </a:rPr>
              <a:t>Step 3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</a:rPr>
              <a:t>Letter of Intent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B0C4D4"/>
                </a:solidFill>
              </a:rPr>
              <a:t>Investment structure, milestone schedule, governance framework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686800" y="21945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9A227"/>
                </a:solidFill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9006840" y="1645920"/>
            <a:ext cx="2560320" cy="164592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89720" y="17830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b="1" spc="200" kern="0" dirty="0">
                <a:solidFill>
                  <a:srgbClr val="C9A227"/>
                </a:solidFill>
              </a:rPr>
              <a:t>Step 4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</a:rPr>
              <a:t>z.cloud pilot launch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B0C4D4"/>
                </a:solidFill>
              </a:rPr>
              <a:t>GLM-5.3 serving from Brazilian territory within 60 days of agreement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02920" y="3840480"/>
            <a:ext cx="11183112" cy="1828800"/>
          </a:xfrm>
          <a:prstGeom prst="rect">
            <a:avLst/>
          </a:prstGeom>
          <a:solidFill>
            <a:srgbClr val="0D1F35"/>
          </a:solidFill>
          <a:ln w="31750">
            <a:solidFill>
              <a:srgbClr val="C9A2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417320" y="4023360"/>
            <a:ext cx="935431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36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US$ 300,000,000</a:t>
            </a:r>
            <a:endParaRPr lang="en-US" sz="36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spc="300" kern="0" dirty="0">
                <a:solidFill>
                  <a:srgbClr val="8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Strategic Partnership Value</a:t>
            </a:r>
            <a:endParaRPr lang="en-US" sz="36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36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2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US$ 643M revenue (5yr) · US$ 2.2B enterprise value at exit · 7.4× return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502920" y="5943600"/>
            <a:ext cx="11183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Matheus Ximenes · Founder &amp; CEO · contato@feijaojustech.com.br</a:t>
            </a:r>
            <a:endParaRPr lang="en-US" sz="10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beanstech.com.br · z.cloud · glm.cloud · ativo.tech · ragjur.ai · ragmed.ai · dodr.ai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BeansTech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BeansTech × Z.ai — Sovereign AI for Regulated Markets</dc:title>
  <dc:subject>PptxGenJS Presentation</dc:subject>
  <dc:creator>BeansTech</dc:creator>
  <cp:lastModifiedBy>BeansTech</cp:lastModifiedBy>
  <cp:revision>1</cp:revision>
  <dcterms:created xsi:type="dcterms:W3CDTF">2026-09-17T00:57:17Z</dcterms:created>
  <dcterms:modified xsi:type="dcterms:W3CDTF">2026-09-17T00:57:17Z</dcterms:modified>
</cp:coreProperties>
</file>