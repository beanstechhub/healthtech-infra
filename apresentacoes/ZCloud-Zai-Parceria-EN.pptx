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Singapore (current)</c:v>
                </c:pt>
              </c:strCache>
            </c:strRef>
          </c:tx>
          <c:spPr>
            <a:solidFill>
              <a:srgbClr val="B0342C"/>
            </a:solidFill>
            <a:effectLst/>
          </c:spPr>
          <c:invertIfNegative val="0"/>
          <c:dLbls>
            <c:numFmt formatCode="0&quot;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332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São Paulo</c:v>
                  </c:pt>
                  <c:pt idx="1">
                    <c:v>Europe</c:v>
                  </c:pt>
                  <c:pt idx="2">
                    <c:v>US East</c:v>
                  </c:pt>
                  <c:pt idx="3">
                    <c:v>LATAM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180</c:v>
                </c:pt>
                <c:pt idx="1">
                  <c:v>250</c:v>
                </c:pt>
                <c:pt idx="2">
                  <c:v>200</c:v>
                </c:pt>
                <c:pt idx="3">
                  <c:v>300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PB/CE (proposed)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0&quot;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332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São Paulo</c:v>
                  </c:pt>
                  <c:pt idx="1">
                    <c:v>Europe</c:v>
                  </c:pt>
                  <c:pt idx="2">
                    <c:v>US East</c:v>
                  </c:pt>
                  <c:pt idx="3">
                    <c:v>LATAM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120</c:v>
                </c:pt>
                <c:pt idx="2">
                  <c:v>100</c:v>
                </c:pt>
                <c:pt idx="3">
                  <c:v>80</c:v>
                </c:pt>
              </c:numCache>
            </c:numRef>
          </c:val>
        </c:ser>
        <c:dLbls>
          <c:numFmt formatCode="0&quot;ms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2332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Round-trip latency (ms)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5A6B7A"/>
              </a:solidFill>
              <a:latin typeface="Helvetica Neue"/>
              <a:cs typeface="Helvetica Neue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Revenue (US$M)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$#,##0&quot;M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1628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14.2</c:v>
                </c:pt>
                <c:pt idx="1">
                  <c:v>62</c:v>
                </c:pt>
                <c:pt idx="2">
                  <c:v>142</c:v>
                </c:pt>
                <c:pt idx="3">
                  <c:v>268</c:v>
                </c:pt>
                <c:pt idx="4">
                  <c:v>420</c:v>
                </c:pt>
              </c:numCache>
            </c:numRef>
          </c:val>
        </c:ser>
        <c:dLbls>
          <c:numFmt formatCode="$#,##0&quot;M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A1628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Revenue (US$ millions)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11512" y="457200"/>
            <a:ext cx="1645920" cy="1645920"/>
          </a:xfrm>
          <a:prstGeom prst="ellipse">
            <a:avLst/>
          </a:prstGeom>
          <a:solidFill>
            <a:srgbClr val="0A1628">
              <a:alpha val="0"/>
            </a:srgbClr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85832" y="731520"/>
            <a:ext cx="1097280" cy="1097280"/>
          </a:xfrm>
          <a:prstGeom prst="ellipse">
            <a:avLst/>
          </a:prstGeom>
          <a:solidFill>
            <a:srgbClr val="0A1628">
              <a:alpha val="0"/>
            </a:srgbClr>
          </a:solidFill>
          <a:ln w="12700">
            <a:solidFill>
              <a:srgbClr val="E8C8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85832" y="7315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 ×  Z.AI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2011680"/>
            <a:ext cx="8686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AI for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Regulated Markets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02920" y="40233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0C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Bringing GLM to Latin America's largest economy — with data sovereignty,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0C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 independence, and auditability as design principles, not afterthoughts.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5212080"/>
            <a:ext cx="27432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53949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US$ 300,000,000</a:t>
            </a:r>
            <a:endParaRPr lang="en-US" sz="2800" dirty="0"/>
          </a:p>
          <a:p>
            <a:pPr indent="0" marL="0">
              <a:buNone/>
            </a:pPr>
            <a:r>
              <a:rPr lang="en-US" sz="11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571232" y="53949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Attorney · Postgraduate in Cloud Computing &amp; Data Protection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September 2026 · São Paulo, Brazil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Executive Summary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foundation already exists — the partnership scales it globally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Partnership Value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15768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15768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US$ 8.2B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715768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(BR Regulated)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928616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28616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928616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Production Domains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41464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41464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141464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Centers (1 Carbon-Free)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354312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54312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1.75M+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54312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Professionals (BR)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02920" y="3017520"/>
            <a:ext cx="11183112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200400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E8C847"/>
                </a:solidFill>
              </a:rPr>
              <a:t>The hardest part — the model — already exists.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0C4D4"/>
                </a:solidFill>
              </a:rPr>
              <a:t>What typically takes years to build is already operational: a multi-vertical platform spanning healthcare, legal, financial, real estate and AI infrastructure — 75 production domains, 6 frontier models in production, 67M+ court decisions indexed, sovereign identity and compliance infrastructure, and secured land for two data centers (one carbon-free). A clinical benchmark independently validated GLM-5.3 as the top performer.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4572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Z.ai Gains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" y="49377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presence — first frontier model with API executed in Brazilian territory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access — 550k physicians, 1.2M attorneys, 740 financial institutions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Premium domains — z.cloud and glm.cloud as the joint product identity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Energy independence — solar-powered data centers, ESG-auditable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00800" y="4572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BeansTech Brings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9377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Full-stack platform — 75 production domains (including z.cloud: 1-letter premium, live; glm.cloud: owned via Alibaba DNS) · 6 frontier models · 67M+ indexed court decisions · identity + compliance infrastructure · 2 data center sites secured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Clinical benchmark — 156 evaluations, zero errors, GLM-5.3 validated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 production domains across 6 regulated verticals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Regulatory expertise — founder attorney, 12 years Judiciary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Benchmark That Validated This Partnership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26 real Brazilian clinical cases · 6 frontier models · 156 evaluations · zero errors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18311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3959352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Model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Coverage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Speed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Best Domain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Security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GLM-5.3 (Z.ai)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0.45 ★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93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Surgery 0.88 · Management 0.67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 (best)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Baichuan-M2-32B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Medication 0.57 · Veterinary 0.62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Qwen-plus (Alibaba)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0.44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Surgery 0.75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AntAngelMed-100B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0.41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149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PT reasoning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Baichuan-M3-235B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0.39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Emergency 0.63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MedGemma-27B (Google)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0.39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Emergency 0.63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572000"/>
            <a:ext cx="11183112" cy="146304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754880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8C847"/>
                </a:solidFill>
              </a:rPr>
              <a:t>What impressed us most was not the score — it was the character.</a:t>
            </a:r>
            <a:endParaRPr lang="en-US" sz="13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GLM-5.3 was the only model that identified rivaroxaban 20mg as an excessive dose for CrCl 28, cited ANVISA as the Brazilian regulatory source, mentioned andexanet alfa as a specific Factor Xa reversal agent — and said explicitly: "I cannot assert the exact dose without consulting the local protocol."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17220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Source: BeansTech Clinical Benchmark, September 16, 2026 · Full results available for due diligence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z.cloud Thesis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AI cloud that proves what it answers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2011680"/>
          </a:xfrm>
          <a:prstGeom prst="ellipse">
            <a:avLst/>
          </a:prstGeom>
          <a:solidFill>
            <a:srgbClr val="0D1F35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3200400" y="1554480"/>
            <a:ext cx="7772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The Seventh Letter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B0C4D4"/>
                </a:solidFill>
              </a:rPr>
              <a:t>The last letter. The one that completes.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When a regulated institution asks "where is my data processed?" — the current answer is "outside Brazil" or "we don't know."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E8C847"/>
                </a:solidFill>
              </a:rPr>
              <a:t>With GLM on z.cloud, the answer is: "In Brazilian territory, with complete audit trail, transparent abstention, and a frontier-quality model."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Brazil's Regulated Landscape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206240"/>
          <a:ext cx="1118311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320040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Sector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Regulated By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Professionals / Entities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Market (BR)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Healthcare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CFM, ANS, LGPD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550k physicians · 6.8k hospitals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R$ 4.4B/yr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Legal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OAB, LGPD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1.2M attorneys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R$ 80B/yr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Financial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BACEN, COAF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740 institutions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R$ 12B/yr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Insurance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ANS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740 operators · 48M lives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R$ 220B/yr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—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~1.75M professionals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US$ 8.2B/yr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 &amp; GLM-5.3 Flash: Two Engines, One Platform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Both running in Brazilian territory — API and local deployment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45720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 FLASH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Engine — High Volume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compliance: AML screening, transaction monitoring, SAR pre-processing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Legal volume: case-law search, document triage, citation extraction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Health triage: symptom screening, protocol lookup, appointment routing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Cost: near-zero (covered by existing Model Studio allocations)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Latency: sub-second for standard queries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Deployed via z.cloud API · Singapore region today · Brazilian territory upon data center completion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0" y="1554480"/>
            <a:ext cx="5303520" cy="457200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7512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Specialist — Deep Reasoning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26517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Clinical decision support: complex cases, multi-morbidity, drug interactions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Complex litigation: multi-party analysis, regulatory interpretation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SAR narrative generation: full audit trail, regulator-ready output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model that won our clinical benchmark (coverage 0.45)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Available via API in Brazil + local deployment on sovereign infra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67512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Fine-tuning target: coverage 0.45 → 0.70+ with Brazilian bilingual clinical dataset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Data Center Advantage: Sovereignty, Latency, and Compute at Scale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Santa Terezinha/PB (solar + satellite) + ZPE Caucaia/CE (same ZPE as TikTok) — eliminating the compute bottleneck that constrains every AI company today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Comparison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82880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400800" y="1463040"/>
            <a:ext cx="5303520" cy="18288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75120" y="160020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Santa Terezinha · Paraíba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Solar + Satellite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Photovoltaic plant on owned land. Direct satellite connectivity — zero connection to public grid. Energy-independent, ESG-auditable, zero-carbon processing.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0" y="3474720"/>
            <a:ext cx="5303520" cy="182880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75120" y="361188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8C847"/>
                </a:solidFill>
              </a:rPr>
              <a:t>ZPE Caucaia · Ceará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8FB0C8"/>
                </a:solidFill>
              </a:rPr>
              <a:t>Special Economic Zone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Same ZPE as TikTok's Brazilian DC. Tax incentives, customs special regime, direct submarine cable access. João Pessoa and Fortaleza projects ready for construction.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54864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34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to São Paulo: 9× improvement (180ms → &lt;20ms) — enabling real-time clinical decision support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BeansTech Ecosystem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 production domains · 4 verticals + ativo.tech marketplace · shared infrastructure — one model engine upgrades all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HealthTech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dodr.ai · ragmed.ai (+8 portals)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Clinical decision support · anti-hallucination chain · 6 frontier models · benchmark-validated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550k physicians · R$ 4.4B/yr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26480" y="155448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LegalTech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ragjur.ai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67M+ court decisions indexed · 55 sources · GLM-5.3 for analysis, Flash for volume search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1.2M attorneys · R$ 80B/yr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393192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FinTech / RegTech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beansbank · beans.credit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AML compliance, SAR narrative, KYC · GLM-5.3 for deep analysis, Flash for triage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740 institutions · R$ 12B/yr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26480" y="3931920"/>
            <a:ext cx="5394960" cy="210312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E8C847"/>
                </a:solidFill>
              </a:rPr>
              <a:t>PropTech ★ GLM Flash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8FB0C8"/>
                </a:solidFill>
              </a:rPr>
              <a:t>alirealty.com.br · cyrela.ai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Document analysis, credit triage, due diligence · GLM-5.3 Flash processes in seconds what takes hours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C847"/>
                </a:solidFill>
              </a:rPr>
              <a:t>R$ 15B/yr (real estate tech)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6199632"/>
            <a:ext cx="11183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ativo.tech — the commercial engine: marketplace for cloud, AI, and token sales across all verticals · z.cloud as sovereign token infrastructure · one model engine (GLM) upgrades everything simultaneously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Fine-Tuning: From 0.45 to 0.70+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SFT → DPO → Clinical Validation — GLM-Med becomes the first frontier medical model trained on Brazilian regulatory data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Weakness (Base)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Resolution (Fine-Tuned)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Method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Pediatrics: 0.28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Target: &gt; 0.60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SBP protocols + pediatric dosing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Reasoning in English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PT reasoning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bilingual reasoning chains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Abstention: 0.50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Target: &gt; 0.80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DPO with preference for correct abstention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Citation: external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citation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citation-grounded examples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0" y="1554480"/>
            <a:ext cx="5303520" cy="13716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0" y="16916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Phase 1 · SFT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A6B7A"/>
                </a:solidFill>
              </a:rPr>
              <a:t>10,000 bilingual clinical cases · PCDT + ANVISA + SciELO · 8× H100 or 16× L20 · 2-4 weeks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0" y="3108960"/>
            <a:ext cx="5303520" cy="13716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75120" y="32461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Phase 2 · DPO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A6B7A"/>
                </a:solidFill>
              </a:rPr>
              <a:t>Brazilian physician preference ranking · Abstention &gt; assertion · 2 weeks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4663440"/>
            <a:ext cx="5303520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75120" y="4800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C847"/>
                </a:solidFill>
              </a:rPr>
              <a:t>Phase 3 · Validation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B0C4D4"/>
                </a:solidFill>
              </a:rPr>
              <a:t>200 blind cases · 2 independent medical reviewers · Error = 0 (blocker) · Einstein / Rede D'Or pilot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5120640"/>
            <a:ext cx="5486400" cy="1280160"/>
          </a:xfrm>
          <a:prstGeom prst="rect">
            <a:avLst/>
          </a:prstGeom>
          <a:solidFill>
            <a:srgbClr val="F0F4F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2578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A1628"/>
                </a:solidFill>
              </a:rPr>
              <a:t>The fine-tuned model becomes: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A6B7A"/>
                </a:solidFill>
              </a:rPr>
              <a:t>IP of the joint venture — licensable to hospitals, research institutions, and 3rd parties across LATAM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Global Revenue Projection — The Return Is Far Greater Than It Appears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US$ 300M partnership → US$ 943M cumulative revenue (5 years) → US$ 3.2B enterprise value at exit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02920" y="155448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554480"/>
          <a:ext cx="530352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Revenue Stream (Year 5)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US$M/yr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Brazil (SaaS + API)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134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Latin America (Spanish)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Europe (GDPR-aligned)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 East Coast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GLM-Med licensing (3rd parties)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Compute-as-a-Service (GPU cloud)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Sovereign Cloud (z.cloud API)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Colocation (ZPE CE)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9A22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9A22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454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02920" y="5029200"/>
            <a:ext cx="11183112" cy="1371600"/>
          </a:xfrm>
          <a:prstGeom prst="rect">
            <a:avLst/>
          </a:prstGeom>
          <a:solidFill>
            <a:srgbClr val="0A1628"/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960120" y="5166360"/>
            <a:ext cx="10268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E8C847"/>
                </a:solidFill>
              </a:rPr>
              <a:t>US$ 300M Investment → US$ 943M Revenue (5 years) → US$ 3.2B Enterprise Value at Exit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Direct ROI: 3.1×  ·  Enterprise Value Multiple: 10.7×  ·  Year 5 Run-Rate: US$ 420M/year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900" i="1" dirty="0">
                <a:solidFill>
                  <a:srgbClr val="6B8BB0"/>
                </a:solidFill>
              </a:rPr>
              <a:t>Excluding: data center assets, fine-tuned model IP, domain portfolio, recurring revenue beyond Year 5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Data Center: Not Just Infrastructure — A Revenue Multiplier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Compute as a service, LATAM presence, and the elimination of the exhaust bottleneck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Revenue Streams from the Data Center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5394960" cy="128016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659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C847"/>
                </a:solidFill>
              </a:rPr>
              <a:t>1. Compute-as-a-Service (GPU Cloud)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B0C4D4"/>
                </a:solidFill>
              </a:rPr>
              <a:t>Renting GPU capacity to AI companies, research institutions, and startups across LATAM. The same L20/H100 infrastructure that serves our models serves external clients during off-peak.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C847"/>
                </a:solidFill>
              </a:rPr>
              <a:t>US$ 45M/yr (Year 5)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291840"/>
            <a:ext cx="5394960" cy="1280160"/>
          </a:xfrm>
          <a:prstGeom prst="rect">
            <a:avLst/>
          </a:prstGeom>
          <a:solidFill>
            <a:srgbClr val="F0F4F7"/>
          </a:solidFill>
          <a:ln w="9525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8328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A1628"/>
                </a:solidFill>
              </a:rPr>
              <a:t>2. Sovereign Cloud (z.cloud API)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5A6B7A"/>
                </a:solidFill>
              </a:rPr>
              <a:t>Token-based API for regulated institutions that need GLM running in Brazilian territory. Financial, healthcare, legal — 1.75M+ professionals in Brazil alone.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US$ 60M/yr (Year 5)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4709160"/>
            <a:ext cx="5394960" cy="1280160"/>
          </a:xfrm>
          <a:prstGeom prst="rect">
            <a:avLst/>
          </a:prstGeom>
          <a:solidFill>
            <a:srgbClr val="F0F4F7"/>
          </a:solidFill>
          <a:ln w="9525">
            <a:solidFill>
              <a:srgbClr val="C8D2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A1628"/>
                </a:solidFill>
              </a:rPr>
              <a:t>3. Data Center Colocation (ZPE CE)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5A6B7A"/>
                </a:solidFill>
              </a:rPr>
              <a:t>Rack space in the ZPE for companies needing Brazilian jurisdiction with submarine cable access. Same model as TikTok's Brazilian DC.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US$ 25M/yr (Year 5)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the Return Is Far Greater Than It Appears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8745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b="1" dirty="0">
                <a:solidFill>
                  <a:srgbClr val="0A1628"/>
                </a:solidFill>
              </a:rPr>
              <a:t>Eliminating the compute bottleneck</a:t>
            </a:r>
            <a:endParaRPr lang="en-US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Every AI company today faces the same wall: GPU availability. The exhaust of computational capacity limits growth, forces queue management, and caps the number of users served. Owning sovereign infrastructure removes this ceiling entirely — we scale to demand, not to supply.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LATAM presence with competitive latency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The PB/CE data centers serve 400M+ Portuguese and Spanish speakers with latency that competes with US providers. No other AI infrastructure in Latin America offers this combination of sovereignty + performance + renewable energy.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The asset appreciates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Data centers, energy plants, and submarine cable access are appreciating infrastructure assets. The land is owned. The energy source is solar. The market for AI compute is growing 40%+ annually. This is not a cost — it is an investment that compounds.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Energy cost = near zero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Solar marginal cost approaches zero. Every GPU-hour served from PB costs less than any competitor running on grid power. This margin advantage compounds with scale.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Governance &amp; Ethics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Principles that both companies share — and that regulated markets demand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830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Transparency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Every response discloses: which model, which version, which corpus, whether PII was detected. The user always knows what they are talking to.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164592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7830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Abstention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When the system cannot find evidence, it says "insufficient" — it does not guess. This is the GLM behavior that won our benchmark and our trust.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56616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Data Sovereignty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PII removed before any model sees the data. Upon data center completion, all processing is domestic — sovereign by design.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356616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Professional Authority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The physician, attorney, or compliance officer makes the decision. The system provides evidence, not verdicts.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5577840"/>
            <a:ext cx="11183112" cy="731520"/>
          </a:xfrm>
          <a:prstGeom prst="rect">
            <a:avLst/>
          </a:prstGeom>
          <a:solidFill>
            <a:srgbClr val="0D1F35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669280"/>
            <a:ext cx="1063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E8C847"/>
                </a:solidFill>
              </a:rPr>
              <a:t>About the Founder: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0C4D4"/>
                </a:solidFill>
              </a:rPr>
              <a:t>Matheus Ximenes — Attorney, 12 years in the Brazilian Judiciary (7 as legal advisor to a Supreme Court Minister). Postgraduate in Cloud Computing and Data Protection. Creator of ragjur.ai (67M+ decisions) and ragmed.ai. Owner of z.cloud and glm.cloud.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We Ask — What We Give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balanced partnership of equals — each side contributing what the other cannot build alone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384048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Z.AI CONTRIBUTES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b="1" dirty="0">
                <a:solidFill>
                  <a:srgbClr val="E8C847"/>
                </a:solidFill>
              </a:rPr>
              <a:t>US$ 300M partnership value</a:t>
            </a:r>
            <a:endParaRPr lang="en-US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Enterprise value of the joint venture — covering data center construction, model fine-tuning, operational scale-up, and global market expansion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GLM-5.3 training license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Base weights + right to derive proprietary models for LATAM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Priority access to new models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GLM-5.4+ and multimodal variants as released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Co-branding: z.cloud × GLM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0" y="1554480"/>
            <a:ext cx="5303520" cy="384048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CONTRIBUTES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b="1" dirty="0">
                <a:solidFill>
                  <a:srgbClr val="0A1628"/>
                </a:solidFill>
              </a:rPr>
              <a:t>Complete production infrastructure</a:t>
            </a:r>
            <a:endParaRPr lang="en-US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75 production domains across 4 verticals · 6 frontier models · 67M+ indexed decisions · identity + compliance stack · 2 data center sites (PB solar + CE ZPE)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Distribution across 6 regulated verticals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75 domains, 1.75M professionals, existing sales relationships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Training dataset (Brazilian, bilingual)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10,000+ clinical cases with verified answers and citation grounding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Sovereign infrastructure + premium domains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Land in PB (solar+satellite) and CE (ZPE) · z.cloud (1-letter premium, est. US$ 250k–1M) · glm.cloud (3-letter, perfect for GLM-branded product) · ativo.tech · ragjur.ai · ragmed.ai · dodr.ai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Regulatory expertise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Founder attorney, 12 years Judiciary, postgraduate in Data Protection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5486400"/>
            <a:ext cx="11183112" cy="731520"/>
          </a:xfrm>
          <a:prstGeom prst="rect">
            <a:avLst/>
          </a:prstGeom>
          <a:solidFill>
            <a:srgbClr val="F0F4F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5778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C9A227"/>
                </a:solidFill>
              </a:rPr>
              <a:t>On the US$ 300M: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B7A"/>
                </a:solidFill>
              </a:rPr>
              <a:t>This is the value we place on this partnership — and on building it together with Z.ai specifically. It is not an amount we would accept from just any investor, regardless of size. The US$ 300M reflects what the combination of our sovereign infrastructure, regulatory expertise, and GLM’s quality is worth when built together — by partners who share the same principles. We are choosing Z.ai as much as Z.ai would be choosing us.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agreement to launch in 60 days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1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45-minute presentation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Live demonstration of GLM-5.3 on the clinical benchmark, z.cloud, and ragjur.ai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1752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3756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2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Technical due diligence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Access to benchmark results (156 evaluations), health.beanstech.com.br (31 live probes), private GitHub, ragjur.ai (67M+ decisions), alirealty.com.br (production)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85216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7220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3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Letter of Intent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Investment structure, milestone schedule, governance framework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0684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972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4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z.cloud pilot launch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GLM-5.3 serving from Brazilian territory within 60 days of agreement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3840480"/>
            <a:ext cx="11183112" cy="1828800"/>
          </a:xfrm>
          <a:prstGeom prst="rect">
            <a:avLst/>
          </a:prstGeom>
          <a:solidFill>
            <a:srgbClr val="0D1F35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17320" y="4023360"/>
            <a:ext cx="93543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36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US$ 300,000,000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spc="300" kern="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36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US$ 943M revenue (5yr) · US$ 3.2B enterprise value at exit · 10.7× return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502920" y="594360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 · contato@feijaojustech.com.br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beanstech.com.br · z.cloud · glm.cloud · ativo.tech · ragjur.ai · ragmed.ai · dodr.ai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BeansTech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BeansTech × Z.ai — Sovereign AI for Regulated Markets</dc:title>
  <dc:subject>PptxGenJS Presentation</dc:subject>
  <dc:creator>BeansTech</dc:creator>
  <cp:lastModifiedBy>BeansTech</cp:lastModifiedBy>
  <cp:revision>1</cp:revision>
  <dcterms:created xsi:type="dcterms:W3CDTF">2026-09-17T01:38:09Z</dcterms:created>
  <dcterms:modified xsi:type="dcterms:W3CDTF">2026-09-17T01:38:09Z</dcterms:modified>
</cp:coreProperties>
</file>