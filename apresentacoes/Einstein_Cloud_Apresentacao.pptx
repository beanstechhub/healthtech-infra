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1F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AB8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Einstein.Cloud · BeansTech · Confidencial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11091672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AB8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1371600"/>
            <a:ext cx="9144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EINSTEIN.CLOUD</a:t>
            </a:r>
            <a:endParaRPr lang="en-US" sz="6000" dirty="0"/>
          </a:p>
        </p:txBody>
      </p:sp>
      <p:sp>
        <p:nvSpPr>
          <p:cNvPr id="5" name="Text 3"/>
          <p:cNvSpPr/>
          <p:nvPr/>
        </p:nvSpPr>
        <p:spPr>
          <a:xfrm>
            <a:off x="548640" y="2560320"/>
            <a:ext cx="9144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8B93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primeira nuvem médica privada e soberana do Brasil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548640" y="3657600"/>
            <a:ext cx="3200400" cy="0"/>
          </a:xfrm>
          <a:prstGeom prst="line">
            <a:avLst/>
          </a:prstGeom>
          <a:noFill/>
          <a:ln w="25400">
            <a:solidFill>
              <a:srgbClr val="C9A22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38404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D0DC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Proposta ao Conselho Deliberativo · Hospital Israelita Albert Einstein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48640" y="45720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AB8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BeansTech Health · Matheus Feijão · Outubro 2026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Einstein.Cloud · BeansTech · Confidencial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11091672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36576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4B8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 Problema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48640" y="109728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Três barreiras para o uso de IA em saúde no Brasil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548640" y="1645920"/>
            <a:ext cx="731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C9A22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4800" dirty="0"/>
          </a:p>
        </p:txBody>
      </p:sp>
      <p:sp>
        <p:nvSpPr>
          <p:cNvPr id="7" name="Text 5"/>
          <p:cNvSpPr/>
          <p:nvPr/>
        </p:nvSpPr>
        <p:spPr>
          <a:xfrm>
            <a:off x="548640" y="256032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4B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Dependência estrangeira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548640" y="3017520"/>
            <a:ext cx="33832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 APIs de OpenAI, Anthropic e Google processam texto clínico fora do Brasil. Risco jurídico e reputacional.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297680" y="1645920"/>
            <a:ext cx="731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C9A22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4800" dirty="0"/>
          </a:p>
        </p:txBody>
      </p:sp>
      <p:sp>
        <p:nvSpPr>
          <p:cNvPr id="10" name="Text 8"/>
          <p:cNvSpPr/>
          <p:nvPr/>
        </p:nvSpPr>
        <p:spPr>
          <a:xfrm>
            <a:off x="4297680" y="256032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4B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Sem curadoria clínica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4297680" y="3017520"/>
            <a:ext cx="33832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Modelos não treinados para PCDT, CID-10 BR, TUSS, medicamentos brasileiros, realidade do SUS.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8046720" y="1645920"/>
            <a:ext cx="731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C9A22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4800" dirty="0"/>
          </a:p>
        </p:txBody>
      </p:sp>
      <p:sp>
        <p:nvSpPr>
          <p:cNvPr id="13" name="Text 11"/>
          <p:cNvSpPr/>
          <p:nvPr/>
        </p:nvSpPr>
        <p:spPr>
          <a:xfrm>
            <a:off x="8046720" y="256032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4B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Falta de transparência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8046720" y="3017520"/>
            <a:ext cx="33832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médico não vê como o modelo chegou à conclusão. Sem trilha de auditoria. Sem raciocínio documentado.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Einstein.Cloud · BeansTech · Confidencial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11091672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36576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4B8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Proposta: Einstein.Cloud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48640" y="109728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Einstein não consome uma nuvem de terceiros. O Einstein constrói e possui a sua.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0" y="5029200"/>
            <a:ext cx="12188952" cy="1280160"/>
          </a:xfrm>
          <a:prstGeom prst="rect">
            <a:avLst/>
          </a:prstGeom>
          <a:solidFill>
            <a:srgbClr val="E3ECF5"/>
          </a:solidFill>
          <a:ln w="12700">
            <a:solidFill>
              <a:srgbClr val="E3ECF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521208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IA é sempre um </a:t>
            </a:r>
            <a:pPr indent="0" marL="0">
              <a:buNone/>
            </a:pPr>
            <a:r>
              <a:rPr lang="en-US" sz="1800" b="1" dirty="0">
                <a:solidFill>
                  <a:srgbClr val="1B4B8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meio</a:t>
            </a:r>
            <a:pPr indent="0" marL="0">
              <a:buNone/>
            </a:pPr>
            <a:r>
              <a:rPr lang="en-US" sz="1800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, nunca um </a:t>
            </a:r>
            <a:pPr indent="0" marL="0">
              <a:buNone/>
            </a:pPr>
            <a:r>
              <a:rPr lang="en-US" sz="1800" b="1" dirty="0">
                <a:solidFill>
                  <a:srgbClr val="1B4B8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fim</a:t>
            </a:r>
            <a:pPr indent="0" marL="0">
              <a:buNone/>
            </a:pPr>
            <a:r>
              <a:rPr lang="en-US" sz="1800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 A decisão clínica é sempre do profissional.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48640" y="1700784"/>
            <a:ext cx="128016" cy="128016"/>
          </a:xfrm>
          <a:prstGeom prst="rect">
            <a:avLst/>
          </a:prstGeom>
          <a:solidFill>
            <a:srgbClr val="C9A227"/>
          </a:solidFill>
          <a:ln w="12700">
            <a:solidFill>
              <a:srgbClr val="C9A227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1645920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1F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GPUs locais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822960" y="1993392"/>
            <a:ext cx="5029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Modelos em São Paulo, sob controle do Einstein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6217920" y="1700784"/>
            <a:ext cx="128016" cy="128016"/>
          </a:xfrm>
          <a:prstGeom prst="rect">
            <a:avLst/>
          </a:prstGeom>
          <a:solidFill>
            <a:srgbClr val="C9A227"/>
          </a:solidFill>
          <a:ln w="12700">
            <a:solidFill>
              <a:srgbClr val="C9A22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92240" y="1645920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1F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Raciocínio documentado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492240" y="1993392"/>
            <a:ext cx="5029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 resposta com trilha de auditoria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548640" y="3072384"/>
            <a:ext cx="128016" cy="128016"/>
          </a:xfrm>
          <a:prstGeom prst="rect">
            <a:avLst/>
          </a:prstGeom>
          <a:solidFill>
            <a:srgbClr val="C9A227"/>
          </a:solidFill>
          <a:ln w="12700">
            <a:solidFill>
              <a:srgbClr val="C9A227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2960" y="3017520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1F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Guardrails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822960" y="3364992"/>
            <a:ext cx="5029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Filtro de entrada e saída em toda interação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6217920" y="3072384"/>
            <a:ext cx="128016" cy="128016"/>
          </a:xfrm>
          <a:prstGeom prst="rect">
            <a:avLst/>
          </a:prstGeom>
          <a:solidFill>
            <a:srgbClr val="C9A227"/>
          </a:solidFill>
          <a:ln w="12700">
            <a:solidFill>
              <a:srgbClr val="C9A227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92240" y="3017520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1F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Acervo curado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6492240" y="3364992"/>
            <a:ext cx="5029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PCDT, Anvisa, diretrizes + protocolos internos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Einstein.Cloud · BeansTech · Confidencial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11091672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36576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4B8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Arquitetura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48640" y="109728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Três camadas, dado clínico em São Paulo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48640" y="1554480"/>
            <a:ext cx="11091672" cy="118872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164592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Portal do Médico · Pesquisa · Ensino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822960" y="210312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D0D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identidade SSO/MFA · anonimização automática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48640" y="3017520"/>
            <a:ext cx="11091672" cy="118872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22960" y="310896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Camada de IA Clínica (GPU local)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822960" y="356616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D0D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raciocínio · guardrails · abstenção · trilha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48640" y="4480560"/>
            <a:ext cx="11091672" cy="118872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" y="457200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Camada de Evidência (acervo curado)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822960" y="502920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D0D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PCDT · Anvisa · SciELO · protocolos Einstein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548640" y="60350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LGPD art. 11: dados sensíveis · art. 37: trilha de operações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Einstein.Cloud · BeansTech · Confidencial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11091672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36576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4B8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Fundamento: Benchmark de 200 casos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48640" y="109728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modelos, 23 especialidades, 2.000 avaliações — o maior teste de LLM para medicina em PT-BR</a:t>
            </a:r>
            <a:endParaRPr lang="en-US" sz="15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91672" cy="914400"/>
        </p:xfrm>
        <a:graphic>
          <a:graphicData uri="http://schemas.openxmlformats.org/drawingml/2006/table">
            <a:tbl>
              <a:tblPr/>
              <a:tblGrid>
                <a:gridCol w="3657600"/>
                <a:gridCol w="1645920"/>
                <a:gridCol w="1188720"/>
                <a:gridCol w="1764792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Modelo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F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Coverage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F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Abst.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F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Velocidade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F3D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548640" y="5303520"/>
            <a:ext cx="11091672" cy="0"/>
          </a:xfrm>
          <a:prstGeom prst="line">
            <a:avLst/>
          </a:prstGeom>
          <a:noFill/>
          <a:ln w="9525">
            <a:solidFill>
              <a:srgbClr val="E3ECF5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548640" y="5486400"/>
            <a:ext cx="5943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4B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Descoberta-chave: </a:t>
            </a:r>
            <a:pPr indent="0" marL="0">
              <a:buNone/>
            </a:pPr>
            <a:r>
              <a:rPr lang="en-US" sz="1400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 modelo vence em especialidades diferentes — não existe 'o melhor'. A arquitetura correta é roteamento multi-modelo por especialidade.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6858000" y="548640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Red-team: </a:t>
            </a:r>
            <a:pPr indent="0" marL="0">
              <a:buNone/>
            </a:pPr>
            <a:r>
              <a:rPr lang="en-US" sz="1300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10/10 falharam. Granite Guardian: 100%.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6858000" y="594360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4B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SPs ativos: </a:t>
            </a:r>
            <a:pPr indent="0" marL="0">
              <a:buNone/>
            </a:pPr>
            <a:r>
              <a:rPr lang="en-US" sz="1300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US$ 6.000/mês cobrindo API.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Einstein.Cloud · BeansTech · Confidencial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11091672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36576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4B8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Segurança: todos falharam sem guardrail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48640" y="1645920"/>
            <a:ext cx="27432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0" b="1" dirty="0">
                <a:solidFill>
                  <a:srgbClr val="DC262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0/10</a:t>
            </a:r>
            <a:endParaRPr lang="en-US" sz="8000" dirty="0"/>
          </a:p>
        </p:txBody>
      </p:sp>
      <p:sp>
        <p:nvSpPr>
          <p:cNvPr id="6" name="Text 4"/>
          <p:cNvSpPr/>
          <p:nvPr/>
        </p:nvSpPr>
        <p:spPr>
          <a:xfrm>
            <a:off x="548640" y="301752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modelos recusaram espontaneamente prompts adversariais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5943600" y="1645920"/>
            <a:ext cx="27432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0" b="1" dirty="0">
                <a:solidFill>
                  <a:srgbClr val="05966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100%</a:t>
            </a:r>
            <a:endParaRPr lang="en-US" sz="8000" dirty="0"/>
          </a:p>
        </p:txBody>
      </p:sp>
      <p:sp>
        <p:nvSpPr>
          <p:cNvPr id="8" name="Text 6"/>
          <p:cNvSpPr/>
          <p:nvPr/>
        </p:nvSpPr>
        <p:spPr>
          <a:xfrm>
            <a:off x="5943600" y="3017520"/>
            <a:ext cx="5029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dos ataques interceptados pelo Granite Guardian (guardrail dedicado)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548640" y="3931920"/>
            <a:ext cx="11091672" cy="0"/>
          </a:xfrm>
          <a:prstGeom prst="line">
            <a:avLst/>
          </a:prstGeom>
          <a:noFill/>
          <a:ln w="9525">
            <a:solidFill>
              <a:srgbClr val="E5E7E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48640" y="411480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1B4B8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 modelo generativo nunca é o guardrail. O guardrail é uma camada separada, dedicada, auditável.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Einstein.Cloud · BeansTech · Confidencial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11091672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36576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4B8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Conformidade Regulatória Integral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48640" y="1609344"/>
            <a:ext cx="128016" cy="128016"/>
          </a:xfrm>
          <a:prstGeom prst="rect">
            <a:avLst/>
          </a:prstGeom>
          <a:solidFill>
            <a:srgbClr val="C9A227"/>
          </a:solidFill>
          <a:ln w="12700">
            <a:solidFill>
              <a:srgbClr val="C9A22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1554480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4B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LGPD art. 11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822960" y="1901952"/>
            <a:ext cx="5029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Dados sensíveis processados em GPU local; anonimização automática; consentimento específico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217920" y="1609344"/>
            <a:ext cx="128016" cy="128016"/>
          </a:xfrm>
          <a:prstGeom prst="rect">
            <a:avLst/>
          </a:prstGeom>
          <a:solidFill>
            <a:srgbClr val="C9A227"/>
          </a:solidFill>
          <a:ln w="12700">
            <a:solidFill>
              <a:srgbClr val="C9A227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92240" y="1554480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4B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LGPD art. 37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6492240" y="1901952"/>
            <a:ext cx="5029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Trilha: modelo, versão, raciocínio, tokens, guardrail, timestamp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548640" y="3255264"/>
            <a:ext cx="128016" cy="128016"/>
          </a:xfrm>
          <a:prstGeom prst="rect">
            <a:avLst/>
          </a:prstGeom>
          <a:solidFill>
            <a:srgbClr val="C9A227"/>
          </a:solidFill>
          <a:ln w="12700">
            <a:solidFill>
              <a:srgbClr val="C9A22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22960" y="3200400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4B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CFM 1.821/07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822960" y="3547872"/>
            <a:ext cx="5029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Ferramenta de apoio; nunca diagnóstico autônomo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6217920" y="3255264"/>
            <a:ext cx="128016" cy="128016"/>
          </a:xfrm>
          <a:prstGeom prst="rect">
            <a:avLst/>
          </a:prstGeom>
          <a:solidFill>
            <a:srgbClr val="C9A227"/>
          </a:solidFill>
          <a:ln w="12700">
            <a:solidFill>
              <a:srgbClr val="C9A227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92240" y="3200400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4B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CEP/CONEP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6492240" y="3547872"/>
            <a:ext cx="5029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Fine-tuning com dados do Einstein somente mediante protocolo aprovado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Einstein.Cloud · BeansTech · Confidencial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11091672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36576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4B8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Governança: Einstein é protagonista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48640" y="109728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BeansTech é coadjuvante na engenharia. O Einstein lidera na ciência, ética e decisão.</a:t>
            </a:r>
            <a:endParaRPr lang="en-US" sz="15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91672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4114800"/>
                <a:gridCol w="4142232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Função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F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Einstein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F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BeansTech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F3D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548640" y="5029200"/>
            <a:ext cx="11091672" cy="0"/>
          </a:xfrm>
          <a:prstGeom prst="line">
            <a:avLst/>
          </a:prstGeom>
          <a:noFill/>
          <a:ln w="9525">
            <a:solidFill>
              <a:srgbClr val="E3ECF5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548640" y="521208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4B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Einstein.Cloud </a:t>
            </a:r>
            <a:pPr indent="0" marL="0">
              <a:buNone/>
            </a:pPr>
            <a:r>
              <a:rPr lang="en-US" sz="1500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não é um produto da BeansTech — </a:t>
            </a:r>
            <a:pPr indent="0" marL="0">
              <a:buNone/>
            </a:pPr>
            <a:r>
              <a:rPr lang="en-US" sz="1500" b="1" dirty="0">
                <a:solidFill>
                  <a:srgbClr val="1B4B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 uma plataforma do Einstein</a:t>
            </a:r>
            <a:pPr indent="0" marL="0">
              <a:buNone/>
            </a:pPr>
            <a:r>
              <a:rPr lang="en-US" sz="1500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construída com apoio técnico da BeansTech. A marca, a governança e os dados são do Einstein.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Einstein.Cloud · BeansTech · Confidencial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11091672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36576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4B8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Roadmap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48640" y="109728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meses da definição à produção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48640" y="1554480"/>
            <a:ext cx="1097280" cy="640080"/>
          </a:xfrm>
          <a:prstGeom prst="rect">
            <a:avLst/>
          </a:prstGeom>
          <a:solidFill>
            <a:srgbClr val="C9A227"/>
          </a:solidFill>
          <a:ln w="12700">
            <a:solidFill>
              <a:srgbClr val="C9A22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155448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Fase 0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920240" y="160020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1F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Definição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4389120" y="1600200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semanas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035040" y="160020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especialidade, casos, critérios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548640" y="2468880"/>
            <a:ext cx="1097280" cy="640080"/>
          </a:xfrm>
          <a:prstGeom prst="rect">
            <a:avLst/>
          </a:prstGeom>
          <a:solidFill>
            <a:srgbClr val="1B4B8F"/>
          </a:solidFill>
          <a:ln w="12700">
            <a:solidFill>
              <a:srgbClr val="1B4B8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48640" y="246888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Fase 1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920240" y="251460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1F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Piloto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4389120" y="2514600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semanas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6035040" y="251460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especialidade, 200 casos cegos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48640" y="3383280"/>
            <a:ext cx="1097280" cy="640080"/>
          </a:xfrm>
          <a:prstGeom prst="rect">
            <a:avLst/>
          </a:prstGeom>
          <a:solidFill>
            <a:srgbClr val="1B4B8F"/>
          </a:solidFill>
          <a:ln w="12700">
            <a:solidFill>
              <a:srgbClr val="1B4B8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48640" y="338328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Fase 2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20240" y="342900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1F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Validação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4389120" y="3429000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 semanas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6035040" y="342900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relatório de validação clínica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48640" y="4297680"/>
            <a:ext cx="1097280" cy="640080"/>
          </a:xfrm>
          <a:prstGeom prst="rect">
            <a:avLst/>
          </a:prstGeom>
          <a:solidFill>
            <a:srgbClr val="1B4B8F"/>
          </a:solidFill>
          <a:ln w="12700">
            <a:solidFill>
              <a:srgbClr val="1B4B8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48640" y="429768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Fase 3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1920240" y="434340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1F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Produção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4389120" y="4343400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semanas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035040" y="434340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corpo clínico, integração prontuário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548640" y="548640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4B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Investimento total Fase 0-3: ~R$ 530 mil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1F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AB8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Einstein.Cloud · BeansTech · Confidencial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11091672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AB8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36576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Visão: do Einstein para o Brasil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48640" y="1645920"/>
            <a:ext cx="3657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0" b="1" dirty="0">
                <a:solidFill>
                  <a:srgbClr val="C9A22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250 mil</a:t>
            </a:r>
            <a:endParaRPr lang="en-US" sz="7200" dirty="0"/>
          </a:p>
        </p:txBody>
      </p:sp>
      <p:sp>
        <p:nvSpPr>
          <p:cNvPr id="6" name="Text 4"/>
          <p:cNvSpPr/>
          <p:nvPr/>
        </p:nvSpPr>
        <p:spPr>
          <a:xfrm>
            <a:off x="548640" y="2743200"/>
            <a:ext cx="4572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D0DC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médicos no SUS que poderiam usar a mesma ferramenta que o Einstein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5943600" y="1645920"/>
            <a:ext cx="0" cy="3657600"/>
          </a:xfrm>
          <a:prstGeom prst="line">
            <a:avLst/>
          </a:prstGeom>
          <a:noFill/>
          <a:ln w="9525">
            <a:solidFill>
              <a:srgbClr val="3B506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0" y="1645920"/>
            <a:ext cx="50292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D0DC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 10% dos médicos do SUS usarem uma ferramenta que evita </a:t>
            </a:r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 erro grave por médico por ano</a:t>
            </a:r>
            <a:pPr indent="0" marL="0">
              <a:buNone/>
            </a:pPr>
            <a:r>
              <a:rPr lang="en-US" sz="1600" dirty="0">
                <a:solidFill>
                  <a:srgbClr val="D0DC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: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6400800" y="3200400"/>
            <a:ext cx="3657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C9A22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25.000</a:t>
            </a:r>
            <a:endParaRPr lang="en-US" sz="6000" dirty="0"/>
          </a:p>
        </p:txBody>
      </p:sp>
      <p:sp>
        <p:nvSpPr>
          <p:cNvPr id="10" name="Text 8"/>
          <p:cNvSpPr/>
          <p:nvPr/>
        </p:nvSpPr>
        <p:spPr>
          <a:xfrm>
            <a:off x="6400800" y="4114800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D0DC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pacientes protegidos anualmente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548640" y="548640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 SUS, cada erro evitado é uma vida melhor — ou salva.</a:t>
            </a:r>
            <a:endParaRPr lang="en-US" sz="16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Einstein.Cloud · BeansTech · Confidencial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11091672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36576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4B8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Quem é a BeansTech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48640" y="1645920"/>
            <a:ext cx="2651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0A1F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9</a:t>
            </a:r>
            <a:endParaRPr lang="en-US" sz="4800" dirty="0"/>
          </a:p>
        </p:txBody>
      </p:sp>
      <p:sp>
        <p:nvSpPr>
          <p:cNvPr id="6" name="Text 4"/>
          <p:cNvSpPr/>
          <p:nvPr/>
        </p:nvSpPr>
        <p:spPr>
          <a:xfrm>
            <a:off x="548640" y="256032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portais médicos em produção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429000" y="1645920"/>
            <a:ext cx="2651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0A1F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4800" dirty="0"/>
          </a:p>
        </p:txBody>
      </p:sp>
      <p:sp>
        <p:nvSpPr>
          <p:cNvPr id="8" name="Text 6"/>
          <p:cNvSpPr/>
          <p:nvPr/>
        </p:nvSpPr>
        <p:spPr>
          <a:xfrm>
            <a:off x="3429000" y="256032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servidores GPU com 10+ modelos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309360" y="1645920"/>
            <a:ext cx="2651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1B4B8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200</a:t>
            </a:r>
            <a:endParaRPr lang="en-US" sz="4800" dirty="0"/>
          </a:p>
        </p:txBody>
      </p:sp>
      <p:sp>
        <p:nvSpPr>
          <p:cNvPr id="10" name="Text 8"/>
          <p:cNvSpPr/>
          <p:nvPr/>
        </p:nvSpPr>
        <p:spPr>
          <a:xfrm>
            <a:off x="6309360" y="256032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casos no maior benchmark LLM-médico da América Latina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9189720" y="1645920"/>
            <a:ext cx="2651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0A1F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</a:t>
            </a:r>
            <a:endParaRPr lang="en-US" sz="4800" dirty="0"/>
          </a:p>
        </p:txBody>
      </p:sp>
      <p:sp>
        <p:nvSpPr>
          <p:cNvPr id="12" name="Text 10"/>
          <p:cNvSpPr/>
          <p:nvPr/>
        </p:nvSpPr>
        <p:spPr>
          <a:xfrm>
            <a:off x="9189720" y="256032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camadas anti-alucinação em produção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48640" y="3383280"/>
            <a:ext cx="11091672" cy="0"/>
          </a:xfrm>
          <a:prstGeom prst="line">
            <a:avLst/>
          </a:prstGeom>
          <a:noFill/>
          <a:ln w="9525">
            <a:solidFill>
              <a:srgbClr val="E5E7E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48640" y="3657600"/>
            <a:ext cx="1109167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4B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BeansTech não é uma empresa de IA. </a:t>
            </a:r>
            <a:pPr indent="0" marL="0">
              <a:buNone/>
            </a:pPr>
            <a:r>
              <a:rPr lang="en-US" sz="1600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 uma empresa de infraestrutura de segurança para IA em saúde. O nosso papel é construir os alicerces para que o Einstein — que tem o conhecimento clínico, os dados, os pacientes e a notoriedade — possa liderar.</a:t>
            </a:r>
            <a:endParaRPr lang="en-US" sz="1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Einstein.Cloud · BeansTech · Confidencial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11091672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36576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4B8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Próximos Passos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48640" y="1645920"/>
            <a:ext cx="731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C9A22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1463040" y="1645920"/>
            <a:ext cx="9144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Reunião de apresentação (45 min): demonstração da plataforma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548640" y="2560320"/>
            <a:ext cx="731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C9A22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3600" dirty="0"/>
          </a:p>
        </p:txBody>
      </p:sp>
      <p:sp>
        <p:nvSpPr>
          <p:cNvPr id="8" name="Text 6"/>
          <p:cNvSpPr/>
          <p:nvPr/>
        </p:nvSpPr>
        <p:spPr>
          <a:xfrm>
            <a:off x="1463040" y="2560320"/>
            <a:ext cx="9144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Acordo de confidencialidade (NDA mútuo)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548640" y="3474720"/>
            <a:ext cx="731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C9A22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3600" dirty="0"/>
          </a:p>
        </p:txBody>
      </p:sp>
      <p:sp>
        <p:nvSpPr>
          <p:cNvPr id="10" name="Text 8"/>
          <p:cNvSpPr/>
          <p:nvPr/>
        </p:nvSpPr>
        <p:spPr>
          <a:xfrm>
            <a:off x="1463040" y="3474720"/>
            <a:ext cx="9144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Definição conjunta do piloto: especialidade, casos, revisores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548640" y="4389120"/>
            <a:ext cx="731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C9A22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3600" dirty="0"/>
          </a:p>
        </p:txBody>
      </p:sp>
      <p:sp>
        <p:nvSpPr>
          <p:cNvPr id="12" name="Text 10"/>
          <p:cNvSpPr/>
          <p:nvPr/>
        </p:nvSpPr>
        <p:spPr>
          <a:xfrm>
            <a:off x="1463040" y="4389120"/>
            <a:ext cx="9144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Protocolo ao CEP (se houver fine-tuning com dados do Einstein)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548640" y="4754880"/>
            <a:ext cx="11091672" cy="0"/>
          </a:xfrm>
          <a:prstGeom prst="line">
            <a:avLst/>
          </a:prstGeom>
          <a:noFill/>
          <a:ln w="9525">
            <a:solidFill>
              <a:srgbClr val="E3ECF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48640" y="4937760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4B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Repositório do benchmark: github.com/beanstechhub/einstein-benchmark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548640" y="5303520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200 casos · 9 modelos anônimos · acesso mediante convite · 2 semanas para revisão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548640" y="576072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A1F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Matheus Feijão · WhatsApp +55 11 92507-9058 · matheus@beanstech.com.br</a:t>
            </a:r>
            <a:endParaRPr lang="en-US" sz="14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A1F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AB8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Einstein.Cloud · BeansTech · Confidencial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11091672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AB8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137160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inteligência artificial é o meio.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548640" y="2743200"/>
            <a:ext cx="10058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C9A22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 médico é o fim.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548640" y="338328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 paciente é o propósito.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548640" y="5029200"/>
            <a:ext cx="3200400" cy="0"/>
          </a:xfrm>
          <a:prstGeom prst="line">
            <a:avLst/>
          </a:prstGeom>
          <a:noFill/>
          <a:ln w="25400">
            <a:solidFill>
              <a:srgbClr val="C9A22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0" y="466344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D0DC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github.com/beanstechhub/einstein-benchmark · Matheus Feijão · WhatsApp +55 11 92507-9058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548640" y="502920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D0DC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 Einstein para o Brasil: impacto em milhões de vidas.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548640" y="57607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AB8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matheus@beanstech.com.br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Einstein.Cloud</dc:title>
  <dc:subject>PptxGenJS Presentation</dc:subject>
  <dc:creator>BeansTech Health</dc:creator>
  <cp:lastModifiedBy>BeansTech Health</cp:lastModifiedBy>
  <cp:revision>1</cp:revision>
  <dcterms:created xsi:type="dcterms:W3CDTF">2026-09-18T20:51:07Z</dcterms:created>
  <dcterms:modified xsi:type="dcterms:W3CDTF">2026-09-18T20:51:07Z</dcterms:modified>
</cp:coreProperties>
</file>