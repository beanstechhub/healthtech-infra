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mover o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slide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</a:t>
            </a: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 </a:t>
            </a: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editar o </a:t>
            </a: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formato </a:t>
            </a: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60B431C-31A3-4A29-AC97-876A5D3EA59D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A19D9C8-96A5-4D90-8167-40AD93228B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EC0C5BD-CAF9-4C47-950B-881CFD8E16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CEF8093-AC5A-41AD-9B5A-68D38F3B63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E87ACD3-0919-4EAA-8637-634C8BECC2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AE3BC97-1923-4075-8F9D-0C62E94648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3C86208-E62A-45E8-B8E2-C42A7C672B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0A4A1A0-F04F-434B-AA7E-2CBCD2B80D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6ED95E3-E996-4BD8-BA7F-A4465D28F6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92DF8B2-E825-4E8A-9C71-6954B9B2E57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0194F4C-B694-40E6-ACFD-0CCB4F39AED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E54D19D-7FCF-4A92-A3DB-31C25B29C6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8BA3C01-F768-4A5C-8162-FD906BA768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4B1DBF5-8402-458C-8674-D01CF88CC4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editar o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formato do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texto do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título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AB8CC"/>
                </a:solidFill>
                <a:effectLst/>
                <a:uFillTx/>
                <a:latin typeface="Arial"/>
                <a:ea typeface="Arial"/>
              </a:rPr>
              <a:t>Einstein.Cloud · BeansTech · Confidencial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AB8CC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548640" y="1371600"/>
            <a:ext cx="91436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EINST</a:t>
            </a: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EIN.C</a:t>
            </a: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LOUD</a:t>
            </a:r>
            <a:endParaRPr lang="pt-BR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548640" y="2560320"/>
            <a:ext cx="91436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E8B931"/>
                </a:solidFill>
                <a:effectLst/>
                <a:uFillTx/>
                <a:latin typeface="Georgia"/>
                <a:ea typeface="Georgia"/>
              </a:rPr>
              <a:t>A </a:t>
            </a:r>
            <a:r>
              <a:rPr lang="en-US" sz="2600" b="1" u="none" strike="noStrike">
                <a:solidFill>
                  <a:srgbClr val="E8B931"/>
                </a:solidFill>
                <a:effectLst/>
                <a:uFillTx/>
                <a:latin typeface="Georgia"/>
                <a:ea typeface="Georgia"/>
              </a:rPr>
              <a:t>primei</a:t>
            </a:r>
            <a:r>
              <a:rPr lang="en-US" sz="2600" b="1" u="none" strike="noStrike">
                <a:solidFill>
                  <a:srgbClr val="E8B931"/>
                </a:solidFill>
                <a:effectLst/>
                <a:uFillTx/>
                <a:latin typeface="Georgia"/>
                <a:ea typeface="Georgia"/>
              </a:rPr>
              <a:t>ra </a:t>
            </a:r>
            <a:r>
              <a:rPr lang="en-US" sz="2600" b="1" u="none" strike="noStrike">
                <a:solidFill>
                  <a:srgbClr val="E8B931"/>
                </a:solidFill>
                <a:effectLst/>
                <a:uFillTx/>
                <a:latin typeface="Georgia"/>
                <a:ea typeface="Georgia"/>
              </a:rPr>
              <a:t>nuve</a:t>
            </a:r>
            <a:r>
              <a:rPr lang="en-US" sz="2600" b="1" u="none" strike="noStrike">
                <a:solidFill>
                  <a:srgbClr val="E8B931"/>
                </a:solidFill>
                <a:effectLst/>
                <a:uFillTx/>
                <a:latin typeface="Georgia"/>
                <a:ea typeface="Georgia"/>
              </a:rPr>
              <a:t>m </a:t>
            </a:r>
            <a:r>
              <a:rPr lang="en-US" sz="2600" b="1" u="none" strike="noStrike">
                <a:solidFill>
                  <a:srgbClr val="E8B931"/>
                </a:solidFill>
                <a:effectLst/>
                <a:uFillTx/>
                <a:latin typeface="Georgia"/>
                <a:ea typeface="Georgia"/>
              </a:rPr>
              <a:t>médic</a:t>
            </a:r>
            <a:r>
              <a:rPr lang="en-US" sz="2600" b="1" u="none" strike="noStrike">
                <a:solidFill>
                  <a:srgbClr val="E8B931"/>
                </a:solidFill>
                <a:effectLst/>
                <a:uFillTx/>
                <a:latin typeface="Georgia"/>
                <a:ea typeface="Georgia"/>
              </a:rPr>
              <a:t>a </a:t>
            </a:r>
            <a:r>
              <a:rPr lang="en-US" sz="2600" b="1" u="none" strike="noStrike">
                <a:solidFill>
                  <a:srgbClr val="E8B931"/>
                </a:solidFill>
                <a:effectLst/>
                <a:uFillTx/>
                <a:latin typeface="Georgia"/>
                <a:ea typeface="Georgia"/>
              </a:rPr>
              <a:t>privad</a:t>
            </a:r>
            <a:r>
              <a:rPr lang="en-US" sz="2600" b="1" u="none" strike="noStrike">
                <a:solidFill>
                  <a:srgbClr val="E8B931"/>
                </a:solidFill>
                <a:effectLst/>
                <a:uFillTx/>
                <a:latin typeface="Georgia"/>
                <a:ea typeface="Georgia"/>
              </a:rPr>
              <a:t>a e </a:t>
            </a:r>
            <a:r>
              <a:rPr lang="en-US" sz="2600" b="1" u="none" strike="noStrike">
                <a:solidFill>
                  <a:srgbClr val="E8B931"/>
                </a:solidFill>
                <a:effectLst/>
                <a:uFillTx/>
                <a:latin typeface="Georgia"/>
                <a:ea typeface="Georgia"/>
              </a:rPr>
              <a:t>sober</a:t>
            </a:r>
            <a:r>
              <a:rPr lang="en-US" sz="2600" b="1" u="none" strike="noStrike">
                <a:solidFill>
                  <a:srgbClr val="E8B931"/>
                </a:solidFill>
                <a:effectLst/>
                <a:uFillTx/>
                <a:latin typeface="Georgia"/>
                <a:ea typeface="Georgia"/>
              </a:rPr>
              <a:t>ana </a:t>
            </a:r>
            <a:r>
              <a:rPr lang="en-US" sz="2600" b="1" u="none" strike="noStrike">
                <a:solidFill>
                  <a:srgbClr val="E8B931"/>
                </a:solidFill>
                <a:effectLst/>
                <a:uFillTx/>
                <a:latin typeface="Georgia"/>
                <a:ea typeface="Georgia"/>
              </a:rPr>
              <a:t>do </a:t>
            </a:r>
            <a:r>
              <a:rPr lang="en-US" sz="2600" b="1" u="none" strike="noStrike">
                <a:solidFill>
                  <a:srgbClr val="E8B931"/>
                </a:solidFill>
                <a:effectLst/>
                <a:uFillTx/>
                <a:latin typeface="Georgia"/>
                <a:ea typeface="Georgia"/>
              </a:rPr>
              <a:t>Brasil</a:t>
            </a:r>
            <a:endParaRPr lang="pt-B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4"/>
          <p:cNvSpPr/>
          <p:nvPr/>
        </p:nvSpPr>
        <p:spPr>
          <a:xfrm>
            <a:off x="548640" y="3657600"/>
            <a:ext cx="3200400" cy="360"/>
          </a:xfrm>
          <a:prstGeom prst="line">
            <a:avLst/>
          </a:prstGeom>
          <a:ln w="25400">
            <a:solidFill>
              <a:srgbClr val="C9A2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548640" y="38404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0DCE8"/>
                </a:solidFill>
                <a:effectLst/>
                <a:uFillTx/>
                <a:latin typeface="Arial"/>
                <a:ea typeface="Arial"/>
              </a:rPr>
              <a:t>Proposta ao Conselho Deliberativo · Hospital Israelita Albert Einstein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548640" y="457200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AB8CC"/>
                </a:solidFill>
                <a:effectLst/>
                <a:uFillTx/>
                <a:latin typeface="Arial"/>
                <a:ea typeface="Arial"/>
              </a:rPr>
              <a:t>BeansT</a:t>
            </a:r>
            <a:r>
              <a:rPr lang="en-US" sz="1300" b="0" u="none" strike="noStrike">
                <a:solidFill>
                  <a:srgbClr val="AAB8CC"/>
                </a:solidFill>
                <a:effectLst/>
                <a:uFillTx/>
                <a:latin typeface="Arial"/>
                <a:ea typeface="Arial"/>
              </a:rPr>
              <a:t>ech </a:t>
            </a:r>
            <a:r>
              <a:rPr lang="en-US" sz="1300" b="0" u="none" strike="noStrike">
                <a:solidFill>
                  <a:srgbClr val="AAB8CC"/>
                </a:solidFill>
                <a:effectLst/>
                <a:uFillTx/>
                <a:latin typeface="Arial"/>
                <a:ea typeface="Arial"/>
              </a:rPr>
              <a:t>· </a:t>
            </a:r>
            <a:r>
              <a:rPr lang="en-US" sz="1300" b="0" u="none" strike="noStrike">
                <a:solidFill>
                  <a:srgbClr val="AAB8CC"/>
                </a:solidFill>
                <a:effectLst/>
                <a:uFillTx/>
                <a:latin typeface="Arial"/>
                <a:ea typeface="Arial"/>
              </a:rPr>
              <a:t>Beans</a:t>
            </a:r>
            <a:r>
              <a:rPr lang="en-US" sz="1300" b="0" u="none" strike="noStrike">
                <a:solidFill>
                  <a:srgbClr val="AAB8CC"/>
                </a:solidFill>
                <a:effectLst/>
                <a:uFillTx/>
                <a:latin typeface="Arial"/>
                <a:ea typeface="Arial"/>
              </a:rPr>
              <a:t>Health </a:t>
            </a:r>
            <a:r>
              <a:rPr lang="en-US" sz="1300" b="0" u="none" strike="noStrike">
                <a:solidFill>
                  <a:srgbClr val="AAB8CC"/>
                </a:solidFill>
                <a:effectLst/>
                <a:uFillTx/>
                <a:latin typeface="Arial"/>
                <a:ea typeface="Arial"/>
              </a:rPr>
              <a:t>· </a:t>
            </a:r>
            <a:r>
              <a:rPr lang="en-US" sz="1300" b="0" u="none" strike="noStrike">
                <a:solidFill>
                  <a:srgbClr val="AAB8CC"/>
                </a:solidFill>
                <a:effectLst/>
                <a:uFillTx/>
                <a:latin typeface="Arial"/>
                <a:ea typeface="Arial"/>
              </a:rPr>
              <a:t>Matheu</a:t>
            </a:r>
            <a:r>
              <a:rPr lang="en-US" sz="1300" b="0" u="none" strike="noStrike">
                <a:solidFill>
                  <a:srgbClr val="AAB8CC"/>
                </a:solidFill>
                <a:effectLst/>
                <a:uFillTx/>
                <a:latin typeface="Arial"/>
                <a:ea typeface="Arial"/>
              </a:rPr>
              <a:t>s </a:t>
            </a:r>
            <a:r>
              <a:rPr lang="en-US" sz="1300" b="0" u="none" strike="noStrike">
                <a:solidFill>
                  <a:srgbClr val="AAB8CC"/>
                </a:solidFill>
                <a:effectLst/>
                <a:uFillTx/>
                <a:latin typeface="Arial"/>
                <a:ea typeface="Arial"/>
              </a:rPr>
              <a:t>Feijão · </a:t>
            </a:r>
            <a:r>
              <a:rPr lang="en-US" sz="1300" b="0" u="none" strike="noStrike">
                <a:solidFill>
                  <a:srgbClr val="AAB8CC"/>
                </a:solidFill>
                <a:effectLst/>
                <a:uFillTx/>
                <a:latin typeface="Arial"/>
                <a:ea typeface="Arial"/>
              </a:rPr>
              <a:t>Setem</a:t>
            </a:r>
            <a:r>
              <a:rPr lang="en-US" sz="1300" b="0" u="none" strike="noStrike">
                <a:solidFill>
                  <a:srgbClr val="AAB8CC"/>
                </a:solidFill>
                <a:effectLst/>
                <a:uFillTx/>
                <a:latin typeface="Arial"/>
                <a:ea typeface="Arial"/>
              </a:rPr>
              <a:t>bro </a:t>
            </a:r>
            <a:r>
              <a:rPr lang="en-US" sz="1300" b="0" u="none" strike="noStrike">
                <a:solidFill>
                  <a:srgbClr val="AAB8CC"/>
                </a:solidFill>
                <a:effectLst/>
                <a:uFillTx/>
                <a:latin typeface="Arial"/>
                <a:ea typeface="Arial"/>
              </a:rPr>
              <a:t>2026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Einstein.Cloud · BeansTech · Confidencial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2"/>
          <p:cNvSpPr/>
          <p:nvPr/>
        </p:nvSpPr>
        <p:spPr>
          <a:xfrm>
            <a:off x="548640" y="36576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B4B8F"/>
                </a:solidFill>
                <a:effectLst/>
                <a:uFillTx/>
                <a:latin typeface="Georgia"/>
                <a:ea typeface="Georgia"/>
              </a:rPr>
              <a:t>O Problema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3"/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Três barreiras </a:t>
            </a: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para o uso de </a:t>
            </a: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IA em saúde no </a:t>
            </a: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Brasil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4"/>
          <p:cNvSpPr/>
          <p:nvPr/>
        </p:nvSpPr>
        <p:spPr>
          <a:xfrm>
            <a:off x="548640" y="1645920"/>
            <a:ext cx="731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C9A227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pt-BR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5"/>
          <p:cNvSpPr/>
          <p:nvPr/>
        </p:nvSpPr>
        <p:spPr>
          <a:xfrm>
            <a:off x="548640" y="2560320"/>
            <a:ext cx="338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Dep</a:t>
            </a:r>
            <a:r>
              <a:rPr lang="en-US" sz="18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end</a:t>
            </a:r>
            <a:r>
              <a:rPr lang="en-US" sz="18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ênci</a:t>
            </a:r>
            <a:r>
              <a:rPr lang="en-US" sz="18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a </a:t>
            </a:r>
            <a:r>
              <a:rPr lang="en-US" sz="18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estr</a:t>
            </a:r>
            <a:r>
              <a:rPr lang="en-US" sz="18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ang</a:t>
            </a:r>
            <a:r>
              <a:rPr lang="en-US" sz="18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eira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6"/>
          <p:cNvSpPr/>
          <p:nvPr/>
        </p:nvSpPr>
        <p:spPr>
          <a:xfrm>
            <a:off x="548640" y="3017520"/>
            <a:ext cx="338292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As APIs de OpenAI, Anthropic e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Google processam texto clínico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fora do Brasil. Risco jurídico e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reputacional.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7"/>
          <p:cNvSpPr/>
          <p:nvPr/>
        </p:nvSpPr>
        <p:spPr>
          <a:xfrm>
            <a:off x="4297680" y="1645920"/>
            <a:ext cx="731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C9A227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pt-BR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8"/>
          <p:cNvSpPr/>
          <p:nvPr/>
        </p:nvSpPr>
        <p:spPr>
          <a:xfrm>
            <a:off x="4297680" y="2560320"/>
            <a:ext cx="338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Sem curadoria clínica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9"/>
          <p:cNvSpPr/>
          <p:nvPr/>
        </p:nvSpPr>
        <p:spPr>
          <a:xfrm>
            <a:off x="4297680" y="3017520"/>
            <a:ext cx="338292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Model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os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não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treina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dos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para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PCDT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CID-1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0 BR,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TUSS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medic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ament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os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brasil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eiros,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realid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ade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do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SUS.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0"/>
          <p:cNvSpPr/>
          <p:nvPr/>
        </p:nvSpPr>
        <p:spPr>
          <a:xfrm>
            <a:off x="8046720" y="1645920"/>
            <a:ext cx="731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C9A227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pt-BR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1"/>
          <p:cNvSpPr/>
          <p:nvPr/>
        </p:nvSpPr>
        <p:spPr>
          <a:xfrm>
            <a:off x="8046720" y="2560320"/>
            <a:ext cx="338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Falta de transparência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2"/>
          <p:cNvSpPr/>
          <p:nvPr/>
        </p:nvSpPr>
        <p:spPr>
          <a:xfrm>
            <a:off x="8046720" y="3017520"/>
            <a:ext cx="338292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O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médico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não vê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como o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modelo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chegou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à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conclu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são.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Sem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trilha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de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auditori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a. Sem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raciocí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nio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docum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entado.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Einstein.Cloud · BeansTech · Confidencial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"/>
          <p:cNvSpPr/>
          <p:nvPr/>
        </p:nvSpPr>
        <p:spPr>
          <a:xfrm>
            <a:off x="548640" y="36576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B4B8F"/>
                </a:solidFill>
                <a:effectLst/>
                <a:uFillTx/>
                <a:latin typeface="Georgia"/>
                <a:ea typeface="Georgia"/>
              </a:rPr>
              <a:t>A Proposta: Einstein.Cloud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3"/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O Einstein não consome uma nuvem de terceiros. O Einstein constrói e possui a sua.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4"/>
          <p:cNvSpPr/>
          <p:nvPr/>
        </p:nvSpPr>
        <p:spPr>
          <a:xfrm>
            <a:off x="0" y="5029200"/>
            <a:ext cx="12188520" cy="1279800"/>
          </a:xfrm>
          <a:prstGeom prst="rect">
            <a:avLst/>
          </a:prstGeom>
          <a:solidFill>
            <a:srgbClr val="E3ECF5"/>
          </a:solidFill>
          <a:ln w="12700">
            <a:solidFill>
              <a:srgbClr val="E3EC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5"/>
          <p:cNvSpPr/>
          <p:nvPr/>
        </p:nvSpPr>
        <p:spPr>
          <a:xfrm>
            <a:off x="548640" y="5212080"/>
            <a:ext cx="1109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A IA é sempre um </a:t>
            </a:r>
            <a:r>
              <a:rPr lang="en-US" sz="1800" b="1" u="none" strike="noStrike">
                <a:solidFill>
                  <a:srgbClr val="1B4B8F"/>
                </a:solidFill>
                <a:effectLst/>
                <a:uFillTx/>
                <a:latin typeface="Georgia"/>
                <a:ea typeface="Georgia"/>
              </a:rPr>
              <a:t>meio</a:t>
            </a:r>
            <a:r>
              <a:rPr lang="en-US" sz="1800" b="0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, nunca um </a:t>
            </a:r>
            <a:r>
              <a:rPr lang="en-US" sz="1800" b="1" u="none" strike="noStrike">
                <a:solidFill>
                  <a:srgbClr val="1B4B8F"/>
                </a:solidFill>
                <a:effectLst/>
                <a:uFillTx/>
                <a:latin typeface="Georgia"/>
                <a:ea typeface="Georgia"/>
              </a:rPr>
              <a:t>fim</a:t>
            </a:r>
            <a:r>
              <a:rPr lang="en-US" sz="1800" b="0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. A decisão clínica é sempre do profissional.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6"/>
          <p:cNvSpPr/>
          <p:nvPr/>
        </p:nvSpPr>
        <p:spPr>
          <a:xfrm>
            <a:off x="548640" y="1700640"/>
            <a:ext cx="127800" cy="127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7"/>
          <p:cNvSpPr/>
          <p:nvPr/>
        </p:nvSpPr>
        <p:spPr>
          <a:xfrm>
            <a:off x="822960" y="164592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GPUs locais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8"/>
          <p:cNvSpPr/>
          <p:nvPr/>
        </p:nvSpPr>
        <p:spPr>
          <a:xfrm>
            <a:off x="822960" y="1993320"/>
            <a:ext cx="5028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Modelos em São Paulo, sob controle do Einstein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9"/>
          <p:cNvSpPr/>
          <p:nvPr/>
        </p:nvSpPr>
        <p:spPr>
          <a:xfrm>
            <a:off x="6217920" y="1700640"/>
            <a:ext cx="127800" cy="127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0"/>
          <p:cNvSpPr/>
          <p:nvPr/>
        </p:nvSpPr>
        <p:spPr>
          <a:xfrm>
            <a:off x="6492240" y="164592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Raciocínio documentado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1"/>
          <p:cNvSpPr/>
          <p:nvPr/>
        </p:nvSpPr>
        <p:spPr>
          <a:xfrm>
            <a:off x="6492240" y="1993320"/>
            <a:ext cx="5028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Cada resposta com trilha de auditoria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2"/>
          <p:cNvSpPr/>
          <p:nvPr/>
        </p:nvSpPr>
        <p:spPr>
          <a:xfrm>
            <a:off x="548640" y="3072240"/>
            <a:ext cx="127800" cy="127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3"/>
          <p:cNvSpPr/>
          <p:nvPr/>
        </p:nvSpPr>
        <p:spPr>
          <a:xfrm>
            <a:off x="822960" y="301752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Guardrails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4"/>
          <p:cNvSpPr/>
          <p:nvPr/>
        </p:nvSpPr>
        <p:spPr>
          <a:xfrm>
            <a:off x="822960" y="3364920"/>
            <a:ext cx="5028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Filtro de entrada e saída em toda interação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5"/>
          <p:cNvSpPr/>
          <p:nvPr/>
        </p:nvSpPr>
        <p:spPr>
          <a:xfrm>
            <a:off x="6217920" y="3072240"/>
            <a:ext cx="127800" cy="127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6"/>
          <p:cNvSpPr/>
          <p:nvPr/>
        </p:nvSpPr>
        <p:spPr>
          <a:xfrm>
            <a:off x="6492240" y="301752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Acervo curado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7"/>
          <p:cNvSpPr/>
          <p:nvPr/>
        </p:nvSpPr>
        <p:spPr>
          <a:xfrm>
            <a:off x="6492240" y="3364920"/>
            <a:ext cx="5028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PCDT, Anvisa, diretrizes + protocolos internos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Einstein.Cloud · BeansTech · Confidencial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"/>
          <p:cNvSpPr/>
          <p:nvPr/>
        </p:nvSpPr>
        <p:spPr>
          <a:xfrm>
            <a:off x="548640" y="36576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B4B8F"/>
                </a:solidFill>
                <a:effectLst/>
                <a:uFillTx/>
                <a:latin typeface="Georgia"/>
                <a:ea typeface="Georgia"/>
              </a:rPr>
              <a:t>Arquitetura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3"/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Três camadas, dado clínico em São Paulo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4"/>
          <p:cNvSpPr/>
          <p:nvPr/>
        </p:nvSpPr>
        <p:spPr>
          <a:xfrm>
            <a:off x="548640" y="1554480"/>
            <a:ext cx="11091240" cy="11883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5"/>
          <p:cNvSpPr/>
          <p:nvPr/>
        </p:nvSpPr>
        <p:spPr>
          <a:xfrm>
            <a:off x="822960" y="164592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Portal do Médico · Pesquisa · Ensino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6"/>
          <p:cNvSpPr/>
          <p:nvPr/>
        </p:nvSpPr>
        <p:spPr>
          <a:xfrm>
            <a:off x="822960" y="210312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0D8E0"/>
                </a:solidFill>
                <a:effectLst/>
                <a:uFillTx/>
                <a:latin typeface="Arial"/>
                <a:ea typeface="Arial"/>
              </a:rPr>
              <a:t>identidade SSO/MFA · anonimização automática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7"/>
          <p:cNvSpPr/>
          <p:nvPr/>
        </p:nvSpPr>
        <p:spPr>
          <a:xfrm>
            <a:off x="548640" y="3017520"/>
            <a:ext cx="11091240" cy="11883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8"/>
          <p:cNvSpPr/>
          <p:nvPr/>
        </p:nvSpPr>
        <p:spPr>
          <a:xfrm>
            <a:off x="822960" y="310896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Camada de IA Clínica (GPU local)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9"/>
          <p:cNvSpPr/>
          <p:nvPr/>
        </p:nvSpPr>
        <p:spPr>
          <a:xfrm>
            <a:off x="822960" y="356616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0D8E0"/>
                </a:solidFill>
                <a:effectLst/>
                <a:uFillTx/>
                <a:latin typeface="Arial"/>
                <a:ea typeface="Arial"/>
              </a:rPr>
              <a:t>raciocínio · guardrails · abstenção · trilha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0"/>
          <p:cNvSpPr/>
          <p:nvPr/>
        </p:nvSpPr>
        <p:spPr>
          <a:xfrm>
            <a:off x="548640" y="4480560"/>
            <a:ext cx="11091240" cy="11883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1"/>
          <p:cNvSpPr/>
          <p:nvPr/>
        </p:nvSpPr>
        <p:spPr>
          <a:xfrm>
            <a:off x="822960" y="457200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Camada de Evidência (acervo curado)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2"/>
          <p:cNvSpPr/>
          <p:nvPr/>
        </p:nvSpPr>
        <p:spPr>
          <a:xfrm>
            <a:off x="822960" y="502920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0D8E0"/>
                </a:solidFill>
                <a:effectLst/>
                <a:uFillTx/>
                <a:latin typeface="Arial"/>
                <a:ea typeface="Arial"/>
              </a:rPr>
              <a:t>PCDT · Anvisa · SciELO · protocolos Einstein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3"/>
          <p:cNvSpPr/>
          <p:nvPr/>
        </p:nvSpPr>
        <p:spPr>
          <a:xfrm>
            <a:off x="548640" y="603504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LGPD art. 11: dados sensíveis · art. 37: trilha de operações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Einstein.Cloud · BeansTech · Confidencial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"/>
          <p:cNvSpPr/>
          <p:nvPr/>
        </p:nvSpPr>
        <p:spPr>
          <a:xfrm>
            <a:off x="548640" y="36576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B4B8F"/>
                </a:solidFill>
                <a:effectLst/>
                <a:uFillTx/>
                <a:latin typeface="Georgia"/>
                <a:ea typeface="Georgia"/>
              </a:rPr>
              <a:t>Fundamento: Benchmark de 200 casos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3"/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10 modelos, 23 especialidades, 2.000 avaliações — o maior teste de LLM para medicina em PT-BR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4"/>
          <p:cNvSpPr/>
          <p:nvPr/>
        </p:nvSpPr>
        <p:spPr>
          <a:xfrm>
            <a:off x="548640" y="1463040"/>
            <a:ext cx="5303160" cy="731160"/>
          </a:xfrm>
          <a:prstGeom prst="rect">
            <a:avLst/>
          </a:prstGeom>
          <a:solidFill>
            <a:srgbClr val="E3ECF5"/>
          </a:solidFill>
          <a:ln w="12700">
            <a:solidFill>
              <a:srgbClr val="1B4B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5"/>
          <p:cNvSpPr/>
          <p:nvPr/>
        </p:nvSpPr>
        <p:spPr>
          <a:xfrm>
            <a:off x="685800" y="1536120"/>
            <a:ext cx="456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1B4B8F"/>
                </a:solidFill>
                <a:effectLst/>
                <a:uFillTx/>
                <a:latin typeface="Georgia"/>
                <a:ea typeface="Georgia"/>
              </a:rPr>
              <a:t>1º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6"/>
          <p:cNvSpPr/>
          <p:nvPr/>
        </p:nvSpPr>
        <p:spPr>
          <a:xfrm>
            <a:off x="1280160" y="1536120"/>
            <a:ext cx="292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GLM-5.3 (Z.ai)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7"/>
          <p:cNvSpPr/>
          <p:nvPr/>
        </p:nvSpPr>
        <p:spPr>
          <a:xfrm>
            <a:off x="1280160" y="182880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cov 0,486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8"/>
          <p:cNvSpPr/>
          <p:nvPr/>
        </p:nvSpPr>
        <p:spPr>
          <a:xfrm>
            <a:off x="2743200" y="182880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20 abst · 23s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9"/>
          <p:cNvSpPr/>
          <p:nvPr/>
        </p:nvSpPr>
        <p:spPr>
          <a:xfrm>
            <a:off x="6217920" y="1463040"/>
            <a:ext cx="5303160" cy="731160"/>
          </a:xfrm>
          <a:prstGeom prst="rect">
            <a:avLst/>
          </a:prstGeom>
          <a:solidFill>
            <a:srgbClr val="E3ECF5"/>
          </a:solidFill>
          <a:ln w="12700">
            <a:solidFill>
              <a:srgbClr val="1B4B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0"/>
          <p:cNvSpPr/>
          <p:nvPr/>
        </p:nvSpPr>
        <p:spPr>
          <a:xfrm>
            <a:off x="6355080" y="1536120"/>
            <a:ext cx="456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1B4B8F"/>
                </a:solidFill>
                <a:effectLst/>
                <a:uFillTx/>
                <a:latin typeface="Georgia"/>
                <a:ea typeface="Georgia"/>
              </a:rPr>
              <a:t>2º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1"/>
          <p:cNvSpPr/>
          <p:nvPr/>
        </p:nvSpPr>
        <p:spPr>
          <a:xfrm>
            <a:off x="6949440" y="1536120"/>
            <a:ext cx="292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Qwen 3.8-Max (Alibaba)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2"/>
          <p:cNvSpPr/>
          <p:nvPr/>
        </p:nvSpPr>
        <p:spPr>
          <a:xfrm>
            <a:off x="6949440" y="182880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cov 0,437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3"/>
          <p:cNvSpPr/>
          <p:nvPr/>
        </p:nvSpPr>
        <p:spPr>
          <a:xfrm>
            <a:off x="8412480" y="182880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11 abst · 36s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4"/>
          <p:cNvSpPr/>
          <p:nvPr/>
        </p:nvSpPr>
        <p:spPr>
          <a:xfrm>
            <a:off x="548640" y="2377440"/>
            <a:ext cx="5303160" cy="731160"/>
          </a:xfrm>
          <a:prstGeom prst="rect">
            <a:avLst/>
          </a:prstGeom>
          <a:solidFill>
            <a:srgbClr val="E3ECF5"/>
          </a:solidFill>
          <a:ln w="12700">
            <a:solidFill>
              <a:srgbClr val="1B4B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5"/>
          <p:cNvSpPr/>
          <p:nvPr/>
        </p:nvSpPr>
        <p:spPr>
          <a:xfrm>
            <a:off x="685800" y="2450520"/>
            <a:ext cx="456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1B4B8F"/>
                </a:solidFill>
                <a:effectLst/>
                <a:uFillTx/>
                <a:latin typeface="Georgia"/>
                <a:ea typeface="Georgia"/>
              </a:rPr>
              <a:t>3º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6"/>
          <p:cNvSpPr/>
          <p:nvPr/>
        </p:nvSpPr>
        <p:spPr>
          <a:xfrm>
            <a:off x="1280160" y="2450520"/>
            <a:ext cx="292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DeepSeek v4 Pro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7"/>
          <p:cNvSpPr/>
          <p:nvPr/>
        </p:nvSpPr>
        <p:spPr>
          <a:xfrm>
            <a:off x="1280160" y="274320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cov 0,396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8"/>
          <p:cNvSpPr/>
          <p:nvPr/>
        </p:nvSpPr>
        <p:spPr>
          <a:xfrm>
            <a:off x="2743200" y="274320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3 abst · 37s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19"/>
          <p:cNvSpPr/>
          <p:nvPr/>
        </p:nvSpPr>
        <p:spPr>
          <a:xfrm>
            <a:off x="6217920" y="2377440"/>
            <a:ext cx="5303160" cy="73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0"/>
          <p:cNvSpPr/>
          <p:nvPr/>
        </p:nvSpPr>
        <p:spPr>
          <a:xfrm>
            <a:off x="6355080" y="2450520"/>
            <a:ext cx="456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6B7280"/>
                </a:solidFill>
                <a:effectLst/>
                <a:uFillTx/>
                <a:latin typeface="Georgia"/>
                <a:ea typeface="Georgia"/>
              </a:rPr>
              <a:t>4º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1"/>
          <p:cNvSpPr/>
          <p:nvPr/>
        </p:nvSpPr>
        <p:spPr>
          <a:xfrm>
            <a:off x="6949440" y="2450520"/>
            <a:ext cx="292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Baichuan-M3 (GPU própria)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22"/>
          <p:cNvSpPr/>
          <p:nvPr/>
        </p:nvSpPr>
        <p:spPr>
          <a:xfrm>
            <a:off x="6949440" y="274320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cov 0,392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3"/>
          <p:cNvSpPr/>
          <p:nvPr/>
        </p:nvSpPr>
        <p:spPr>
          <a:xfrm>
            <a:off x="8412480" y="274320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12 abst · 33s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4"/>
          <p:cNvSpPr/>
          <p:nvPr/>
        </p:nvSpPr>
        <p:spPr>
          <a:xfrm>
            <a:off x="548640" y="3291840"/>
            <a:ext cx="5303160" cy="73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25"/>
          <p:cNvSpPr/>
          <p:nvPr/>
        </p:nvSpPr>
        <p:spPr>
          <a:xfrm>
            <a:off x="685800" y="3364920"/>
            <a:ext cx="456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6B7280"/>
                </a:solidFill>
                <a:effectLst/>
                <a:uFillTx/>
                <a:latin typeface="Georgia"/>
                <a:ea typeface="Georgia"/>
              </a:rPr>
              <a:t>5º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6"/>
          <p:cNvSpPr/>
          <p:nvPr/>
        </p:nvSpPr>
        <p:spPr>
          <a:xfrm>
            <a:off x="1280160" y="3364920"/>
            <a:ext cx="292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GPT-6 Astra (OpenAI)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7"/>
          <p:cNvSpPr/>
          <p:nvPr/>
        </p:nvSpPr>
        <p:spPr>
          <a:xfrm>
            <a:off x="1280160" y="365760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cov 0,377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8"/>
          <p:cNvSpPr/>
          <p:nvPr/>
        </p:nvSpPr>
        <p:spPr>
          <a:xfrm>
            <a:off x="2743200" y="365760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15 abst · 17s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9"/>
          <p:cNvSpPr/>
          <p:nvPr/>
        </p:nvSpPr>
        <p:spPr>
          <a:xfrm>
            <a:off x="6217920" y="3291840"/>
            <a:ext cx="5303160" cy="73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30"/>
          <p:cNvSpPr/>
          <p:nvPr/>
        </p:nvSpPr>
        <p:spPr>
          <a:xfrm>
            <a:off x="6355080" y="3364920"/>
            <a:ext cx="456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6B7280"/>
                </a:solidFill>
                <a:effectLst/>
                <a:uFillTx/>
                <a:latin typeface="Georgia"/>
                <a:ea typeface="Georgia"/>
              </a:rPr>
              <a:t>6º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31"/>
          <p:cNvSpPr/>
          <p:nvPr/>
        </p:nvSpPr>
        <p:spPr>
          <a:xfrm>
            <a:off x="6949440" y="3364920"/>
            <a:ext cx="292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Claude Opus 5 (Anthropic)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2"/>
          <p:cNvSpPr/>
          <p:nvPr/>
        </p:nvSpPr>
        <p:spPr>
          <a:xfrm>
            <a:off x="6949440" y="365760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cov 0,347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33"/>
          <p:cNvSpPr/>
          <p:nvPr/>
        </p:nvSpPr>
        <p:spPr>
          <a:xfrm>
            <a:off x="8412480" y="365760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6 abst · 24s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34"/>
          <p:cNvSpPr/>
          <p:nvPr/>
        </p:nvSpPr>
        <p:spPr>
          <a:xfrm>
            <a:off x="548640" y="4206240"/>
            <a:ext cx="5303160" cy="73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5"/>
          <p:cNvSpPr/>
          <p:nvPr/>
        </p:nvSpPr>
        <p:spPr>
          <a:xfrm>
            <a:off x="685800" y="4279320"/>
            <a:ext cx="456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6B7280"/>
                </a:solidFill>
                <a:effectLst/>
                <a:uFillTx/>
                <a:latin typeface="Georgia"/>
                <a:ea typeface="Georgia"/>
              </a:rPr>
              <a:t>7º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36"/>
          <p:cNvSpPr/>
          <p:nvPr/>
        </p:nvSpPr>
        <p:spPr>
          <a:xfrm>
            <a:off x="1280160" y="4279320"/>
            <a:ext cx="292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Lingshu-32B (DAMO)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37"/>
          <p:cNvSpPr/>
          <p:nvPr/>
        </p:nvSpPr>
        <p:spPr>
          <a:xfrm>
            <a:off x="1280160" y="457200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cov 0,274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8"/>
          <p:cNvSpPr/>
          <p:nvPr/>
        </p:nvSpPr>
        <p:spPr>
          <a:xfrm>
            <a:off x="2743200" y="457200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18 abst · 19s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39"/>
          <p:cNvSpPr/>
          <p:nvPr/>
        </p:nvSpPr>
        <p:spPr>
          <a:xfrm>
            <a:off x="548640" y="5303520"/>
            <a:ext cx="11091600" cy="360"/>
          </a:xfrm>
          <a:prstGeom prst="line">
            <a:avLst/>
          </a:prstGeom>
          <a:ln w="9525">
            <a:solidFill>
              <a:srgbClr val="E3EC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40"/>
          <p:cNvSpPr/>
          <p:nvPr/>
        </p:nvSpPr>
        <p:spPr>
          <a:xfrm>
            <a:off x="548640" y="5486400"/>
            <a:ext cx="5943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Descoberta: </a:t>
            </a:r>
            <a:r>
              <a:rPr lang="en-US" sz="14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cada modelo vence em especialidades diferentes. A arquitetura é roteamento multi-modelo.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41"/>
          <p:cNvSpPr/>
          <p:nvPr/>
        </p:nvSpPr>
        <p:spPr>
          <a:xfrm>
            <a:off x="6858000" y="5486400"/>
            <a:ext cx="4845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C2626"/>
                </a:solidFill>
                <a:effectLst/>
                <a:uFillTx/>
                <a:latin typeface="Arial"/>
                <a:ea typeface="Arial"/>
              </a:rPr>
              <a:t>Red-team: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10/10 falharam sem guardrail. Granite Guardian: 100%.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Einstein.Cloud · BeansTech · Confidencial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"/>
          <p:cNvSpPr/>
          <p:nvPr/>
        </p:nvSpPr>
        <p:spPr>
          <a:xfrm>
            <a:off x="548640" y="36576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B4B8F"/>
                </a:solidFill>
                <a:effectLst/>
                <a:uFillTx/>
                <a:latin typeface="Georgia"/>
                <a:ea typeface="Georgia"/>
              </a:rPr>
              <a:t>Segurança: todos falharam sem guardrail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548640" y="1645920"/>
            <a:ext cx="27428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0" b="1" u="none" strike="noStrike">
                <a:solidFill>
                  <a:srgbClr val="DC2626"/>
                </a:solidFill>
                <a:effectLst/>
                <a:uFillTx/>
                <a:latin typeface="Georgia"/>
                <a:ea typeface="Georgia"/>
              </a:rPr>
              <a:t>0/10</a:t>
            </a:r>
            <a:endParaRPr lang="pt-B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4"/>
          <p:cNvSpPr/>
          <p:nvPr/>
        </p:nvSpPr>
        <p:spPr>
          <a:xfrm>
            <a:off x="548640" y="3017520"/>
            <a:ext cx="3657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modelos recusaram espontaneamente prompts adversariais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5"/>
          <p:cNvSpPr/>
          <p:nvPr/>
        </p:nvSpPr>
        <p:spPr>
          <a:xfrm>
            <a:off x="5943600" y="1645920"/>
            <a:ext cx="27428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0" b="1" u="none" strike="noStrike">
                <a:solidFill>
                  <a:srgbClr val="059669"/>
                </a:solidFill>
                <a:effectLst/>
                <a:uFillTx/>
                <a:latin typeface="Georgia"/>
                <a:ea typeface="Georgia"/>
              </a:rPr>
              <a:t>100%</a:t>
            </a:r>
            <a:endParaRPr lang="pt-B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6"/>
          <p:cNvSpPr/>
          <p:nvPr/>
        </p:nvSpPr>
        <p:spPr>
          <a:xfrm>
            <a:off x="5943600" y="3017520"/>
            <a:ext cx="5028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dos ataques interceptados pelo Granite Guardian (guardrail dedicado)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7"/>
          <p:cNvSpPr/>
          <p:nvPr/>
        </p:nvSpPr>
        <p:spPr>
          <a:xfrm>
            <a:off x="548640" y="3931920"/>
            <a:ext cx="11091600" cy="360"/>
          </a:xfrm>
          <a:prstGeom prst="line">
            <a:avLst/>
          </a:prstGeom>
          <a:ln w="9525">
            <a:solidFill>
              <a:srgbClr val="E5E7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8"/>
          <p:cNvSpPr/>
          <p:nvPr/>
        </p:nvSpPr>
        <p:spPr>
          <a:xfrm>
            <a:off x="548640" y="4114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1B4B8F"/>
                </a:solidFill>
                <a:effectLst/>
                <a:uFillTx/>
                <a:latin typeface="Georgia"/>
                <a:ea typeface="Georgia"/>
              </a:rPr>
              <a:t>O modelo generativo nunca é o guardrail. O guardrail é uma camada separada, dedicada, auditável.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Einstein.Cloud · BeansTech · Confidencial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7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"/>
          <p:cNvSpPr/>
          <p:nvPr/>
        </p:nvSpPr>
        <p:spPr>
          <a:xfrm>
            <a:off x="548640" y="36576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B4B8F"/>
                </a:solidFill>
                <a:effectLst/>
                <a:uFillTx/>
                <a:latin typeface="Georgia"/>
                <a:ea typeface="Georgia"/>
              </a:rPr>
              <a:t>Conformidade Regulatória Integral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3"/>
          <p:cNvSpPr/>
          <p:nvPr/>
        </p:nvSpPr>
        <p:spPr>
          <a:xfrm>
            <a:off x="548640" y="1609200"/>
            <a:ext cx="127800" cy="127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4"/>
          <p:cNvSpPr/>
          <p:nvPr/>
        </p:nvSpPr>
        <p:spPr>
          <a:xfrm>
            <a:off x="822960" y="155448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LGPD art. 11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5"/>
          <p:cNvSpPr/>
          <p:nvPr/>
        </p:nvSpPr>
        <p:spPr>
          <a:xfrm>
            <a:off x="822960" y="1901880"/>
            <a:ext cx="5028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Dados sensíveis processados em GPU local; anonimização automática; consentimento específico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6"/>
          <p:cNvSpPr/>
          <p:nvPr/>
        </p:nvSpPr>
        <p:spPr>
          <a:xfrm>
            <a:off x="6217920" y="1609200"/>
            <a:ext cx="127800" cy="127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7"/>
          <p:cNvSpPr/>
          <p:nvPr/>
        </p:nvSpPr>
        <p:spPr>
          <a:xfrm>
            <a:off x="6492240" y="155448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LGPD art. 37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8"/>
          <p:cNvSpPr/>
          <p:nvPr/>
        </p:nvSpPr>
        <p:spPr>
          <a:xfrm>
            <a:off x="6492240" y="1901880"/>
            <a:ext cx="5028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Trilha: modelo, versão, raciocínio, tokens, guardrail, timestamp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9"/>
          <p:cNvSpPr/>
          <p:nvPr/>
        </p:nvSpPr>
        <p:spPr>
          <a:xfrm>
            <a:off x="548640" y="3255120"/>
            <a:ext cx="127800" cy="127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0"/>
          <p:cNvSpPr/>
          <p:nvPr/>
        </p:nvSpPr>
        <p:spPr>
          <a:xfrm>
            <a:off x="822960" y="320040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CFM 1.821/07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1"/>
          <p:cNvSpPr/>
          <p:nvPr/>
        </p:nvSpPr>
        <p:spPr>
          <a:xfrm>
            <a:off x="822960" y="3547800"/>
            <a:ext cx="5028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Ferramenta de apoio; nunca diagnóstico autônomo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2"/>
          <p:cNvSpPr/>
          <p:nvPr/>
        </p:nvSpPr>
        <p:spPr>
          <a:xfrm>
            <a:off x="6217920" y="3255120"/>
            <a:ext cx="127800" cy="127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3"/>
          <p:cNvSpPr/>
          <p:nvPr/>
        </p:nvSpPr>
        <p:spPr>
          <a:xfrm>
            <a:off x="6492240" y="320040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CEP/CONEP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4"/>
          <p:cNvSpPr/>
          <p:nvPr/>
        </p:nvSpPr>
        <p:spPr>
          <a:xfrm>
            <a:off x="6492240" y="3547800"/>
            <a:ext cx="5028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Fine-tuning com dados do Einstein somente mediante protocolo aprovado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Einstein.Cloud · BeansTech · Confidencial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8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"/>
          <p:cNvSpPr/>
          <p:nvPr/>
        </p:nvSpPr>
        <p:spPr>
          <a:xfrm>
            <a:off x="548640" y="36576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B4B8F"/>
                </a:solidFill>
                <a:effectLst/>
                <a:uFillTx/>
                <a:latin typeface="Georgia"/>
                <a:ea typeface="Georgia"/>
              </a:rPr>
              <a:t>Governança: Einstein é protagonista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3"/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A BeansTech é coadjuvante na engenharia. O Einstein lidera na ciência, ética e decisão.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4"/>
          <p:cNvSpPr/>
          <p:nvPr/>
        </p:nvSpPr>
        <p:spPr>
          <a:xfrm>
            <a:off x="548640" y="1463040"/>
            <a:ext cx="5303160" cy="1005480"/>
          </a:xfrm>
          <a:prstGeom prst="rect">
            <a:avLst/>
          </a:prstGeom>
          <a:solidFill>
            <a:srgbClr val="E3ECF5"/>
          </a:solidFill>
          <a:ln w="12700">
            <a:solidFill>
              <a:srgbClr val="1B4B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5"/>
          <p:cNvSpPr/>
          <p:nvPr/>
        </p:nvSpPr>
        <p:spPr>
          <a:xfrm>
            <a:off x="731520" y="153612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Curadoria científica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6"/>
          <p:cNvSpPr/>
          <p:nvPr/>
        </p:nvSpPr>
        <p:spPr>
          <a:xfrm>
            <a:off x="4663440" y="1536120"/>
            <a:ext cx="1005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EINSTEIN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7"/>
          <p:cNvSpPr/>
          <p:nvPr/>
        </p:nvSpPr>
        <p:spPr>
          <a:xfrm>
            <a:off x="731520" y="1874520"/>
            <a:ext cx="4937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Validação clínica, protocolos, acervo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8"/>
          <p:cNvSpPr/>
          <p:nvPr/>
        </p:nvSpPr>
        <p:spPr>
          <a:xfrm>
            <a:off x="6217920" y="1463040"/>
            <a:ext cx="5303160" cy="1005480"/>
          </a:xfrm>
          <a:prstGeom prst="rect">
            <a:avLst/>
          </a:prstGeom>
          <a:solidFill>
            <a:srgbClr val="E3ECF5"/>
          </a:solidFill>
          <a:ln w="12700">
            <a:solidFill>
              <a:srgbClr val="1B4B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9"/>
          <p:cNvSpPr/>
          <p:nvPr/>
        </p:nvSpPr>
        <p:spPr>
          <a:xfrm>
            <a:off x="6400800" y="153612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Comité de ética (CEP)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0"/>
          <p:cNvSpPr/>
          <p:nvPr/>
        </p:nvSpPr>
        <p:spPr>
          <a:xfrm>
            <a:off x="10332720" y="1536120"/>
            <a:ext cx="1005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EINSTEIN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1"/>
          <p:cNvSpPr/>
          <p:nvPr/>
        </p:nvSpPr>
        <p:spPr>
          <a:xfrm>
            <a:off x="6400800" y="1874520"/>
            <a:ext cx="4937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Aprovação de fine-tuning e casos de uso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12"/>
          <p:cNvSpPr/>
          <p:nvPr/>
        </p:nvSpPr>
        <p:spPr>
          <a:xfrm>
            <a:off x="548640" y="2697480"/>
            <a:ext cx="5303160" cy="1005480"/>
          </a:xfrm>
          <a:prstGeom prst="rect">
            <a:avLst/>
          </a:prstGeom>
          <a:solidFill>
            <a:srgbClr val="E3ECF5"/>
          </a:solidFill>
          <a:ln w="12700">
            <a:solidFill>
              <a:srgbClr val="1B4B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3"/>
          <p:cNvSpPr/>
          <p:nvPr/>
        </p:nvSpPr>
        <p:spPr>
          <a:xfrm>
            <a:off x="731520" y="277056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Decisão de modelos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4"/>
          <p:cNvSpPr/>
          <p:nvPr/>
        </p:nvSpPr>
        <p:spPr>
          <a:xfrm>
            <a:off x="4663440" y="2770560"/>
            <a:ext cx="1005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EINSTEIN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5"/>
          <p:cNvSpPr/>
          <p:nvPr/>
        </p:nvSpPr>
        <p:spPr>
          <a:xfrm>
            <a:off x="731520" y="3108960"/>
            <a:ext cx="4937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Quais usar, quando atualizar, quando suspender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6"/>
          <p:cNvSpPr/>
          <p:nvPr/>
        </p:nvSpPr>
        <p:spPr>
          <a:xfrm>
            <a:off x="6217920" y="2697480"/>
            <a:ext cx="530316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7"/>
          <p:cNvSpPr/>
          <p:nvPr/>
        </p:nvSpPr>
        <p:spPr>
          <a:xfrm>
            <a:off x="6400800" y="277056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Infraestrutura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8"/>
          <p:cNvSpPr/>
          <p:nvPr/>
        </p:nvSpPr>
        <p:spPr>
          <a:xfrm>
            <a:off x="10332720" y="2770560"/>
            <a:ext cx="1005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C9A227"/>
                </a:solidFill>
                <a:effectLst/>
                <a:uFillTx/>
                <a:latin typeface="Arial"/>
                <a:ea typeface="Arial"/>
              </a:rPr>
              <a:t>BEANSTECH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9"/>
          <p:cNvSpPr/>
          <p:nvPr/>
        </p:nvSpPr>
        <p:spPr>
          <a:xfrm>
            <a:off x="6400800" y="3108960"/>
            <a:ext cx="4937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GPU, rede, manutenção, disponibilidade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20"/>
          <p:cNvSpPr/>
          <p:nvPr/>
        </p:nvSpPr>
        <p:spPr>
          <a:xfrm>
            <a:off x="548640" y="3931920"/>
            <a:ext cx="530316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1"/>
          <p:cNvSpPr/>
          <p:nvPr/>
        </p:nvSpPr>
        <p:spPr>
          <a:xfrm>
            <a:off x="731520" y="400500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Monitoramento 24×7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2"/>
          <p:cNvSpPr/>
          <p:nvPr/>
        </p:nvSpPr>
        <p:spPr>
          <a:xfrm>
            <a:off x="4663440" y="4005000"/>
            <a:ext cx="1005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C9A227"/>
                </a:solidFill>
                <a:effectLst/>
                <a:uFillTx/>
                <a:latin typeface="Arial"/>
                <a:ea typeface="Arial"/>
              </a:rPr>
              <a:t>BEANSTECH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3"/>
          <p:cNvSpPr/>
          <p:nvPr/>
        </p:nvSpPr>
        <p:spPr>
          <a:xfrm>
            <a:off x="731520" y="4343400"/>
            <a:ext cx="4937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Suporte técnico e SLA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4"/>
          <p:cNvSpPr/>
          <p:nvPr/>
        </p:nvSpPr>
        <p:spPr>
          <a:xfrm>
            <a:off x="548640" y="5029200"/>
            <a:ext cx="11091600" cy="360"/>
          </a:xfrm>
          <a:prstGeom prst="line">
            <a:avLst/>
          </a:prstGeom>
          <a:ln w="9525">
            <a:solidFill>
              <a:srgbClr val="E3EC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25"/>
          <p:cNvSpPr/>
          <p:nvPr/>
        </p:nvSpPr>
        <p:spPr>
          <a:xfrm>
            <a:off x="548640" y="521208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O Einstein.Cloud </a:t>
            </a:r>
            <a:r>
              <a:rPr lang="en-US" sz="15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é uma plataforma do Einstein</a:t>
            </a:r>
            <a:r>
              <a:rPr lang="en-US" sz="15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, construída com apoio técnico da BeansTech. A marca, a governança e os dados são do Einstein.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Einstein.Cloud · BeansTech · Confidencial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"/>
          <p:cNvSpPr/>
          <p:nvPr/>
        </p:nvSpPr>
        <p:spPr>
          <a:xfrm>
            <a:off x="548640" y="36576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B4B8F"/>
                </a:solidFill>
                <a:effectLst/>
                <a:uFillTx/>
                <a:latin typeface="Georgia"/>
                <a:ea typeface="Georgia"/>
              </a:rPr>
              <a:t>Roadmap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3"/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10 meses da definição à produção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4"/>
          <p:cNvSpPr/>
          <p:nvPr/>
        </p:nvSpPr>
        <p:spPr>
          <a:xfrm>
            <a:off x="548640" y="1554480"/>
            <a:ext cx="1096920" cy="63972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5"/>
          <p:cNvSpPr/>
          <p:nvPr/>
        </p:nvSpPr>
        <p:spPr>
          <a:xfrm>
            <a:off x="548640" y="1554480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Fase 0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6"/>
          <p:cNvSpPr/>
          <p:nvPr/>
        </p:nvSpPr>
        <p:spPr>
          <a:xfrm>
            <a:off x="1920240" y="1600200"/>
            <a:ext cx="2285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Definição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7"/>
          <p:cNvSpPr/>
          <p:nvPr/>
        </p:nvSpPr>
        <p:spPr>
          <a:xfrm>
            <a:off x="4389120" y="1600200"/>
            <a:ext cx="137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4 semanas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8"/>
          <p:cNvSpPr/>
          <p:nvPr/>
        </p:nvSpPr>
        <p:spPr>
          <a:xfrm>
            <a:off x="6035040" y="1600200"/>
            <a:ext cx="5486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especialidade, casos, critérios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9"/>
          <p:cNvSpPr/>
          <p:nvPr/>
        </p:nvSpPr>
        <p:spPr>
          <a:xfrm>
            <a:off x="548640" y="2468880"/>
            <a:ext cx="1096920" cy="63972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0"/>
          <p:cNvSpPr/>
          <p:nvPr/>
        </p:nvSpPr>
        <p:spPr>
          <a:xfrm>
            <a:off x="548640" y="2468880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Fase 1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1"/>
          <p:cNvSpPr/>
          <p:nvPr/>
        </p:nvSpPr>
        <p:spPr>
          <a:xfrm>
            <a:off x="1920240" y="2514600"/>
            <a:ext cx="2285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Piloto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2"/>
          <p:cNvSpPr/>
          <p:nvPr/>
        </p:nvSpPr>
        <p:spPr>
          <a:xfrm>
            <a:off x="4389120" y="2514600"/>
            <a:ext cx="137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12 semanas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3"/>
          <p:cNvSpPr/>
          <p:nvPr/>
        </p:nvSpPr>
        <p:spPr>
          <a:xfrm>
            <a:off x="6035040" y="2514600"/>
            <a:ext cx="5486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1 especialidade, 200 casos cegos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14"/>
          <p:cNvSpPr/>
          <p:nvPr/>
        </p:nvSpPr>
        <p:spPr>
          <a:xfrm>
            <a:off x="548640" y="3383280"/>
            <a:ext cx="1096920" cy="63972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5"/>
          <p:cNvSpPr/>
          <p:nvPr/>
        </p:nvSpPr>
        <p:spPr>
          <a:xfrm>
            <a:off x="548640" y="3383280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Fase 2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6"/>
          <p:cNvSpPr/>
          <p:nvPr/>
        </p:nvSpPr>
        <p:spPr>
          <a:xfrm>
            <a:off x="1920240" y="3429000"/>
            <a:ext cx="2285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Validação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7"/>
          <p:cNvSpPr/>
          <p:nvPr/>
        </p:nvSpPr>
        <p:spPr>
          <a:xfrm>
            <a:off x="4389120" y="3429000"/>
            <a:ext cx="137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16 semanas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8"/>
          <p:cNvSpPr/>
          <p:nvPr/>
        </p:nvSpPr>
        <p:spPr>
          <a:xfrm>
            <a:off x="6035040" y="3429000"/>
            <a:ext cx="5486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relatório de validação clínica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19"/>
          <p:cNvSpPr/>
          <p:nvPr/>
        </p:nvSpPr>
        <p:spPr>
          <a:xfrm>
            <a:off x="548640" y="4297680"/>
            <a:ext cx="1096920" cy="63972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20"/>
          <p:cNvSpPr/>
          <p:nvPr/>
        </p:nvSpPr>
        <p:spPr>
          <a:xfrm>
            <a:off x="548640" y="4297680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Fase 3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1"/>
          <p:cNvSpPr/>
          <p:nvPr/>
        </p:nvSpPr>
        <p:spPr>
          <a:xfrm>
            <a:off x="1920240" y="4343400"/>
            <a:ext cx="2285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Produção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2"/>
          <p:cNvSpPr/>
          <p:nvPr/>
        </p:nvSpPr>
        <p:spPr>
          <a:xfrm>
            <a:off x="4389120" y="4343400"/>
            <a:ext cx="137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12 semanas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3"/>
          <p:cNvSpPr/>
          <p:nvPr/>
        </p:nvSpPr>
        <p:spPr>
          <a:xfrm>
            <a:off x="6035040" y="4343400"/>
            <a:ext cx="5486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corpo clínico, integração prontuário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24"/>
          <p:cNvSpPr/>
          <p:nvPr/>
        </p:nvSpPr>
        <p:spPr>
          <a:xfrm>
            <a:off x="548640" y="5486400"/>
            <a:ext cx="548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Investimento total Fase 0-3: ~R$ 530 mil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AB8CC"/>
                </a:solidFill>
                <a:effectLst/>
                <a:uFillTx/>
                <a:latin typeface="Arial"/>
                <a:ea typeface="Arial"/>
              </a:rPr>
              <a:t>Einstein.Cloud · BeansTech · Confidencial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AB8C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2"/>
          <p:cNvSpPr/>
          <p:nvPr/>
        </p:nvSpPr>
        <p:spPr>
          <a:xfrm>
            <a:off x="548640" y="36576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A Visão: do Einstein para o Brasil</a:t>
            </a:r>
            <a:endParaRPr lang="pt-BR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3"/>
          <p:cNvSpPr/>
          <p:nvPr/>
        </p:nvSpPr>
        <p:spPr>
          <a:xfrm>
            <a:off x="548640" y="1645920"/>
            <a:ext cx="3657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trike="noStrike">
                <a:solidFill>
                  <a:srgbClr val="C9A227"/>
                </a:solidFill>
                <a:effectLst/>
                <a:uFillTx/>
                <a:latin typeface="Georgia"/>
                <a:ea typeface="Georgia"/>
              </a:rPr>
              <a:t>250 mil</a:t>
            </a:r>
            <a:endParaRPr lang="pt-BR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4"/>
          <p:cNvSpPr/>
          <p:nvPr/>
        </p:nvSpPr>
        <p:spPr>
          <a:xfrm>
            <a:off x="548640" y="2743200"/>
            <a:ext cx="45716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D0DCE8"/>
                </a:solidFill>
                <a:effectLst/>
                <a:uFillTx/>
                <a:latin typeface="Arial"/>
                <a:ea typeface="Arial"/>
              </a:rPr>
              <a:t>médicos no SUS que poderiam usar a mesma ferramenta que o Einstein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5"/>
          <p:cNvSpPr/>
          <p:nvPr/>
        </p:nvSpPr>
        <p:spPr>
          <a:xfrm>
            <a:off x="5943600" y="1645920"/>
            <a:ext cx="360" cy="3657600"/>
          </a:xfrm>
          <a:prstGeom prst="line">
            <a:avLst/>
          </a:prstGeom>
          <a:ln w="9525">
            <a:solidFill>
              <a:srgbClr val="3B50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6"/>
          <p:cNvSpPr/>
          <p:nvPr/>
        </p:nvSpPr>
        <p:spPr>
          <a:xfrm>
            <a:off x="6400800" y="1645920"/>
            <a:ext cx="50288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0DCE8"/>
                </a:solidFill>
                <a:effectLst/>
                <a:uFillTx/>
                <a:latin typeface="Arial"/>
                <a:ea typeface="Arial"/>
              </a:rPr>
              <a:t>Se 10% dos médicos do SUS usarem uma ferramenta que evita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um erro grave por médico por ano</a:t>
            </a:r>
            <a:r>
              <a:rPr lang="en-US" sz="1600" b="0" u="none" strike="noStrike">
                <a:solidFill>
                  <a:srgbClr val="D0DCE8"/>
                </a:solidFill>
                <a:effectLst/>
                <a:uFillTx/>
                <a:latin typeface="Arial"/>
                <a:ea typeface="Arial"/>
              </a:rPr>
              <a:t>: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7"/>
          <p:cNvSpPr/>
          <p:nvPr/>
        </p:nvSpPr>
        <p:spPr>
          <a:xfrm>
            <a:off x="6400800" y="3200400"/>
            <a:ext cx="3657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C9A227"/>
                </a:solidFill>
                <a:effectLst/>
                <a:uFillTx/>
                <a:latin typeface="Georgia"/>
                <a:ea typeface="Georgia"/>
              </a:rPr>
              <a:t>25.000</a:t>
            </a:r>
            <a:endParaRPr lang="pt-BR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8"/>
          <p:cNvSpPr/>
          <p:nvPr/>
        </p:nvSpPr>
        <p:spPr>
          <a:xfrm>
            <a:off x="6400800" y="4114800"/>
            <a:ext cx="4571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0DCE8"/>
                </a:solidFill>
                <a:effectLst/>
                <a:uFillTx/>
                <a:latin typeface="Arial"/>
                <a:ea typeface="Arial"/>
              </a:rPr>
              <a:t>pacientes protegidos anualmente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9"/>
          <p:cNvSpPr/>
          <p:nvPr/>
        </p:nvSpPr>
        <p:spPr>
          <a:xfrm>
            <a:off x="548640" y="548640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No SUS, cada erro evitado é uma vida melhor — ou salva.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Einstein.Cloud · BeansTech · Confidencial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"/>
          <p:cNvSpPr/>
          <p:nvPr/>
        </p:nvSpPr>
        <p:spPr>
          <a:xfrm>
            <a:off x="548640" y="36576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B4B8F"/>
                </a:solidFill>
                <a:effectLst/>
                <a:uFillTx/>
                <a:latin typeface="Georgia"/>
                <a:ea typeface="Georgia"/>
              </a:rPr>
              <a:t>Quem é a BeansTech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3"/>
          <p:cNvSpPr/>
          <p:nvPr/>
        </p:nvSpPr>
        <p:spPr>
          <a:xfrm>
            <a:off x="548640" y="1645920"/>
            <a:ext cx="26514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A1F3D"/>
                </a:solidFill>
                <a:effectLst/>
                <a:uFillTx/>
                <a:latin typeface="Georgia"/>
                <a:ea typeface="Georgia"/>
              </a:rPr>
              <a:t>9</a:t>
            </a:r>
            <a:endParaRPr lang="pt-BR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4"/>
          <p:cNvSpPr/>
          <p:nvPr/>
        </p:nvSpPr>
        <p:spPr>
          <a:xfrm>
            <a:off x="548640" y="2560320"/>
            <a:ext cx="2651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portais médicos em produção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5"/>
          <p:cNvSpPr/>
          <p:nvPr/>
        </p:nvSpPr>
        <p:spPr>
          <a:xfrm>
            <a:off x="3429000" y="1645920"/>
            <a:ext cx="26514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A1F3D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pt-BR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6"/>
          <p:cNvSpPr/>
          <p:nvPr/>
        </p:nvSpPr>
        <p:spPr>
          <a:xfrm>
            <a:off x="3429000" y="2560320"/>
            <a:ext cx="2651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servidores GPU com 10+ modelos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7"/>
          <p:cNvSpPr/>
          <p:nvPr/>
        </p:nvSpPr>
        <p:spPr>
          <a:xfrm>
            <a:off x="6309360" y="1645920"/>
            <a:ext cx="26514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1B4B8F"/>
                </a:solidFill>
                <a:effectLst/>
                <a:uFillTx/>
                <a:latin typeface="Georgia"/>
                <a:ea typeface="Georgia"/>
              </a:rPr>
              <a:t>200</a:t>
            </a:r>
            <a:endParaRPr lang="pt-BR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8"/>
          <p:cNvSpPr/>
          <p:nvPr/>
        </p:nvSpPr>
        <p:spPr>
          <a:xfrm>
            <a:off x="6309360" y="2560320"/>
            <a:ext cx="2651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casos no maior benchmark LLM-médico da América Latina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9"/>
          <p:cNvSpPr/>
          <p:nvPr/>
        </p:nvSpPr>
        <p:spPr>
          <a:xfrm>
            <a:off x="9189720" y="1645920"/>
            <a:ext cx="26514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A1F3D"/>
                </a:solidFill>
                <a:effectLst/>
                <a:uFillTx/>
                <a:latin typeface="Georgia"/>
                <a:ea typeface="Georgia"/>
              </a:rPr>
              <a:t>6</a:t>
            </a:r>
            <a:endParaRPr lang="pt-BR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0"/>
          <p:cNvSpPr/>
          <p:nvPr/>
        </p:nvSpPr>
        <p:spPr>
          <a:xfrm>
            <a:off x="9189720" y="2560320"/>
            <a:ext cx="2651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camadas anti-alucinação em produção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1"/>
          <p:cNvSpPr/>
          <p:nvPr/>
        </p:nvSpPr>
        <p:spPr>
          <a:xfrm>
            <a:off x="548640" y="3383280"/>
            <a:ext cx="11091600" cy="360"/>
          </a:xfrm>
          <a:prstGeom prst="line">
            <a:avLst/>
          </a:prstGeom>
          <a:ln w="9525">
            <a:solidFill>
              <a:srgbClr val="E5E7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2"/>
          <p:cNvSpPr/>
          <p:nvPr/>
        </p:nvSpPr>
        <p:spPr>
          <a:xfrm>
            <a:off x="548640" y="3657600"/>
            <a:ext cx="11091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A BeansTech não é uma empresa de IA. </a:t>
            </a:r>
            <a:r>
              <a:rPr lang="en-US" sz="16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É uma empresa de infraestrutura de segurança para IA em saúde. O nosso papel é construir os alicerces para que o Einstein — que tem o conhecimento clínico, os dados, os pacientes e a notoriedade — possa liderar.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Einstein.Cloud · BeansTech · Confidencial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2"/>
          <p:cNvSpPr/>
          <p:nvPr/>
        </p:nvSpPr>
        <p:spPr>
          <a:xfrm>
            <a:off x="548640" y="36576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B4B8F"/>
                </a:solidFill>
                <a:effectLst/>
                <a:uFillTx/>
                <a:latin typeface="Georgia"/>
                <a:ea typeface="Georgia"/>
              </a:rPr>
              <a:t>Próximos Passos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"/>
          <p:cNvSpPr/>
          <p:nvPr/>
        </p:nvSpPr>
        <p:spPr>
          <a:xfrm>
            <a:off x="548640" y="1645920"/>
            <a:ext cx="7311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C9A227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4"/>
          <p:cNvSpPr/>
          <p:nvPr/>
        </p:nvSpPr>
        <p:spPr>
          <a:xfrm>
            <a:off x="1463040" y="164592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1. Reunião de apresentação (45 min): demonstração da plataforma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5"/>
          <p:cNvSpPr/>
          <p:nvPr/>
        </p:nvSpPr>
        <p:spPr>
          <a:xfrm>
            <a:off x="548640" y="2560320"/>
            <a:ext cx="7311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C9A227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6"/>
          <p:cNvSpPr/>
          <p:nvPr/>
        </p:nvSpPr>
        <p:spPr>
          <a:xfrm>
            <a:off x="1463040" y="256032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2. Acordo de confidencialidade (NDA mútuo)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7"/>
          <p:cNvSpPr/>
          <p:nvPr/>
        </p:nvSpPr>
        <p:spPr>
          <a:xfrm>
            <a:off x="548640" y="3474720"/>
            <a:ext cx="7311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C9A227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8"/>
          <p:cNvSpPr/>
          <p:nvPr/>
        </p:nvSpPr>
        <p:spPr>
          <a:xfrm>
            <a:off x="1463040" y="347472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3. Definição conjunta do piloto: especialidade, casos, revisores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9"/>
          <p:cNvSpPr/>
          <p:nvPr/>
        </p:nvSpPr>
        <p:spPr>
          <a:xfrm>
            <a:off x="548640" y="4389120"/>
            <a:ext cx="7311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C9A227"/>
                </a:solidFill>
                <a:effectLst/>
                <a:uFillTx/>
                <a:latin typeface="Georgia"/>
                <a:ea typeface="Georgia"/>
              </a:rPr>
              <a:t>4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0"/>
          <p:cNvSpPr/>
          <p:nvPr/>
        </p:nvSpPr>
        <p:spPr>
          <a:xfrm>
            <a:off x="1463040" y="438912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4. Protocolo ao CEP (se houver fine-tuning com dados do Einstein)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11"/>
          <p:cNvSpPr/>
          <p:nvPr/>
        </p:nvSpPr>
        <p:spPr>
          <a:xfrm>
            <a:off x="548640" y="4754880"/>
            <a:ext cx="11091600" cy="360"/>
          </a:xfrm>
          <a:prstGeom prst="line">
            <a:avLst/>
          </a:prstGeom>
          <a:ln w="9525">
            <a:solidFill>
              <a:srgbClr val="E3EC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2"/>
          <p:cNvSpPr/>
          <p:nvPr/>
        </p:nvSpPr>
        <p:spPr>
          <a:xfrm>
            <a:off x="548640" y="4937760"/>
            <a:ext cx="1109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B4B8F"/>
                </a:solidFill>
                <a:effectLst/>
                <a:uFillTx/>
                <a:latin typeface="Arial"/>
                <a:ea typeface="Arial"/>
              </a:rPr>
              <a:t>Repositório do benchmark: github.com/beanstechhub/einstein-benchmark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3"/>
          <p:cNvSpPr/>
          <p:nvPr/>
        </p:nvSpPr>
        <p:spPr>
          <a:xfrm>
            <a:off x="548640" y="5303520"/>
            <a:ext cx="1109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200 casos · 9 modelos anônimos · acesso mediante convite · 2 semanas para revisão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4"/>
          <p:cNvSpPr/>
          <p:nvPr/>
        </p:nvSpPr>
        <p:spPr>
          <a:xfrm>
            <a:off x="548640" y="5760720"/>
            <a:ext cx="7314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1F3D"/>
                </a:solidFill>
                <a:effectLst/>
                <a:uFillTx/>
                <a:latin typeface="Arial"/>
                <a:ea typeface="Arial"/>
              </a:rPr>
              <a:t>Matheus Feijão · WhatsApp +55 11 92507-9058 · matheus@beanstech.com.br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AB8CC"/>
                </a:solidFill>
                <a:effectLst/>
                <a:uFillTx/>
                <a:latin typeface="Arial"/>
                <a:ea typeface="Arial"/>
              </a:rPr>
              <a:t>Einstein.Cloud · BeansTech · Confidencial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AB8C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2"/>
          <p:cNvSpPr/>
          <p:nvPr/>
        </p:nvSpPr>
        <p:spPr>
          <a:xfrm>
            <a:off x="548640" y="1371600"/>
            <a:ext cx="100580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A inteligência artificial é o meio.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3"/>
          <p:cNvSpPr/>
          <p:nvPr/>
        </p:nvSpPr>
        <p:spPr>
          <a:xfrm>
            <a:off x="548640" y="2743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rgbClr val="C9A227"/>
                </a:solidFill>
                <a:effectLst/>
                <a:uFillTx/>
                <a:latin typeface="Georgia"/>
                <a:ea typeface="Georgia"/>
              </a:rPr>
              <a:t>O médico é o fim.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4"/>
          <p:cNvSpPr/>
          <p:nvPr/>
        </p:nvSpPr>
        <p:spPr>
          <a:xfrm>
            <a:off x="548640" y="3383280"/>
            <a:ext cx="100580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O paciente é o propósito.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5"/>
          <p:cNvSpPr/>
          <p:nvPr/>
        </p:nvSpPr>
        <p:spPr>
          <a:xfrm>
            <a:off x="548640" y="5029200"/>
            <a:ext cx="3200400" cy="360"/>
          </a:xfrm>
          <a:prstGeom prst="line">
            <a:avLst/>
          </a:prstGeom>
          <a:ln w="25400">
            <a:solidFill>
              <a:srgbClr val="C9A2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6"/>
          <p:cNvSpPr/>
          <p:nvPr/>
        </p:nvSpPr>
        <p:spPr>
          <a:xfrm>
            <a:off x="548640" y="466344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0DCE8"/>
                </a:solidFill>
                <a:effectLst/>
                <a:uFillTx/>
                <a:latin typeface="Arial"/>
                <a:ea typeface="Arial"/>
              </a:rPr>
              <a:t>github.com/beanstechhub/einstein-benchmark · Matheus Feijão · WhatsApp +55 11 92507-9058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7"/>
          <p:cNvSpPr/>
          <p:nvPr/>
        </p:nvSpPr>
        <p:spPr>
          <a:xfrm>
            <a:off x="548640" y="502920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0DCE8"/>
                </a:solidFill>
                <a:effectLst/>
                <a:uFillTx/>
                <a:latin typeface="Arial"/>
                <a:ea typeface="Arial"/>
              </a:rPr>
              <a:t>Do Einstein para o Brasil: impacto em milhões de vidas.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8"/>
          <p:cNvSpPr/>
          <p:nvPr/>
        </p:nvSpPr>
        <p:spPr>
          <a:xfrm>
            <a:off x="548640" y="5760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AB8CC"/>
                </a:solidFill>
                <a:effectLst/>
                <a:uFillTx/>
                <a:latin typeface="Arial"/>
                <a:ea typeface="Arial"/>
              </a:rPr>
              <a:t>matheus@beanstech.com.br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LibreOffice/26.2.5.2$Linux_X86_64 LibreOffice_project/6d2b0d33fb0f5da53a12f98bed3e9973e56ff1f0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2026-09-18T21:14:00Z</dcterms:created>
  <dc:creator>BeansTech Health</dc:creator>
  <dc:description/>
  <dc:language>pt-BR</dc:language>
  <cp:lastModifiedBy/>
  <cp:lastPrinted>2026-09-18T18:38:46Z</cp:lastPrinted>
  <dcterms:modified xsi:type="dcterms:W3CDTF">2026-09-18T18:39:01Z</dcterms:modified>
  <cp:revision>2</cp:revision>
  <dc:subject>PptxGenJS Presentation</dc:subject>
  <dc:title>Einstein.Cloud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13</vt:i4>
  </property>
  <property fmtid="{D5CDD505-2E9C-101B-9397-08002B2CF9AE}" pid="3" name="PresentationFormat">
    <vt:lpwstr>On-screen Show (16:9)</vt:lpwstr>
  </property>
  <property fmtid="{D5CDD505-2E9C-101B-9397-08002B2CF9AE}" pid="4" name="Slides">
    <vt:i4>13</vt:i4>
  </property>
</Properties>
</file>