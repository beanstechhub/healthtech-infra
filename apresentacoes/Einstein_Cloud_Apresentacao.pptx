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EINSTEIN.CLOUD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B9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primeira nuvem médica privada e soberana do Brasil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6576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ao Conselho Deliberativo · Hospital Israelita Albert Einstein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 Health · Matheus Feijão · Setembro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Problema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barreiras para o uso de IA em saúde no Brasil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Dependência estrangeira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APIs de OpenAI, Anthropic e Google processam texto clínico fora do Brasil. Risco jurídico e reputacional.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29768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29768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curadoria clínica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29768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não treinados para PCDT, CID-10 BR, TUSS, medicamentos brasileiros, realidade do SUS.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0" y="1645920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8046720" y="25603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Falta de transparência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046720" y="30175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médico não vê como o modelo chegou à conclusão. Sem trilha de auditoria. Sem raciocínio documentado.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Proposta: Einstein.Cloud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 não consome uma nuvem de terceiros. O Einstein constrói e possui a sua.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5029200"/>
            <a:ext cx="12188952" cy="1280160"/>
          </a:xfrm>
          <a:prstGeom prst="rect">
            <a:avLst/>
          </a:prstGeom>
          <a:solidFill>
            <a:srgbClr val="E3ECF5"/>
          </a:solidFill>
          <a:ln w="12700">
            <a:solidFill>
              <a:srgbClr val="E3EC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521208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IA é sempre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meio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nunca um </a:t>
            </a:r>
            <a:pPr indent="0" marL="0">
              <a:buNone/>
            </a:pPr>
            <a:r>
              <a:rPr lang="en-US" sz="1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fim</a:t>
            </a:r>
            <a:pPr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 decisão clínica é sempre do profissional.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locais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em São Paulo, sob controle do Einstein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7007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1645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documentado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492240" y="19933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com trilha de auditoria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Filtro de entrada e saída em toda interação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17920" y="307238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3017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curado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3364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PCDT, Anvisa, diretrizes + protocolos internos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Arquitetura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camadas, dado clínico em São Paulo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645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Portal do Médico · Pesquisa · Ensino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1031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SSO/MFA · anonimização automática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108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IA Clínica (GPU local)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35661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raciocínio · guardrails · abstenção · trilha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480560"/>
            <a:ext cx="11091672" cy="118872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572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de Evidência (acervo curado)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0D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PCDT · Anvisa · SciELO · protocolos Einstein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11: dados sensíveis · art. 37: trilha de operações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Fundamento: Benchmark de 200 casos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modelos, 23 especialidades, 2.000 avaliações — o maior teste de LLM para medicina em PT-BR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73152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15361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80160" y="15361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GLM-5.3 (Z.ai)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0160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0,486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abst · 23s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63040"/>
            <a:ext cx="5303520" cy="73152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5080" y="15361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2º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949440" y="15361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 3.8-Max (Alibaba)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49440" y="18288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0,437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412480" y="1828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abst · 36s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377440"/>
            <a:ext cx="5303520" cy="73152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3º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80160" y="2450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DeepSeek v4 Pro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80160" y="2743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0,396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74320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abst · 37s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2377440"/>
            <a:ext cx="5303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55080" y="24505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4º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949440" y="24505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Baichuan-M3 (GPU própria)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27432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0,392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412480" y="27432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abst · 33s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3291840"/>
            <a:ext cx="5303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3649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5º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1280160" y="3364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GPT-6 Astra (OpenAI)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80160" y="3657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0,377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74320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abst · 17s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3291840"/>
            <a:ext cx="5303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355080" y="33649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6º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6949440" y="33649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5 (Anthropic)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9440" y="36576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0,347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412480" y="36576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abst · 24s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4206240"/>
            <a:ext cx="53035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4279392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7º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1280160" y="42793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Lingshu-32B (DAMO)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280160" y="457200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 0,274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743200" y="4572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abst · 19s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30352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54864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Descoberta: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modelo vence em especialidades diferentes. A arquitetura é roteamento multi-modelo.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858000" y="54864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Red-team: </a:t>
            </a:r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falharam sem guardrail. Granite Guardian: 100%.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Segurança: todos falharam sem guardrail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0/10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recusaram espontaneamente prompts adversariais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943600" y="164592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05966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8000" dirty="0"/>
          </a:p>
        </p:txBody>
      </p:sp>
      <p:sp>
        <p:nvSpPr>
          <p:cNvPr id="8" name="Text 6"/>
          <p:cNvSpPr/>
          <p:nvPr/>
        </p:nvSpPr>
        <p:spPr>
          <a:xfrm>
            <a:off x="5943600" y="301752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ataques interceptados pelo Granite Guardian (guardrail dedicado)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93192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411480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modelo generativo nunca é o guardrail. O guardrail é uma camada separada, dedicada, auditável.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Conformidade Regulatória Integral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11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sensíveis processados em GPU local; anonimização automática; consentimento específico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160934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55448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 art. 37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92240" y="190195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Trilha: modelo, versão, raciocínio, tokens, guardrail, timestamp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CFM 1.821/07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 de apoio; nunca diagnóstico autônomo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17920" y="3255264"/>
            <a:ext cx="128016" cy="128016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32004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CEP/CONEP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92240" y="3547872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Fine-tuning com dados do Einstein somente mediante protocolo aprovado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Governança: Einstein é protagonista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é coadjuvante na engenharia. O Einstein lidera na ciência, ética e decisão.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536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científica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663440" y="15361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8745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 clínica, protocolos, acervo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6304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361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Comité de ética (CEP)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332720" y="153619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18745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 de fine-tuning e casos de uso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03520" cy="1005840"/>
          </a:xfrm>
          <a:prstGeom prst="rect">
            <a:avLst/>
          </a:prstGeom>
          <a:solidFill>
            <a:srgbClr val="E3ECF5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770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de modelos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663440" y="27706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108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Quais usar, quando atualizar, quando suspender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697480"/>
            <a:ext cx="5303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277063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Infraestrutura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332720" y="277063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0" y="31089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GPU, rede, manutenção, disponibilidade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3931920"/>
            <a:ext cx="5303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00507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24×7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63440" y="4005072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BEANSTECH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31520" y="4343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técnico e SLA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48640" y="502920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Einstein.Cloud </a:t>
            </a:r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plataforma do Einstein</a:t>
            </a:r>
            <a:pPr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construída com apoio técnico da BeansTech. A marca, a governança e os dados são do Einstein.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meses da definição à produção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54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920240" y="16002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389120" y="16002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semanas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1600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especialidade, casos, critérios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389120" y="25146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35040" y="25146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especialidade, 200 casos cegos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20240" y="34290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Validação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389120" y="34290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semanas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035040" y="34290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relatório de validação clínica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solidFill>
            <a:srgbClr val="1B4B8F"/>
          </a:solidFill>
          <a:ln w="12700">
            <a:solidFill>
              <a:srgbClr val="1B4B8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297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920240" y="4343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389120" y="43434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semanas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035040" y="4343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 clínico, integração prontuário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48640" y="5486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Investimento total Fase 0-3: ~R$ 530 mil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Visão: do Einstein para o Brasil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250 mil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médicos no SUS que poderiam usar a mesma ferramenta que o Einstein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943600" y="1645920"/>
            <a:ext cx="0" cy="3657600"/>
          </a:xfrm>
          <a:prstGeom prst="line">
            <a:avLst/>
          </a:prstGeom>
          <a:noFill/>
          <a:ln w="9525">
            <a:solidFill>
              <a:srgbClr val="3B506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64592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10% dos médicos do SUS usarem uma ferramenta que evita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erro grave por médico por ano</a:t>
            </a:r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25.000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6400800" y="41148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pacientes protegidos anualmente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54864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SUS, cada erro evitado é uma vida melhor — ou salva.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é a BeansTech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4864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portais médicos em produção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42900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42900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servidores GPU com 10+ modelos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0936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630936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no maior benchmark LLM-médico da América Latina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89720" y="16459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0A1F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camadas anti-alucinação em produção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11091672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365760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BeansTech não é uma empresa de IA. </a:t>
            </a:r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uma empresa de infraestrutura de segurança para IA em saúde. O nosso papel é construir os alicerces para que o Einstein — que tem o conhecimento clínico, os dados, os pacientes e a notoriedade — possa liderar.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B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Próximos Passos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463040" y="16459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Reunião de apresentação (45 min): demonstração da plataforma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25603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463040" y="25603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Acordo de confidencialidade (NDA mútuo)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463040" y="34747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Definição conjunta do piloto: especialidade, casos, revisores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" y="438912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463040" y="438912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Protocolo ao CEP (se houver fine-tuning com dados do Einstein)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91672" cy="0"/>
          </a:xfrm>
          <a:prstGeom prst="line">
            <a:avLst/>
          </a:prstGeom>
          <a:noFill/>
          <a:ln w="9525">
            <a:solidFill>
              <a:srgbClr val="E3EC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937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B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do benchmark: github.com/beanstechhub/einstein-benchmark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casos · 9 modelos anônimos · acesso mediante convite · 2 semanas para revisão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760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F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 Feijão · WhatsApp +55 11 92507-9058 · matheus@beanstech.com.br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F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Einstein.Cloud · BeansTech · Confidencial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inteligência artificial é o meio.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médico é o fim.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paciente é o propósito.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548640" y="5029200"/>
            <a:ext cx="320040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6634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github.com/beanstechhub/einstein-benchmark · Matheus Feijão · WhatsApp +55 11 92507-9058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50292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0DC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Einstein para o Brasil: impacto em milhões de vidas.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AB8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matheus@beanstech.com.br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Einstein.Cloud</dc:title>
  <dc:subject>PptxGenJS Presentation</dc:subject>
  <dc:creator>BeansTech Health</dc:creator>
  <cp:lastModifiedBy>BeansTech Health</cp:lastModifiedBy>
  <cp:revision>1</cp:revision>
  <dcterms:created xsi:type="dcterms:W3CDTF">2026-09-18T21:14:00Z</dcterms:created>
  <dcterms:modified xsi:type="dcterms:W3CDTF">2026-09-18T21:14:00Z</dcterms:modified>
</cp:coreProperties>
</file>