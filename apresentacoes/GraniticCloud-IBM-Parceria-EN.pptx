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Annual Revenue (US$M)</c:v>
                </c:pt>
              </c:strCache>
            </c:strRef>
          </c:tx>
          <c:spPr>
            <a:solidFill>
              <a:srgbClr val="0F62FE"/>
            </a:solidFill>
            <a:ln w="0">
              <a:noFill/>
            </a:ln>
          </c:spPr>
          <c:invertIfNegative val="0"/>
          <c:dLbls>
            <c:numFmt formatCode="\$#,##0\M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2D9C"/>
                    </a:solidFill>
                    <a:uFillTx/>
                    <a:latin typeface="Helvetica Neue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12</c:v>
                </c:pt>
                <c:pt idx="1">
                  <c:v>50</c:v>
                </c:pt>
                <c:pt idx="2">
                  <c:v>115</c:v>
                </c:pt>
                <c:pt idx="3">
                  <c:v>220</c:v>
                </c:pt>
                <c:pt idx="4">
                  <c:v>350</c:v>
                </c:pt>
              </c:numCache>
            </c:numRef>
          </c:val>
        </c:ser>
        <c:gapWidth val="150"/>
        <c:overlap val="0"/>
        <c:axId val="71891477"/>
        <c:axId val="75571228"/>
      </c:barChart>
      <c:catAx>
        <c:axId val="7189147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A6B7A"/>
                </a:solidFill>
                <a:uFillTx/>
                <a:latin typeface="Helvetica Neue"/>
              </a:defRPr>
            </a:pPr>
          </a:p>
        </c:txPr>
        <c:crossAx val="75571228"/>
        <c:crosses val="autoZero"/>
        <c:auto val="1"/>
        <c:lblAlgn val="ctr"/>
        <c:lblOffset val="100"/>
        <c:noMultiLvlLbl val="0"/>
      </c:catAx>
      <c:valAx>
        <c:axId val="75571228"/>
        <c:scaling>
          <c:orientation val="minMax"/>
        </c:scaling>
        <c:delete val="0"/>
        <c:axPos val="l"/>
        <c:majorGridlines>
          <c:spPr>
            <a:ln w="6480">
              <a:solidFill>
                <a:srgbClr val="C8D2DA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900" b="0" u="none" strike="noStrike">
                    <a:solidFill>
                      <a:srgbClr val="5A6B7A"/>
                    </a:solidFill>
                    <a:uFillTx/>
                    <a:latin typeface="Arial"/>
                  </a:rPr>
                  <a:t>Revenue (US$ millions)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A6B7A"/>
                </a:solidFill>
                <a:uFillTx/>
                <a:latin typeface="Helvetica Neue"/>
              </a:defRPr>
            </a:pPr>
          </a:p>
        </c:txPr>
        <c:crossAx val="7189147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DE93B5-BD69-4981-9D4E-205F96DE6B2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8FD18-7AEC-4F68-B9F7-285ED117F7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8FD282-21A0-4867-8DD3-F6100FB5D0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CFE246-7983-4DF9-954A-A0B4A05698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0224A1-B988-4B7E-86E0-713B3F7C70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126B9-8AA4-4D04-8E54-1A832E086D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B0A6D-215C-4E58-9C6F-DC215E953A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CC5AC9-F1B8-466D-85D2-0545A5C3BF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535246-771E-42B4-8825-4A8DAE21FD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560CF0-6D1E-4230-B75F-F0808E3CE5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A401C1-D641-400A-9CDF-17D5DC2270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562D8-007F-488C-A7F0-38FE212D52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mailto:matheus@beanstech.com.b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21"/>
          </a:solidFill>
          <a:ln w="12700">
            <a:solidFill>
              <a:srgbClr val="1A1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542960" y="45720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542960" y="62172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542960" y="78624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0542960" y="95112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542960" y="111564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0542960" y="128016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542960" y="144468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0542960" y="1609200"/>
            <a:ext cx="1096920" cy="72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02920" y="14630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BEANSTECH  ×  IBM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02920" y="2011680"/>
            <a:ext cx="86864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The Granite Foundation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for Regulated AI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in Latin America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02920" y="4572000"/>
            <a:ext cx="8686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0C0D0"/>
                </a:solidFill>
                <a:effectLst/>
                <a:uFillTx/>
                <a:latin typeface="Georgia"/>
                <a:ea typeface="Georgia"/>
              </a:rPr>
              <a:t>Where IBM's Granite meets the equator. Trusted AI for sectors where being wrong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0C0D0"/>
                </a:solidFill>
                <a:effectLst/>
                <a:uFillTx/>
                <a:latin typeface="Georgia"/>
                <a:ea typeface="Georgia"/>
              </a:rPr>
              <a:t>changes lives — running on sovereign Brazilian infrastructure, powered by solar energy.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02920" y="5577840"/>
            <a:ext cx="2743200" cy="360"/>
          </a:xfrm>
          <a:prstGeom prst="line">
            <a:avLst/>
          </a:prstGeom>
          <a:ln w="25400">
            <a:solidFill>
              <a:srgbClr val="D4A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02920" y="562356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C847"/>
                </a:solidFill>
                <a:effectLst/>
                <a:uFillTx/>
                <a:latin typeface="Helvetica Neue"/>
                <a:ea typeface="Helvetica Neue"/>
              </a:rPr>
              <a:t>US$ 250,000,000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FC0"/>
                </a:solidFill>
                <a:effectLst/>
                <a:uFillTx/>
                <a:latin typeface="Helvetica Neue"/>
                <a:ea typeface="Helvetica Neue"/>
              </a:rPr>
              <a:t>Strategic Partnership Value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571160" y="56509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Matheus Ximenes · Founder &amp; CEO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Attorney · Postgraduate Cloud Computing &amp; Data Protection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September 2026 · São Paulo, Brazil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1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Executive Summary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Granite already powers our compliance infrastructure. This partnership scales it to all of Latin America.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502920" y="1554480"/>
            <a:ext cx="2011320" cy="1188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502920" y="16275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US$ 250M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502920" y="217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Partnership Value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2715840" y="1554480"/>
            <a:ext cx="2011320" cy="1188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2715840" y="16275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4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2715840" y="217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Regulated Verticals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4928760" y="1554480"/>
            <a:ext cx="2011320" cy="1188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4928760" y="16275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2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4928760" y="217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Data Centers (1 Carbon-Free)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7141320" y="1554480"/>
            <a:ext cx="2011320" cy="1188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7141320" y="16275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77M+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7141320" y="217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Court Decisions Indexed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9354240" y="1554480"/>
            <a:ext cx="2011320" cy="1188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9354240" y="16275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6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9354240" y="217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Models in Production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502920" y="3017520"/>
            <a:ext cx="11182680" cy="1462680"/>
          </a:xfrm>
          <a:prstGeom prst="rect">
            <a:avLst/>
          </a:prstGeom>
          <a:solidFill>
            <a:srgbClr val="1A1A21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777240" y="3200400"/>
            <a:ext cx="1063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Granite Guardian is already deployed as the mandatory guardrail in every clinical decision we make.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Every response from our /decisao tool passes through granite3-guardian:8b for input and output safety. Granite 4.1 30B handles compliance narratives and SAR generation. This is not a proposal to try Granite — it is a proposal to scale what is already working.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502920" y="46634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62FE"/>
                </a:solidFill>
                <a:effectLst/>
                <a:uFillTx/>
                <a:latin typeface="Helvetica Neue"/>
                <a:ea typeface="Helvetica Neue"/>
              </a:rPr>
              <a:t>What IBM Gains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502920" y="4983480"/>
            <a:ext cx="5303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Production validation — Granite running in regulated sectors, not just benchmarks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Market access — 1.75M regulated professionals in Brazil, 650M in LATAM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granitic.cloud — premium domain for the joint product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watsonx integration — sovereign deployment in territory IBM cannot reach alone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6400800" y="46634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62FE"/>
                </a:solidFill>
                <a:effectLst/>
                <a:uFillTx/>
                <a:latin typeface="Helvetica Neue"/>
                <a:ea typeface="Helvetica Neue"/>
              </a:rPr>
              <a:t>What Beans Tech Brings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6400800" y="4983480"/>
            <a:ext cx="5303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Granite in production — guardrail on every response, compliance in every vertical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4 regulated verticals live — Legal (77M+ decisions), Compliance, Health, Real Estate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Sovereign data centers — PB (solar off-grid) + CE (ZPE, subsea)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000" b="0" u="none" strike="noStrike">
                <a:solidFill>
                  <a:srgbClr val="1A2332"/>
                </a:solidFill>
                <a:effectLst/>
                <a:uFillTx/>
                <a:latin typeface="Helvetica Neue"/>
                <a:ea typeface="Helvetica Neue"/>
              </a:rPr>
              <a:t>Regulatory expertise — founder attorney, 12 years Judiciary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Why Granite — What We Observed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Benchmark data from our production infrastructure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502920" y="1554480"/>
          <a:ext cx="1118268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  <a:gridCol w="3867840"/>
              </a:tblGrid>
              <a:tr h="594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Granite Model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Our Deployment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Measured Performance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Role in Production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Granite 4.1 30B (Q4)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GPU: elite-health (Singapura)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41.6 tok/s · 1,509 tok/s prompt eval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62FE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Compliance narratives, SAR generation, regulatory analysis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Granite 3 Guardian 8B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GPU: elite-health (Singapura)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146 tok/s · 13,907 tok/s prompt eval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62FE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Mandatory guardrail: input + output safety on every /decisao response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Combined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6 models × 26 clinical cases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Benchmark coverage: 0.39 ( Granite 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62FE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Guardrail: caught 100% of prompt injection that other models missed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7" name="Shape 3"/>
          <p:cNvSpPr/>
          <p:nvPr/>
        </p:nvSpPr>
        <p:spPr>
          <a:xfrm>
            <a:off x="502920" y="4389120"/>
            <a:ext cx="11182680" cy="1462680"/>
          </a:xfrm>
          <a:prstGeom prst="rect">
            <a:avLst/>
          </a:prstGeom>
          <a:solidFill>
            <a:srgbClr val="1A1A21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777240" y="4572000"/>
            <a:ext cx="1063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The insight that matters: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When we tested 6 frontier models on adversarial cases (prompt injection, illegal content, PII leakage), every model — GLM-5.3, Baichuan, AntAngelMed, MedGemma, Qwen — failed. Only Granite Guardian caught them. This is why it is the mandatory layer in our production architecture. No frontier model is safe without Granite as the gatekeeper.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02920" y="6080760"/>
            <a:ext cx="1118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Source: BeansTech Clinical Benchmark, September 16, 2026 — 156 evaluations, red-team included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What "granitic" Means</a:t>
            </a:r>
            <a:endParaRPr lang="pt-BR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FC0"/>
                </a:solidFill>
                <a:effectLst/>
                <a:uFillTx/>
                <a:latin typeface="Helvetica Neue"/>
                <a:ea typeface="Helvetica Neue"/>
              </a:rPr>
              <a:t>The word that describes what IBM builds and what we deploy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02920" y="1828800"/>
            <a:ext cx="11182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granitic</a:t>
            </a:r>
            <a:endParaRPr lang="pt-B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FAFC0"/>
                </a:solidFill>
                <a:effectLst/>
                <a:uFillTx/>
                <a:latin typeface="Georgia"/>
                <a:ea typeface="Georgia"/>
              </a:rPr>
              <a:t>/ɡrəˈnɪtɪk/ — adjective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Georgia"/>
              </a:rPr>
              <a:t> 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0C0D0"/>
                </a:solidFill>
                <a:effectLst/>
                <a:uFillTx/>
                <a:latin typeface="Georgia"/>
                <a:ea typeface="Georgia"/>
              </a:rPr>
              <a:t>1. Composed of or resembling granite — the hardest, most durable natural stone.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Georgia"/>
              </a:rPr>
              <a:t> </a:t>
            </a:r>
            <a:endParaRPr lang="pt-BR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0C0D0"/>
                </a:solidFill>
                <a:effectLst/>
                <a:uFillTx/>
                <a:latin typeface="Georgia"/>
                <a:ea typeface="Georgia"/>
              </a:rPr>
              <a:t>2. Unbreakable. Foundation-grade. Built to last longer than the building on top of it.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Georgia"/>
              </a:rPr>
              <a:t> 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C847"/>
                </a:solidFill>
                <a:effectLst/>
                <a:uFillTx/>
                <a:latin typeface="Helvetica Neue"/>
                <a:ea typeface="Helvetica Neue"/>
              </a:rPr>
              <a:t>granitic.cloud — where IBM's Granite becomes the foundation of Latin America's regulated AI.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3246120" y="6217920"/>
            <a:ext cx="5696640" cy="360"/>
          </a:xfrm>
          <a:prstGeom prst="line">
            <a:avLst/>
          </a:prstGeom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4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The 4 Regulated Verticals — Where Granite Serves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Production-ready AI engines with Granite as the foundation layer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02920" y="1554480"/>
            <a:ext cx="5394600" cy="2102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731520" y="169164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⚖️ Legal &amp; Compliance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ragjur.ai · legalsuite.tech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77M+ court decisions indexed · Granite 4.1 for SAR narratives and regulatory analysis · Guardian for judicial document safety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00B3A4"/>
                </a:solidFill>
                <a:effectLst/>
                <a:uFillTx/>
                <a:latin typeface="Calibri"/>
              </a:rPr>
              <a:t>1.2M attorneys · R$ 80B/yr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126480" y="1554480"/>
            <a:ext cx="5394600" cy="2102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355080" y="169164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🛡️ Compliance / AML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pldbr.tech · beansbank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Granite 4.1 for PLD/FT compliance, SAR generation · Guardian for transaction monitoring and typology classification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00B3A4"/>
                </a:solidFill>
                <a:effectLst/>
                <a:uFillTx/>
                <a:latin typeface="Calibri"/>
              </a:rPr>
              <a:t>740 institutions · R$ 12B/yr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502920" y="3931920"/>
            <a:ext cx="5394600" cy="2102760"/>
          </a:xfrm>
          <a:prstGeom prst="rect">
            <a:avLst/>
          </a:prstGeom>
          <a:solidFill>
            <a:srgbClr val="1A1A21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731520" y="406908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🏥 Healthcare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FAFC0"/>
                </a:solidFill>
                <a:effectLst/>
                <a:uFillTx/>
                <a:latin typeface="Calibri"/>
              </a:rPr>
              <a:t>dodr.ai · ragmed.ai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Granite Guardian as mandatory clinical guardrail — input + output safety on every response · 8 medical portals live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550k physicians · R$ 4.4B/yr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6126480" y="3931920"/>
            <a:ext cx="5394600" cy="2102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355080" y="406908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🏢 Real Estate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alirealty.com.br · proptechbr.ai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Granite 4.1 for document analysis (matrículas, liens, restrictions) · Guardian for contract safety review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000" b="1" u="none" strike="noStrike">
                <a:solidFill>
                  <a:srgbClr val="00B3A4"/>
                </a:solidFill>
                <a:effectLst/>
                <a:uFillTx/>
                <a:latin typeface="Calibri"/>
              </a:rPr>
              <a:t>R$ 15B/yr (proptech)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502920" y="6172200"/>
            <a:ext cx="1118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62FE"/>
                </a:solidFill>
                <a:effectLst/>
                <a:uFillTx/>
                <a:latin typeface="Helvetica Neue"/>
                <a:ea typeface="Helvetica Neue"/>
              </a:rPr>
              <a:t>Healthcare (highlighted) is where Granite Guardian is already deployed as the mandatory safety layer on every clinical decision.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5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IBM watsonx Integration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From open-source Granite to enterprise-grade watsonx on sovereign infrastructure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02920" y="14630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Current: Open-Source Granite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502920" y="1828800"/>
            <a:ext cx="5303160" cy="2011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731520" y="1965960"/>
            <a:ext cx="4845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Granite 4.1 30B (Q4) — running on our GPUs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Granite 3 Guardian 8B — guardrail on every response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Apache 2.0 — fully open weights, sovereign deployment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41 tok/s on L20 GPU — production throughput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760720" y="2560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→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400800" y="14630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62FE"/>
                </a:solidFill>
                <a:effectLst/>
                <a:uFillTx/>
                <a:latin typeface="Helvetica Neue"/>
                <a:ea typeface="Helvetica Neue"/>
              </a:rPr>
              <a:t>Proposed: IBM watsonx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400800" y="1828800"/>
            <a:ext cx="5303160" cy="2011320"/>
          </a:xfrm>
          <a:prstGeom prst="rect">
            <a:avLst/>
          </a:prstGeom>
          <a:solidFill>
            <a:srgbClr val="1A1A21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629400" y="1965960"/>
            <a:ext cx="4845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watsonx.governance — AI governance and compliance platform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watsonx.ai — enterprise Granite with fine-tuning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watsonx.data — sovereign data lake for regulated sectors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E8C847"/>
              </a:buClr>
              <a:buFont typeface="Wingdings 3" charset="2"/>
              <a:buChar char=""/>
            </a:pPr>
            <a:r>
              <a:rPr lang="en-US" sz="1050" b="1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Deployed on granitic.cloud — sovereign Brazilian infrastructure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02920" y="40233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What watsonx Adds to Our Stack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02920" y="4389120"/>
            <a:ext cx="111826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601"/>
              </a:spcAft>
              <a:buClr>
                <a:srgbClr val="00000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Enterprise governance — model lifecycle, bias detection, explainability (FActSheets)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601"/>
              </a:spcAft>
              <a:buClr>
                <a:srgbClr val="00000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Regulatory mapping — automated compliance with LGPD, EU AI Act, sector-specific rules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601"/>
              </a:spcAft>
              <a:buClr>
                <a:srgbClr val="00000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sovereignty — watsonx deployed in Brazilian territory on granitic.cloud infrastructure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601"/>
              </a:spcAft>
              <a:buClr>
                <a:srgbClr val="00000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IBM credibility — enterprise trust that no startup can build alone, delivered through a local partner who understands Brazilian regulation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Sovereign Infrastructure — The Dual-Hub Advantage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Same data center blueprint as our Z.ai and Tencent partnerships, dedicated to Granite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502920" y="15544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Hub 1: ZPE Caucaia, Ceará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502920" y="1920240"/>
            <a:ext cx="5303160" cy="2011320"/>
          </a:xfrm>
          <a:prstGeom prst="rect">
            <a:avLst/>
          </a:prstGeom>
          <a:solidFill>
            <a:srgbClr val="F0F4F8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31520" y="2057400"/>
            <a:ext cx="4845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Special Export Processing Zone (ZPE)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Same zone as TikTok's Brazilian data center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Direct submarine cable access (Monet, EllaLink, SACS)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Duty-free hardware ingestion for IBM infrastructure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"/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Latency: &lt;65ms US East, &lt;64ms Europe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400800" y="15544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3A4"/>
                </a:solidFill>
                <a:effectLst/>
                <a:uFillTx/>
                <a:latin typeface="Helvetica Neue"/>
                <a:ea typeface="Helvetica Neue"/>
              </a:rPr>
              <a:t>Hub 2: Santa Terezinha, Paraíba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6400800" y="1920240"/>
            <a:ext cx="5303160" cy="2011320"/>
          </a:xfrm>
          <a:prstGeom prst="rect">
            <a:avLst/>
          </a:prstGeom>
          <a:solidFill>
            <a:srgbClr val="1A1A21"/>
          </a:solidFill>
          <a:ln w="19050">
            <a:solidFill>
              <a:srgbClr val="D4A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629400" y="2057400"/>
            <a:ext cx="4845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100% off-grid — zero public grid connection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B0C0D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Dedicated photovoltaic solar plant on owned land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B0C0D0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Satellite connectivity backup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E8C847"/>
              </a:buClr>
              <a:buFont typeface="Wingdings 3" charset="2"/>
              <a:buChar char=""/>
            </a:pPr>
            <a:r>
              <a:rPr lang="en-US" sz="1050" b="0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Carbon-free, ESG-auditable (IBM's sustainability goals)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99"/>
              </a:spcAft>
              <a:buClr>
                <a:srgbClr val="E8C847"/>
              </a:buClr>
              <a:buFont typeface="Wingdings 3" charset="2"/>
              <a:buChar char=""/>
            </a:pPr>
            <a:r>
              <a:rPr lang="en-US" sz="1050" b="1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IBM “Let’s create” meets 100% renewable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502920" y="4206240"/>
            <a:ext cx="11182680" cy="1371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777240" y="4343400"/>
            <a:ext cx="1063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Why IBM needs sovereign infrastructure in LATAM: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IBM cannot deploy watsonx in Brazilian territory without a local partner who owns land, understands LGPD, and has distribution in regulated sectors. Beans Tech has all three — plus Granite already in production.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The Granite Advantage — Why IBM's Model Is Different</a:t>
            </a:r>
            <a:endParaRPr lang="pt-BR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FC0"/>
                </a:solidFill>
                <a:effectLst/>
                <a:uFillTx/>
                <a:latin typeface="Helvetica Neue"/>
                <a:ea typeface="Helvetica Neue"/>
              </a:rPr>
              <a:t>Open weights, enterprise focus, safety-first design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02920" y="1554480"/>
            <a:ext cx="5394600" cy="182844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731520" y="169164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Apache 2.0 — Fully Open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Unlike GLM, Qwen, or Claude — Granite weights are fully open. IBM cannot pull the rug. Sovereign deployment without API dependency.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6126480" y="1554480"/>
            <a:ext cx="5394600" cy="182844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6355080" y="169164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Guardian — Safety by Design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Granite Guardian is the only model we tested that caught 100% of adversarial inputs. No frontier model matched it.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502920" y="3657600"/>
            <a:ext cx="5394600" cy="182844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731520" y="379476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Enterprise-Grade Focus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Built for compliance, audit, and governance — not for creative writing. This is the model for institutions that answer to regulators.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126480" y="3657600"/>
            <a:ext cx="5394600" cy="182844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6355080" y="3794760"/>
            <a:ext cx="4937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watsonx Ecosystem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Backed by IBM's enterprise platform: governance, data lake, fine-tuning, explainability. A complete stack, not just a model.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502920" y="59436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8C847"/>
                </a:solidFill>
                <a:effectLst/>
                <a:uFillTx/>
                <a:latin typeface="Georgia"/>
                <a:ea typeface="Georgia"/>
              </a:rPr>
              <a:t>IBM builds for trust. We deploy for sovereignty. Together: trusted AI on sovereign ground.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8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Revenue Projection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US$ 250M partnership → US$ 780M cumulative revenue (5 years) → US$ 2.7B enterprise value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Chart 0"/>
          <p:cNvGraphicFramePr/>
          <p:nvPr/>
        </p:nvGraphicFramePr>
        <p:xfrm>
          <a:off x="502920" y="1554480"/>
          <a:ext cx="530316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8" name="Table 0"/>
          <p:cNvGraphicFramePr/>
          <p:nvPr/>
        </p:nvGraphicFramePr>
        <p:xfrm>
          <a:off x="6400800" y="1554480"/>
          <a:ext cx="5303160" cy="243180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</a:tblGrid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Revenue Stream (Year 5)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US$M/yr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Brazil (4 verticals + watsonx services)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140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LATAM (Granite sovereign cloud)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90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watsonx consulting + implementation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60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Compute-as-a-Service (Granite GPU cloud)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35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Colocation (ZPE CE)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25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F62FE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TOTAL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F62FE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350</a:t>
                      </a:r>
                      <a:endParaRPr lang="pt-B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8D2DA"/>
                      </a:solidFill>
                      <a:prstDash val="solid"/>
                    </a:lnL>
                    <a:lnR w="6480">
                      <a:solidFill>
                        <a:srgbClr val="C8D2DA"/>
                      </a:solidFill>
                      <a:prstDash val="solid"/>
                    </a:lnR>
                    <a:lnT w="6480">
                      <a:solidFill>
                        <a:srgbClr val="C8D2DA"/>
                      </a:solidFill>
                      <a:prstDash val="solid"/>
                    </a:lnT>
                    <a:lnB w="6480">
                      <a:solidFill>
                        <a:srgbClr val="C8D2DA"/>
                      </a:solidFill>
                      <a:prstDash val="solid"/>
                    </a:lnB>
                    <a:solidFill>
                      <a:srgbClr val="002D9C"/>
                    </a:solidFill>
                  </a:tcPr>
                </a:tc>
              </a:tr>
            </a:tbl>
          </a:graphicData>
        </a:graphic>
      </p:graphicFrame>
      <p:sp>
        <p:nvSpPr>
          <p:cNvPr id="129" name="Shape 3"/>
          <p:cNvSpPr/>
          <p:nvPr/>
        </p:nvSpPr>
        <p:spPr>
          <a:xfrm>
            <a:off x="502920" y="5029200"/>
            <a:ext cx="11182680" cy="1371240"/>
          </a:xfrm>
          <a:prstGeom prst="rect">
            <a:avLst/>
          </a:prstGeom>
          <a:solidFill>
            <a:srgbClr val="1A1A21"/>
          </a:solidFill>
          <a:ln w="254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960120" y="5166360"/>
            <a:ext cx="10268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US$ 250M Investment → US$ 780M Revenue (5 years) → US$ 2.7B Enterprise Value at Exit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Direct ROI: 3.1×  ·  Enterprise Value Multiple: 10.8×  ·  Year 5 Run-Rate: US$ 350M/year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8BB0"/>
                </a:solidFill>
                <a:effectLst/>
                <a:uFillTx/>
                <a:latin typeface="Calibri"/>
              </a:rPr>
              <a:t>Excluding: data center assets, watsonx integration IP, granitic.cloud domain value, recurring revenue beyond Year 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What We Ask — What We Give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A partnership anchored in shared values: trust, transparency, and sovereignty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502920" y="1554480"/>
            <a:ext cx="5303160" cy="3840120"/>
          </a:xfrm>
          <a:prstGeom prst="rect">
            <a:avLst/>
          </a:prstGeom>
          <a:solidFill>
            <a:srgbClr val="1A1A21"/>
          </a:solidFill>
          <a:ln w="1905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777240" y="17373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IBM CONTRIBUTES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777240" y="2103120"/>
            <a:ext cx="47545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400"/>
              </a:lnSpc>
              <a:spcAft>
                <a:spcPts val="400"/>
              </a:spcAft>
              <a:buClr>
                <a:srgbClr val="E8C847"/>
              </a:buClr>
              <a:buFont typeface="Wingdings 3" charset="2"/>
              <a:buChar char=""/>
            </a:pPr>
            <a:r>
              <a:rPr lang="en-US" sz="1800" b="1" u="none" strike="noStrike">
                <a:solidFill>
                  <a:srgbClr val="E8C847"/>
                </a:solidFill>
                <a:effectLst/>
                <a:uFillTx/>
                <a:latin typeface="Calibri"/>
              </a:rPr>
              <a:t>US$ 250M partnership value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FAFC0"/>
                </a:solidFill>
                <a:effectLst/>
                <a:uFillTx/>
                <a:latin typeface="Calibri"/>
              </a:rPr>
              <a:t>Enterprise value of the joint venture — watsonx deployment, data center construction, regulated AI scaling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watsonx platform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FAFC0"/>
                </a:solidFill>
                <a:effectLst/>
                <a:uFillTx/>
                <a:latin typeface="Calibri"/>
              </a:rPr>
              <a:t>watsonx.governance, .ai, .data — deployed on sovereign granitic.cloud infrastructure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Granite model roadmap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FAFC0"/>
                </a:solidFill>
                <a:effectLst/>
                <a:uFillTx/>
                <a:latin typeface="Calibri"/>
              </a:rPr>
              <a:t>Priority access to new Granite versions + joint fine-tuning for Brazilian regulated sectors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4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IBM enterprise credibility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6400800" y="1554480"/>
            <a:ext cx="5303160" cy="38401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2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6675120" y="17373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002D9C"/>
                </a:solidFill>
                <a:effectLst/>
                <a:uFillTx/>
                <a:latin typeface="Helvetica Neue"/>
                <a:ea typeface="Helvetica Neue"/>
              </a:rPr>
              <a:t>BEANS TECH CONTRIBUTES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6675120" y="2103120"/>
            <a:ext cx="47545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27080" indent="-127080" defTabSz="914400">
              <a:lnSpc>
                <a:spcPts val="1301"/>
              </a:lnSpc>
              <a:spcAft>
                <a:spcPts val="201"/>
              </a:spcAft>
              <a:buClr>
                <a:srgbClr val="002D9C"/>
              </a:buClr>
              <a:buFont typeface="Symbol" charset="2"/>
              <a:buChar char=""/>
            </a:pPr>
            <a:r>
              <a:rPr lang="en-US" sz="18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Granite already in production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Guardian on every clinical response, 4.1 on every compliance narrative — running, measured, auditable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301"/>
              </a:lnSpc>
              <a:spcAft>
                <a:spcPts val="201"/>
              </a:spcAft>
              <a:buClr>
                <a:srgbClr val="002D9C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9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4 regulated verticals live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Legal (77M+ decisions), Compliance, Healthcare, Real Estate — 75 production domains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301"/>
              </a:lnSpc>
              <a:spcAft>
                <a:spcPts val="201"/>
              </a:spcAft>
              <a:buClr>
                <a:srgbClr val="002D9C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9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granitic.cloud premium domain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Owned, NS pointing to our infrastructure, ready for activation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301"/>
              </a:lnSpc>
              <a:spcAft>
                <a:spcPts val="201"/>
              </a:spcAft>
              <a:buClr>
                <a:srgbClr val="002D9C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9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Sovereign data center sites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PB (solar off-grid, carbon-free) + CE (ZPE, subsea) — land owned, projects ready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1301"/>
              </a:lnSpc>
              <a:spcAft>
                <a:spcPts val="201"/>
              </a:spcAft>
              <a:buClr>
                <a:srgbClr val="002D9C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9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Regulatory expertise + distribution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9"/>
          <p:cNvSpPr/>
          <p:nvPr/>
        </p:nvSpPr>
        <p:spPr>
          <a:xfrm>
            <a:off x="502920" y="5577840"/>
            <a:ext cx="11182680" cy="731160"/>
          </a:xfrm>
          <a:prstGeom prst="rect">
            <a:avLst/>
          </a:prstGeom>
          <a:solidFill>
            <a:srgbClr val="F0F4F8"/>
          </a:solidFill>
          <a:ln w="127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7240" y="5669280"/>
            <a:ext cx="1063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D9C"/>
                </a:solidFill>
                <a:effectLst/>
                <a:uFillTx/>
                <a:latin typeface="Calibri"/>
              </a:rPr>
              <a:t>On the US$ 250M: </a:t>
            </a:r>
            <a:r>
              <a:rPr lang="en-US" sz="950" b="0" u="none" strike="noStrike">
                <a:solidFill>
                  <a:srgbClr val="5A6B7A"/>
                </a:solidFill>
                <a:effectLst/>
                <a:uFillTx/>
                <a:latin typeface="Calibri"/>
              </a:rPr>
              <a:t>This is the value we place on building this together with IBM specifically. Granite is already our guardrail and our compliance engine — no other model family has earned that trust. We are choosing IBM as much as IBM would be choosing us.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B7A"/>
                </a:solidFill>
                <a:effectLst/>
                <a:uFillTx/>
                <a:latin typeface="Helvetica Neue"/>
                <a:ea typeface="Helvetica Neue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02920" y="320040"/>
            <a:ext cx="1118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Next Steps</a:t>
            </a:r>
            <a:endParaRPr lang="pt-BR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02920" y="9144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FC0"/>
                </a:solidFill>
                <a:effectLst/>
                <a:uFillTx/>
                <a:latin typeface="Helvetica Neue"/>
                <a:ea typeface="Helvetica Neue"/>
              </a:rPr>
              <a:t>From executive brief to sovereign deployment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502920" y="1298160"/>
            <a:ext cx="2194560" cy="360"/>
          </a:xfrm>
          <a:prstGeom prst="line">
            <a:avLst/>
          </a:prstGeom>
          <a:ln w="38100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502920" y="1645920"/>
            <a:ext cx="2559960" cy="164556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685800" y="178308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0F62FE"/>
                </a:solidFill>
                <a:effectLst/>
                <a:uFillTx/>
                <a:latin typeface="Calibri"/>
              </a:rPr>
              <a:t>Step 1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Executive Brief (45 min)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Live demo: Granite Guardian in production, 4 verticals, benchmark data, infrastructure plans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3017520" y="21945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→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3337560" y="1645920"/>
            <a:ext cx="2559960" cy="164556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3520440" y="178308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0F62FE"/>
                </a:solidFill>
                <a:effectLst/>
                <a:uFillTx/>
                <a:latin typeface="Calibri"/>
              </a:rPr>
              <a:t>Step 2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Technical Due Diligence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Access to health.beanstech.com.br (31 live probes), benchmark results, compliance frameworks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5852160" y="21945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→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6172200" y="1645920"/>
            <a:ext cx="2559960" cy="164556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6355080" y="178308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0F62FE"/>
                </a:solidFill>
                <a:effectLst/>
                <a:uFillTx/>
                <a:latin typeface="Calibri"/>
              </a:rPr>
              <a:t>Step 3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Letter of Intent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Capital structure, watsonx licensing, Granite fine-tuning terms, governance framework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8686800" y="21945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62FE"/>
                </a:solidFill>
                <a:effectLst/>
                <a:uFillTx/>
                <a:latin typeface="Calibri"/>
              </a:rPr>
              <a:t>→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9006840" y="1645920"/>
            <a:ext cx="2559960" cy="1645560"/>
          </a:xfrm>
          <a:prstGeom prst="rect">
            <a:avLst/>
          </a:prstGeom>
          <a:solidFill>
            <a:srgbClr val="16161E"/>
          </a:solidFill>
          <a:ln w="9525">
            <a:solidFill>
              <a:srgbClr val="0F6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9189720" y="178308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0F62FE"/>
                </a:solidFill>
                <a:effectLst/>
                <a:uFillTx/>
                <a:latin typeface="Calibri"/>
              </a:rPr>
              <a:t>Step 4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Sovereign Deployment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B0C0D0"/>
                </a:solidFill>
                <a:effectLst/>
                <a:uFillTx/>
                <a:latin typeface="Calibri"/>
              </a:rPr>
              <a:t>granitic.cloud activation + watsonx on Brazilian territory within 90 days of agreement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502920" y="3840480"/>
            <a:ext cx="11182680" cy="1828440"/>
          </a:xfrm>
          <a:prstGeom prst="rect">
            <a:avLst/>
          </a:prstGeom>
          <a:solidFill>
            <a:srgbClr val="16161E"/>
          </a:solidFill>
          <a:ln w="31750">
            <a:solidFill>
              <a:srgbClr val="D4A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417320" y="4023360"/>
            <a:ext cx="93538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2001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C847"/>
                </a:solidFill>
                <a:effectLst/>
                <a:uFillTx/>
                <a:latin typeface="Helvetica Neue"/>
                <a:ea typeface="Helvetica Neue"/>
              </a:rPr>
              <a:t>US$ 250,000,000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001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8FAFC0"/>
                </a:solidFill>
                <a:effectLst/>
                <a:uFillTx/>
                <a:latin typeface="Helvetica Neue"/>
                <a:ea typeface="Helvetica Neue"/>
              </a:rPr>
              <a:t>Strategic Partnership Value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Helvetica Neue"/>
              </a:rPr>
              <a:t> </a:t>
            </a:r>
            <a:endParaRPr lang="pt-BR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US$ 780M revenue (5yr) · US$ 2.7B enterprise value at exit · 10.8× return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502920" y="594360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Matheus Ximenes · Founder &amp; CEO · </a:t>
            </a:r>
            <a:r>
              <a:rPr lang="en-US" sz="10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  <a:hlinkClick r:id="rId1"/>
              </a:rPr>
              <a:t>matheus@beanstech.com.br</a:t>
            </a:r>
            <a:r>
              <a:rPr lang="en-US" sz="10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 </a:t>
            </a:r>
            <a:r>
              <a:rPr lang="en-US" sz="10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·11 925079058 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beanstech.com.br · granitic.cloud · z.cloud · ragjur.ai · ragmed.ai · dodr.ai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BeansTech × IBM — Confidential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11228760" y="65106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8BB0"/>
                </a:solidFill>
                <a:effectLst/>
                <a:uFillTx/>
                <a:latin typeface="Helvetica Neue"/>
                <a:ea typeface="Helvetica Neue"/>
              </a:rPr>
              <a:t>11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Application>LibreOffice/26.2.5.2$Linux_X86_64 LibreOffice_project/6d2b0d33fb0f5da53a12f98bed3e9973e56ff1f0</Application>
  <AppVersion>15.0000</AppVersion>
  <Words>0</Words>
  <Paragraphs>0</Paragraphs>
  <Company>BeansTech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2026-09-18T15:02:38Z</dcterms:created>
  <dc:creator>BeansTech</dc:creator>
  <dc:description/>
  <dc:language>pt-BR</dc:language>
  <cp:lastModifiedBy/>
  <cp:lastPrinted>2026-09-18T12:18:01Z</cp:lastPrinted>
  <dcterms:modified xsi:type="dcterms:W3CDTF">2026-09-18T17:30:22Z</dcterms:modified>
  <cp:revision>2</cp:revision>
  <dc:subject>PptxGenJS Presentation</dc:subject>
  <dc:title>BeansTech × IBM — Granite Foundation for Regulated AI in LATAM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