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0F62FE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2D9C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50</c:v>
                </c:pt>
                <c:pt idx="2">
                  <c:v>115</c:v>
                </c:pt>
                <c:pt idx="3">
                  <c:v>220</c:v>
                </c:pt>
                <c:pt idx="4">
                  <c:v>350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2D9C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1"/>
          </a:solidFill>
          <a:ln w="12700">
            <a:solidFill>
              <a:srgbClr val="1A1A2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43032" y="457200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43032" y="621792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43032" y="786384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43032" y="950976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43032" y="1115568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43032" y="1280160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43032" y="1444752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43032" y="1609344"/>
            <a:ext cx="1097280" cy="73152"/>
          </a:xfrm>
          <a:prstGeom prst="rect">
            <a:avLst/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IBM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8686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Granite Foundation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Regulated AI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Latin America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502920" y="45720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0C0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IBM's Granite meets the equator. Trusted AI for sectors where being wrong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B0C0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changes lives — running on sovereign Brazilian infrastructure, powered by solar energy.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5577840"/>
            <a:ext cx="27432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56692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US$ 250,000,000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8FAF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571232" y="56692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Granite already powers our compliance infrastructure. This partnership scales it to all of Latin America.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US$ 250M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Verticals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77M+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Court Decisions Indexed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Models in Production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463040"/>
          </a:xfrm>
          <a:prstGeom prst="rect">
            <a:avLst/>
          </a:prstGeom>
          <a:solidFill>
            <a:srgbClr val="1A1A21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Granite Guardian is already deployed as the mandatory guardrail in every clinical decision we make.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0D0"/>
                </a:solidFill>
              </a:rPr>
              <a:t>Every response from our /decisao tool passes through granite3-guardian:8b for input and output safety. Granite 4.1 30B handles compliance narratives and SAR generation. This is not a proposal to try Granite — it is a proposal to scale what is already working.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663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IBM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5029200"/>
            <a:ext cx="5303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validation — Granite running in regulated sectors, not just benchmarks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1.75M regulated professionals in Brazil, 650M in LATAM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granitic.cloud — premium domain for the joint product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watsonx integration — sovereign deployment in territory IBM cannot reach alone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663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 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5029200"/>
            <a:ext cx="5303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Granite in production — guardrail on every response, compliance in every vertical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regulated verticals live — Legal (77M+ decisions), Compliance, Health, Real Estate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data centers — PB (solar off-grid) + CE (ZPE, subsea)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Granite — What We Observed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Benchmark data from our production infrastructure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743200"/>
                <a:gridCol w="3867912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Granite 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Our Deployment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Measured Performance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Role in Production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Granite 4.1 30B (Q4)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GPU: elite-health (Singapura)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41.6 tok/s · 1,509 tok/s prompt eval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F62FE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Compliance narratives, SAR generation, regulatory analysis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Granite 3 Guardian 8B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GPU: elite-health (Singapura)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146 tok/s · 13,907 tok/s prompt eval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F62FE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Mandatory guardrail: input + output safety on every /decisao response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Combined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 models × 26 clinical cases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Benchmark coverage: 0.39 ( Granite 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0F62FE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Guardrail: caught 100% of prompt injection that other models missed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389120"/>
            <a:ext cx="11183112" cy="1463040"/>
          </a:xfrm>
          <a:prstGeom prst="rect">
            <a:avLst/>
          </a:prstGeom>
          <a:solidFill>
            <a:srgbClr val="1A1A21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7200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The insight that matters: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0D0"/>
                </a:solidFill>
              </a:rPr>
              <a:t>When we tested 6 frontier models on adversarial cases (prompt injection, illegal content, PII leakage), every model — GLM-5.3, Baichuan, AntAngelMed, MedGemma, Qwen — failed. Only Granite Guardian caught them. This is why it is the mandatory layer in our production architecture. No frontier model is safe without Granite as the gatekeeper.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08076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— 156 evaluations, red-team included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"granitic" Means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F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word that describes what IBM builds and what we deploy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828800"/>
            <a:ext cx="1118311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granitic</a:t>
            </a:r>
            <a:endParaRPr lang="en-US" sz="52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8FAF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/ɡrəˈnɪtɪk/ — adjective</a:t>
            </a:r>
            <a:endParaRPr lang="en-US" sz="5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52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0C0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Composed of or resembling granite — the hardest, most durable natural stone.</a:t>
            </a:r>
            <a:endParaRPr lang="en-US" sz="5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52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B0C0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Unbreakable. Foundation-grade. Built to last longer than the building on top of it.</a:t>
            </a:r>
            <a:endParaRPr lang="en-US" sz="5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52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granitic.cloud — where IBM's Granite becomes the foundation of Latin America's regulated AI.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3246120" y="6217920"/>
            <a:ext cx="5696712" cy="0"/>
          </a:xfrm>
          <a:prstGeom prst="line">
            <a:avLst/>
          </a:prstGeom>
          <a:noFill/>
          <a:ln w="19050">
            <a:solidFill>
              <a:srgbClr val="0F6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4 Regulated Verticals — Where Granite Serves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Production-ready AI engines with Granite as the foundation layer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2D9C"/>
                </a:solidFill>
              </a:rPr>
              <a:t>⚖️ Legal &amp; Compliance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0F62FE"/>
                </a:solidFill>
              </a:rPr>
              <a:t>ragjur.ai · legalsuite.tech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77M+ court decisions indexed · Granite 4.1 for SAR narratives and regulatory analysis · Guardian for judicial document safety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3A4"/>
                </a:solidFill>
              </a:rPr>
              <a:t>1.2M attorneys · R$ 80B/yr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2D9C"/>
                </a:solidFill>
              </a:rPr>
              <a:t>🛡️ Compliance / AML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0F62FE"/>
                </a:solidFill>
              </a:rPr>
              <a:t>pldbr.tech · beansbank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Granite 4.1 for PLD/FT compliance, SAR generation · Guardian for transaction monitoring and typology classification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3A4"/>
                </a:solidFill>
              </a:rPr>
              <a:t>740 institutions · R$ 12B/yr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1A1A21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🏥 Healthcare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AFC0"/>
                </a:solidFill>
              </a:rPr>
              <a:t>dodr.ai · ragmed.ai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0D0"/>
                </a:solidFill>
              </a:rPr>
              <a:t>Granite Guardian as mandatory clinical guardrail — input + output safety on every response · 8 medical portals live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550k physicians · R$ 4.4B/yr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2D9C"/>
                </a:solidFill>
              </a:rPr>
              <a:t>🏢 Real Estate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0F62FE"/>
                </a:solidFill>
              </a:rPr>
              <a:t>alirealty.com.br · proptechbr.ai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Granite 4.1 for document analysis (matrículas, liens, restrictions) · Guardian for contract safety review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00B3A4"/>
                </a:solidFill>
              </a:rPr>
              <a:t>R$ 15B/yr (proptech)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17220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62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Healthcare (highlighted) is where Granite Guardian is already deployed as the mandatory safety layer on every clinical decision.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IBM watsonx Integration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open-source Granite to enterprise-grade watsonx on sovereign infrastructure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Current: Open-Source Granite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5303520" cy="201168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Granite 4.1 30B (Q4) — running on our GPUs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Granite 3 Guardian 8B — guardrail on every response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Apache 2.0 — fully open weights, sovereign deployment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41 tok/s on L20 GPU — production throughput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76072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62FE"/>
                </a:solidFill>
              </a:rPr>
              <a:t>→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2F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Proposed: IBM watsonx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5303520" cy="2011680"/>
          </a:xfrm>
          <a:prstGeom prst="rect">
            <a:avLst/>
          </a:prstGeom>
          <a:solidFill>
            <a:srgbClr val="1A1A21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9659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FFFFFF"/>
                </a:solidFill>
              </a:rPr>
              <a:t>watsonx.governance — AI governance and compliance platform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FFFFFF"/>
                </a:solidFill>
              </a:rPr>
              <a:t>watsonx.ai — enterprise Granite with fine-tuning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FFFFFF"/>
                </a:solidFill>
              </a:rPr>
              <a:t>watsonx.data — sovereign data lake for regulated sectors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b="1" dirty="0">
                <a:solidFill>
                  <a:srgbClr val="E8C847"/>
                </a:solidFill>
              </a:rPr>
              <a:t>Deployed on granitic.cloud — sovereign Brazilian infrastructure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watsonx Adds to Our Stack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4389120"/>
            <a:ext cx="11183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000000"/>
                </a:solidFill>
              </a:rPr>
              <a:t>Enterprise governance — model lifecycle, bias detection, explainability (FActSheets)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000000"/>
                </a:solidFill>
              </a:rPr>
              <a:t>Regulatory mapping — automated compliance with LGPD, EU AI Act, sector-specific rules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000000"/>
                </a:solidFill>
              </a:rPr>
              <a:t>Data sovereignty — watsonx deployed in Brazilian territory on granitic.cloud infrastructure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000000"/>
                </a:solidFill>
              </a:rPr>
              <a:t>IBM credibility — enterprise trust that no startup can build alone, delivered through a local partner who understands Brazilian regulation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Infrastructure — The Dual-Hub Advantage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data center blueprint as our Z.ai and Tencent partnerships, dedicated to Granite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Hub 1: ZPE Caucaia, Ceará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5303520" cy="2011680"/>
          </a:xfrm>
          <a:prstGeom prst="rect">
            <a:avLst/>
          </a:prstGeom>
          <a:solidFill>
            <a:srgbClr val="F0F4F8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0574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b="1" dirty="0">
                <a:solidFill>
                  <a:srgbClr val="000000"/>
                </a:solidFill>
              </a:rPr>
              <a:t>Special Export Processing Zone (ZPE)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Same zone as TikTok's Brazilian data center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Direct submarine cable access (Monet, EllaLink, SACS)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000000"/>
                </a:solidFill>
              </a:rPr>
              <a:t>Duty-free hardware ingestion for IBM infrastructure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–"/>
            </a:pPr>
            <a:r>
              <a:rPr lang="en-US" sz="1050" b="1" dirty="0">
                <a:solidFill>
                  <a:srgbClr val="000000"/>
                </a:solidFill>
              </a:rPr>
              <a:t>Latency: &lt;65ms US East, &lt;64ms Europe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3A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Hub 2: Santa Terezinha, Paraíba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1920240"/>
            <a:ext cx="5303520" cy="2011680"/>
          </a:xfrm>
          <a:prstGeom prst="rect">
            <a:avLst/>
          </a:prstGeom>
          <a:solidFill>
            <a:srgbClr val="1A1A21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0574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b="1" dirty="0">
                <a:solidFill>
                  <a:srgbClr val="FFFFFF"/>
                </a:solidFill>
              </a:rPr>
              <a:t>100% off-grid — zero public grid connection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B0C0D0"/>
                </a:solidFill>
              </a:rPr>
              <a:t>Dedicated photovoltaic solar plant on owned land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B0C0D0"/>
                </a:solidFill>
              </a:rPr>
              <a:t>Satellite connectivity backup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dirty="0">
                <a:solidFill>
                  <a:srgbClr val="E8C847"/>
                </a:solidFill>
              </a:rPr>
              <a:t>Carbon-free, ESG-auditable (IBM's sustainability goals)</a:t>
            </a:r>
            <a:endParaRPr lang="en-US" sz="1050" dirty="0"/>
          </a:p>
          <a:p>
            <a:pPr marL="127000" indent="-127000">
              <a:lnSpc>
                <a:spcPts val="1400"/>
              </a:lnSpc>
              <a:spcAft>
                <a:spcPts val="500"/>
              </a:spcAft>
              <a:buSzPct val="100000"/>
              <a:buChar char="▸"/>
            </a:pPr>
            <a:r>
              <a:rPr lang="en-US" sz="1050" b="1" dirty="0">
                <a:solidFill>
                  <a:srgbClr val="E8C847"/>
                </a:solidFill>
              </a:rPr>
              <a:t>IBM “Let’s create” meets 100% renewable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4206240"/>
            <a:ext cx="11183112" cy="1371600"/>
          </a:xfrm>
          <a:prstGeom prst="rect">
            <a:avLst/>
          </a:prstGeom>
          <a:solidFill>
            <a:srgbClr val="F0F4F8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343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02D9C"/>
                </a:solidFill>
              </a:rPr>
              <a:t>Why IBM needs sovereign infrastructure in LATAM: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B7A"/>
                </a:solidFill>
              </a:rPr>
              <a:t>IBM cannot deploy watsonx in Brazilian territory without a local partner who owns land, understands LGPD, and has distribution in regulated sectors. Beans Tech has all three — plus Granite already in production.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Granite Advantage — Why IBM's Model Is Different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F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weights, enterprise focus, safety-first design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182880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Apache 2.0 — Fully Open</a:t>
            </a:r>
            <a:endParaRPr lang="en-US" sz="13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0D0"/>
                </a:solidFill>
              </a:rPr>
              <a:t>Unlike GLM, Qwen, or Claude — Granite weights are fully open. IBM cannot pull the rug. Sovereign deployment without API dependency.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182880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Guardian — Safety by Design</a:t>
            </a:r>
            <a:endParaRPr lang="en-US" sz="13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0D0"/>
                </a:solidFill>
              </a:rPr>
              <a:t>Granite Guardian is the only model we tested that caught 100% of adversarial inputs. No frontier model matched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3657600"/>
            <a:ext cx="5394960" cy="182880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947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Enterprise-Grade Focus</a:t>
            </a:r>
            <a:endParaRPr lang="en-US" sz="13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0D0"/>
                </a:solidFill>
              </a:rPr>
              <a:t>Built for compliance, audit, and governance — not for creative writing. This is the model for institutions that answer to regulators.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3657600"/>
            <a:ext cx="5394960" cy="182880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947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watsonx Ecosystem</a:t>
            </a:r>
            <a:endParaRPr lang="en-US" sz="13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0D0"/>
                </a:solidFill>
              </a:rPr>
              <a:t>Backed by IBM's enterprise platform: governance, data lake, fine-tuning, explainability. A complete stack, not just a model.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59436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8C8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IBM builds for trust. We deploy for sovereignty. Together: trusted AI on sovereign ground.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Projection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US$ 250M partnership → US$ 780M cumulative revenue (5 years) → US$ 2.7B enterprise value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(4 verticals + watsonx services)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LATAM (Granite sovereign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watsonx consulting + implementation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(Granite 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F62FE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F62FE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D9C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1A1A21"/>
          </a:solidFill>
          <a:ln w="25400">
            <a:solidFill>
              <a:srgbClr val="0F62F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US$ 250M Investment → US$ 780M Revenue (5 years) → US$ 2.7B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0D0"/>
                </a:solidFill>
              </a:rPr>
              <a:t>Direct ROI: 3.1×  ·  Enterprise Value Multiple: 10.8×  ·  Year 5 Run-Rate: US$ 350M/year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watsonx integration IP, granitic.cloud domain value,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partnership anchored in shared values: trust, transparency, and sovereignty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1A1A21"/>
          </a:solidFill>
          <a:ln w="19050">
            <a:solidFill>
              <a:srgbClr val="0F6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IBM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US$ 250M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AFC0"/>
                </a:solidFill>
              </a:rPr>
              <a:t>Enterprise value of the joint venture — watsonx deployment, data center construction, regulated AI scaling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watsonx platform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AFC0"/>
                </a:solidFill>
              </a:rPr>
              <a:t>watsonx.governance, .ai, .data — deployed on sovereign granitic.cloud infrastructure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Granite model roadmap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AFC0"/>
                </a:solidFill>
              </a:rPr>
              <a:t>Priority access to new Granite versions + joint fine-tuning for Brazilian regulated sectors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IBM enterprise credibility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8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2D9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 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02D9C"/>
                </a:solidFill>
              </a:rPr>
              <a:t>Granite already in production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Guardian on every clinical response, 4.1 on every compliance narrative — running, measured, auditable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02D9C"/>
                </a:solidFill>
              </a:rPr>
              <a:t>4 regulated verticals live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Legal (77M+ decisions), Compliance, Healthcare, Real Estate — 75 production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02D9C"/>
                </a:solidFill>
              </a:rPr>
              <a:t>granitic.cloud premium domain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Owned, NS pointing to our infrastructure, ready for activation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02D9C"/>
                </a:solidFill>
              </a:rPr>
              <a:t>Sovereign data center sites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PB (solar off-grid, carbon-free) + CE (ZPE, subsea) — land owned, projects ready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02D9C"/>
                </a:solidFill>
              </a:rPr>
              <a:t>Regulatory expertise + distribution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F0F4F8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2D9C"/>
                </a:solidFill>
              </a:rPr>
              <a:t>On the US$ 250M: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This is the value we place on building this together with IBM specifically. Granite is already our guardrail and our compliance engine — no other model family has earned that trust. We are choosing IBM as much as IBM would be choosing us.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F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executive brief to sovereign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0F62FE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Executive Brief (45 min)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0D0"/>
                </a:solidFill>
              </a:rPr>
              <a:t>Live demo: Granite Guardian in production, 4 verticals, benchmark data, infrastructure plans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62FE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0F62FE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0D0"/>
                </a:solidFill>
              </a:rPr>
              <a:t>Access to health.beanstech.com.br (31 live probes), benchmark results, compliance frameworks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62FE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0F62FE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0D0"/>
                </a:solidFill>
              </a:rPr>
              <a:t>Capital structure, watsonx licensing, Granite fine-tuning terms,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62FE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16161E"/>
          </a:solidFill>
          <a:ln w="9525">
            <a:solidFill>
              <a:srgbClr val="0F62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0F62FE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Sovereign Deployment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0D0"/>
                </a:solidFill>
              </a:rPr>
              <a:t>granitic.cloud activation + watsonx on Brazilian territory within 90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16161E"/>
          </a:solidFill>
          <a:ln w="31750">
            <a:solidFill>
              <a:srgbClr val="D4A8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US$ 250,000,000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AFC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US$ 780M revenue (5yr) · US$ 2.7B enterprise value at exit · 10.8×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granitic.cloud · z.cloud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IBM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IBM — Granite Foundation for Regulated AI in LATAM</dc:title>
  <dc:subject>PptxGenJS Presentation</dc:subject>
  <dc:creator>BeansTech</dc:creator>
  <cp:lastModifiedBy>BeansTech</cp:lastModifiedBy>
  <cp:revision>1</cp:revision>
  <dcterms:created xsi:type="dcterms:W3CDTF">2026-09-18T15:01:58Z</dcterms:created>
  <dcterms:modified xsi:type="dcterms:W3CDTF">2026-09-18T15:01:58Z</dcterms:modified>
</cp:coreProperties>
</file>