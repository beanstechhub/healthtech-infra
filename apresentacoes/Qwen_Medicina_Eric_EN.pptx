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A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Qwen 3.8-Max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48640" y="24688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Medicine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548640" y="36576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of the world's best models for clinical decision support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45720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CA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Benchmark: 200 casos · 10 modelos · 23 especialidades · 2.000 avaliações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5303520"/>
            <a:ext cx="3657600" cy="0"/>
          </a:xfrm>
          <a:prstGeom prst="line">
            <a:avLst/>
          </a:prstGeom>
          <a:noFill/>
          <a:ln w="25400">
            <a:solidFill>
              <a:srgbClr val="FF6A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5486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A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Health → Alibaba Brazil (Eric) · Setembro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Benchmark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largest LLM test para medicina em língua portuguesa já realizado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200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548640" y="2560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clinical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42900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3429000" y="2560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tested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30936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</a:t>
            </a:r>
            <a:endParaRPr lang="en-US" sz="5200" dirty="0"/>
          </a:p>
        </p:txBody>
      </p:sp>
      <p:sp>
        <p:nvSpPr>
          <p:cNvPr id="11" name="Text 9"/>
          <p:cNvSpPr/>
          <p:nvPr/>
        </p:nvSpPr>
        <p:spPr>
          <a:xfrm>
            <a:off x="6309360" y="2560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medical specialties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18972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2.000</a:t>
            </a:r>
            <a:endParaRPr lang="en-US" sz="5200" dirty="0"/>
          </a:p>
        </p:txBody>
      </p:sp>
      <p:sp>
        <p:nvSpPr>
          <p:cNvPr id="13" name="Text 11"/>
          <p:cNvSpPr/>
          <p:nvPr/>
        </p:nvSpPr>
        <p:spPr>
          <a:xfrm>
            <a:off x="9189720" y="2560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evaluations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3291840"/>
            <a:ext cx="1109167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4747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standard for all: </a:t>
            </a:r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prompt, same temperature, same context. Evaluation by critical claim coverage.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48640" y="438912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tested: </a:t>
            </a:r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GPT-6 Astra (OpenAI) · Claude Opus 5 (Anthropic) · GLM-5.3 (Z.ai) · Qwen 3.8-Max (Alibaba) · DeepSeek v4 Pro · Kimi K3 (Moonshot) · Baichuan-M3-235B · AntAngelMed-100B · MedGemma-27B · Lingshu-32B (DAMO)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Overall Ranking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= fraction das critical claims from the gold standard present in the answer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200400"/>
                <a:gridCol w="1828800"/>
                <a:gridCol w="1828800"/>
                <a:gridCol w="231343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Coverage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Velocidade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Provider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1º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GLM-5.3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0,486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23,0s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Z.ai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6A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2º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6A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 3.8-Max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6A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0,437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6A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36,4s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6A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Alibaba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3º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DeepSeek v4 Pro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0,396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37,4s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DeepSeek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4º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Baichuan-M3-235B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0,392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33,3s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 própria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5º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GPT-6 Astra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0,377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17,2s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OpenAI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6º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 Opus 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0,347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23,7s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Anthropic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0" y="5486400"/>
            <a:ext cx="12188952" cy="822960"/>
          </a:xfrm>
          <a:prstGeom prst="rect">
            <a:avLst/>
          </a:prstGeom>
          <a:solidFill>
            <a:srgbClr val="F0F4FF"/>
          </a:solidFill>
          <a:ln w="12700">
            <a:solidFill>
              <a:srgbClr val="F0F4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8640" y="55778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Qwen 3.8-Max outperforms GPT-6 Astra (US$ 50/M) e Claude Opus 5 (US$ 25/M) — the most expensive models on the market.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Multi-morbidity: Qwen excellence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hardest and most common scenario em hospitais brasileiros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0,62</a:t>
            </a:r>
            <a:endParaRPr lang="en-US" sz="9600" dirty="0"/>
          </a:p>
        </p:txBody>
      </p:sp>
      <p:sp>
        <p:nvSpPr>
          <p:cNvPr id="7" name="Text 5"/>
          <p:cNvSpPr/>
          <p:nvPr/>
        </p:nvSpPr>
        <p:spPr>
          <a:xfrm>
            <a:off x="548640" y="27432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— 2× better than any other model</a:t>
            </a:r>
            <a:endParaRPr lang="en-US" sz="1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371600"/>
          <a:ext cx="658368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371600"/>
                <a:gridCol w="13716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 3.8-Max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GPT-6 Astra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Idosa 82 anos, 8 medicamentos, DRC aguda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Cirrose Child C com HCC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DM2 + ICC + DRC + desnutrição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48640" y="47548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Pacientes complexos, politratados, com interações medicamentosas — exatamente onde o Qwen 3.8-Max raciocina melhor.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Pulmonology: best of all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0.75 — 3× better than 2nd place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303520" cy="914400"/>
          </a:xfrm>
          <a:prstGeom prst="rect">
            <a:avLst/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53619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 3.8-Max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18745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cov 0.75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663440" y="153619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D700"/>
                </a:solidFill>
              </a:rPr>
              <a:t>★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217920" y="1463040"/>
            <a:ext cx="53035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53619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GLM-5.3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0" y="18745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cov 0.25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2560320"/>
            <a:ext cx="53035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63347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GPT-6 Astra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31520" y="29718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cov 0.25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217920" y="2560320"/>
            <a:ext cx="53035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0" y="263347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Opus 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00800" y="29718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cov 0.25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48640" y="3840480"/>
            <a:ext cx="11091672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40233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Case: Severe COPD, FEV1 28%, frequent exacerbator.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48640" y="448056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 3.8-Max was the only model to indicate all management steps: triple therapy, rehabilitation, vaccination, oxygen therapy, and transplant evaluation.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943600" y="402336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significance: </a:t>
            </a:r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COPD affects 6% of Brazilians over 40. Missing a step costs hospitalizations and mortality.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943600" y="484632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we use it: </a:t>
            </a:r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health portals with respiratory cases. Standard model for pulmonology.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Documented reasoning in 100% dos casos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80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cases with explicit clinical reasoning before the answer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0" y="16459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 3.8-Max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686800" y="1645920"/>
            <a:ext cx="3657600" cy="457200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435840" y="16459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0" y="23774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GLM-5.3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686800" y="2377440"/>
            <a:ext cx="3657600" cy="457200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435840" y="23774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0" y="310896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DeepSeek v4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686800" y="3108960"/>
            <a:ext cx="3657600" cy="457200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435840" y="31089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0" y="38404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GPT-6 Astra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686800" y="3840480"/>
            <a:ext cx="219456" cy="457200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97696" y="38404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6%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0" y="45720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MedGemma-27B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8686800" y="4572000"/>
            <a:ext cx="91440" cy="457200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69680" y="45720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48640" y="54864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matters: medical audit,  regulatory compliance LGPD/CFM, publishable clinical research.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Effective cost per 1.000 responses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800100" cy="731520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325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 3.8-Max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531620" y="16459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US$ 2.80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2743200"/>
            <a:ext cx="4572000" cy="7315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423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Opus 5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303520" y="2743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US$ 16.00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3840480"/>
            <a:ext cx="9144000" cy="7315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520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GPT-6 Astra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875520" y="38404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US$ 32.00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48640" y="50292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 3.8-Max is </a:t>
            </a:r>
            <a:pPr indent="0" marL="0">
              <a:buNone/>
            </a:pPr>
            <a:r>
              <a:rPr lang="en-US" sz="16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11× cheaper</a:t>
            </a:r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que o GPT-6 Astra e </a:t>
            </a:r>
            <a:pPr indent="0" marL="0">
              <a:buNone/>
            </a:pPr>
            <a:r>
              <a:rPr lang="en-US" sz="16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6× mais barato</a:t>
            </a:r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que o Claude Opus 5 — with superior quality.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Lingshu-32B (Qwen2.5-VL based): medical imaging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best open model for multimodal medical VQA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303520" cy="914400"/>
          </a:xfrm>
          <a:prstGeom prst="rect">
            <a:avLst/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53619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VQA-RAD (radiology)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18745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76.5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283464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GPT-4.1: 65.0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463040"/>
            <a:ext cx="5303520" cy="914400"/>
          </a:xfrm>
          <a:prstGeom prst="rect">
            <a:avLst/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53619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SLAKE (radiology)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0" y="18745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89.2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50392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GPT-4.1: 72.2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2560320"/>
            <a:ext cx="5303520" cy="914400"/>
          </a:xfrm>
          <a:prstGeom prst="rect">
            <a:avLst/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263347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(7 benchmarks)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31520" y="29718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66.6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2834640" y="3017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GPT-4.1: 63.4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17920" y="2560320"/>
            <a:ext cx="5303520" cy="914400"/>
          </a:xfrm>
          <a:prstGeom prst="rect">
            <a:avLst/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0" y="263347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MIMIC-CXR (reports)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0" y="29718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67.1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8503920" y="3017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GPT-4.1: 57.1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3840480"/>
            <a:ext cx="11091672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40233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modalities: </a:t>
            </a:r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X-ray · CT · MRI · Ultrasound · Histopathology · Dermoscopy · Fundoscopy · OCT · Endoscopy · Microscopy · PET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48640" y="47548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Advantage: </a:t>
            </a:r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medical fine-tuning by DAMO Academy on Qwen2.5-VL — +10 points on benchmarks. The only open model that beats GPT-4.1 on medical VQA.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48640" y="55778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we use it: </a:t>
            </a:r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exame.tech (diagnostic imaging) and dodr.ai (multimodal). Own GPU — 19.2s per analysis.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Recommendations to make Qwen the Nº 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concrete actions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627632"/>
            <a:ext cx="128016" cy="128016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5544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Fine-tuning PT-BR medical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1901952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+15-20 pts in coverage com PCDT/bulas/diretrizes BR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17920" y="1627632"/>
            <a:ext cx="128016" cy="128016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15544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Lingshu radiologia brasileira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1901952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World.s best RX model em PT com dados de hospitais parceiros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090672"/>
            <a:ext cx="128016" cy="128016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0175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Qwen-Med dedicado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2960" y="3364992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 medical model (como MedGemma, mas aberto)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17920" y="3090672"/>
            <a:ext cx="128016" cy="128016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30175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Qwen-Flash-Medical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92240" y="3364992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Distilled version &lt;5s for triage in PS/UPA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4553712"/>
            <a:ext cx="128016" cy="128016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4805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Presença em São Paulo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22960" y="4828032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Latency &lt;15s (vs 36s at via Singapura)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217920" y="4553712"/>
            <a:ext cx="128016" cy="128016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92240" y="44805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Open validation program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92240" y="4828032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Published study with partner hospitals and medical societies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Roadmap and Contact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737360" y="14630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Fine-tune Qwen PT-BR medical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035040" y="14630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meses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498080" y="14630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+15-20 pts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19456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737360" y="219456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Lingshu Brazilian radiology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035040" y="21945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meses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498080" y="219456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Melhor RX do mundo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29260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737360" y="29260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Qwen Medical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035040" y="29260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meses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498080" y="29260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Compete with MedGemma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36576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36576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Brazil presence (SP)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035040" y="36576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meses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498080" y="36576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Latency &lt;15s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48640" y="43891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737360" y="438912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program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035040" y="43891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meses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498080" y="438912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Published study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48640" y="5486400"/>
            <a:ext cx="1109167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5669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Matheus Feijão · WhatsApp +55 11 92507-9058 · matheus@beanstech.com.br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Technical Glossary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reference during and after this presentation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517904"/>
            <a:ext cx="128016" cy="128016"/>
          </a:xfrm>
          <a:prstGeom prst="rect">
            <a:avLst/>
          </a:prstGeom>
          <a:solidFill>
            <a:srgbClr val="00A8E8"/>
          </a:solidFill>
          <a:ln w="12700">
            <a:solidFill>
              <a:srgbClr val="00A8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4630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1810512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Fraction of the gold standard's critical claims present in the model's answer. Scale 0 to 1. Higher = more complete.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17920" y="1517904"/>
            <a:ext cx="128016" cy="128016"/>
          </a:xfrm>
          <a:prstGeom prst="rect">
            <a:avLst/>
          </a:prstGeom>
          <a:solidFill>
            <a:srgbClr val="00A8E8"/>
          </a:solidFill>
          <a:ln w="12700">
            <a:solidFill>
              <a:srgbClr val="00A8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14630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Abstention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1810512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many times the model correctly said 'I cannot determine this' when evidence was insufficient. More = safer.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2935224"/>
            <a:ext cx="128016" cy="128016"/>
          </a:xfrm>
          <a:prstGeom prst="rect">
            <a:avLst/>
          </a:prstGeom>
          <a:solidFill>
            <a:srgbClr val="00A8E8"/>
          </a:solidFill>
          <a:ln w="12700">
            <a:solidFill>
              <a:srgbClr val="00A8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28803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VQA (Visual Question Answering)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2960" y="3227832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of answering questions about images. In medicine: interpreting X-rays, CTs, clinical photographs.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17920" y="2935224"/>
            <a:ext cx="128016" cy="128016"/>
          </a:xfrm>
          <a:prstGeom prst="rect">
            <a:avLst/>
          </a:prstGeom>
          <a:solidFill>
            <a:srgbClr val="00A8E8"/>
          </a:solidFill>
          <a:ln w="12700">
            <a:solidFill>
              <a:srgbClr val="00A8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28803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MoE (Mixture of Experts)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92240" y="3227832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where only a subset of 'experts' activates per token. Reduces compute while maintaining quality.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4352544"/>
            <a:ext cx="128016" cy="128016"/>
          </a:xfrm>
          <a:prstGeom prst="rect">
            <a:avLst/>
          </a:prstGeom>
          <a:solidFill>
            <a:srgbClr val="00A8E8"/>
          </a:solidFill>
          <a:ln w="12700">
            <a:solidFill>
              <a:srgbClr val="00A8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2976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Documented reasoning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22960" y="4645152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shows its step-by-step clinical reasoning before the answer. Essential for audit and compliance.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217920" y="4352544"/>
            <a:ext cx="128016" cy="128016"/>
          </a:xfrm>
          <a:prstGeom prst="rect">
            <a:avLst/>
          </a:prstGeom>
          <a:solidFill>
            <a:srgbClr val="00A8E8"/>
          </a:solidFill>
          <a:ln w="12700">
            <a:solidFill>
              <a:srgbClr val="00A8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92240" y="42976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Red-team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92240" y="4645152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Adversarial testing: deliberately trying to make the model fail or produce dangerous content. Measures safety robustness.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Qwen 3.8-Max in Medicine</dc:title>
  <dc:subject>PptxGenJS Presentation</dc:subject>
  <dc:creator>BeansTech</dc:creator>
  <cp:lastModifiedBy>BeansTech</cp:lastModifiedBy>
  <cp:revision>1</cp:revision>
  <dcterms:created xsi:type="dcterms:W3CDTF">2026-09-18T21:23:06Z</dcterms:created>
  <dcterms:modified xsi:type="dcterms:W3CDTF">2026-09-18T21:23:06Z</dcterms:modified>
</cp:coreProperties>
</file>