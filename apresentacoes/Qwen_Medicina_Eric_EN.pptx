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mover o 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slide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</a:t>
            </a: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CBF1A27-20B0-4DF1-8B88-05CDCB3B26B1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F8E9C0C-A2B3-4837-9D05-24B07DE0D94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4BBF856-D86F-4416-B365-76A42FCD3DD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9521AB-9B6B-4F68-A80B-5B2541552E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CA67462-04C5-4AE6-AA9A-D560C683A76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E45BEEA-4267-4072-B2BD-E3F604B3E9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1906893-8537-4107-92D7-ACB7BECBD1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0558845-1487-474F-A003-2788FED4758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B19D67C-4F4D-4EA4-B291-709732BF32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9A74B16-A0CA-4EE2-A4B7-825D1A9EF6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670297A-4AC6-4DEF-B5B7-D2BE7BE98E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do texto 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do título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548640" y="6446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CA0C0"/>
                </a:solidFill>
                <a:effectLst/>
                <a:uFillTx/>
                <a:latin typeface="Arial"/>
                <a:ea typeface="Arial"/>
              </a:rPr>
              <a:t>BeansTech · Qwen </a:t>
            </a:r>
            <a:r>
              <a:rPr lang="en-US" sz="1000" b="0" u="none" strike="noStrike">
                <a:solidFill>
                  <a:srgbClr val="8CA0C0"/>
                </a:solidFill>
                <a:effectLst/>
                <a:uFillTx/>
                <a:latin typeface="Arial"/>
                <a:ea typeface="Arial"/>
              </a:rPr>
              <a:t>3.8-Max · </a:t>
            </a:r>
            <a:r>
              <a:rPr lang="en-US" sz="1000" b="0" u="none" strike="noStrike">
                <a:solidFill>
                  <a:srgbClr val="8CA0C0"/>
                </a:solidFill>
                <a:effectLst/>
                <a:uFillTx/>
                <a:latin typeface="Arial"/>
                <a:ea typeface="Arial"/>
              </a:rPr>
              <a:t>Confidencial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CA0C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548640" y="1371600"/>
            <a:ext cx="7314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Q</a:t>
            </a:r>
            <a:r>
              <a:rPr lang="en-US" sz="6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w</a:t>
            </a:r>
            <a:r>
              <a:rPr lang="en-US" sz="6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e</a:t>
            </a:r>
            <a:r>
              <a:rPr lang="en-US" sz="6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n </a:t>
            </a:r>
            <a:r>
              <a:rPr lang="en-US" sz="6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3</a:t>
            </a:r>
            <a:r>
              <a:rPr lang="en-US" sz="6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.</a:t>
            </a:r>
            <a:r>
              <a:rPr lang="en-US" sz="6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8</a:t>
            </a:r>
            <a:r>
              <a:rPr lang="en-US" sz="6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-</a:t>
            </a:r>
            <a:r>
              <a:rPr lang="en-US" sz="6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M</a:t>
            </a:r>
            <a:r>
              <a:rPr lang="en-US" sz="6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a</a:t>
            </a:r>
            <a:r>
              <a:rPr lang="en-US" sz="6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x</a:t>
            </a:r>
            <a:endParaRPr lang="pt-BR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548640" y="2468880"/>
            <a:ext cx="7314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0" u="none" strike="noStrike">
                <a:solidFill>
                  <a:srgbClr val="FF6A00"/>
                </a:solidFill>
                <a:effectLst/>
                <a:uFillTx/>
                <a:latin typeface="Georgia"/>
                <a:ea typeface="Georgia"/>
              </a:rPr>
              <a:t>in Medicine</a:t>
            </a:r>
            <a:endParaRPr lang="pt-BR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548640" y="3657600"/>
            <a:ext cx="7314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B0C4DE"/>
                </a:solidFill>
                <a:effectLst/>
                <a:uFillTx/>
                <a:latin typeface="Arial"/>
                <a:ea typeface="Arial"/>
              </a:rPr>
              <a:t>One of </a:t>
            </a:r>
            <a:r>
              <a:rPr lang="en-US" sz="2000" b="0" u="none" strike="noStrike">
                <a:solidFill>
                  <a:srgbClr val="B0C4DE"/>
                </a:solidFill>
                <a:effectLst/>
                <a:uFillTx/>
                <a:latin typeface="Arial"/>
                <a:ea typeface="Arial"/>
              </a:rPr>
              <a:t>the </a:t>
            </a:r>
            <a:r>
              <a:rPr lang="en-US" sz="2000" b="0" u="none" strike="noStrike">
                <a:solidFill>
                  <a:srgbClr val="B0C4DE"/>
                </a:solidFill>
                <a:effectLst/>
                <a:uFillTx/>
                <a:latin typeface="Arial"/>
                <a:ea typeface="Arial"/>
              </a:rPr>
              <a:t>world's </a:t>
            </a:r>
            <a:r>
              <a:rPr lang="en-US" sz="2000" b="0" u="none" strike="noStrike">
                <a:solidFill>
                  <a:srgbClr val="B0C4DE"/>
                </a:solidFill>
                <a:effectLst/>
                <a:uFillTx/>
                <a:latin typeface="Arial"/>
                <a:ea typeface="Arial"/>
              </a:rPr>
              <a:t>best </a:t>
            </a:r>
            <a:r>
              <a:rPr lang="en-US" sz="2000" b="0" u="none" strike="noStrike">
                <a:solidFill>
                  <a:srgbClr val="B0C4DE"/>
                </a:solidFill>
                <a:effectLst/>
                <a:uFillTx/>
                <a:latin typeface="Arial"/>
                <a:ea typeface="Arial"/>
              </a:rPr>
              <a:t>models </a:t>
            </a:r>
            <a:r>
              <a:rPr lang="en-US" sz="2000" b="0" u="none" strike="noStrike">
                <a:solidFill>
                  <a:srgbClr val="B0C4DE"/>
                </a:solidFill>
                <a:effectLst/>
                <a:uFillTx/>
                <a:latin typeface="Arial"/>
                <a:ea typeface="Arial"/>
              </a:rPr>
              <a:t>for </a:t>
            </a:r>
            <a:r>
              <a:rPr lang="en-US" sz="2000" b="0" u="none" strike="noStrike">
                <a:solidFill>
                  <a:srgbClr val="B0C4DE"/>
                </a:solidFill>
                <a:effectLst/>
                <a:uFillTx/>
                <a:latin typeface="Arial"/>
                <a:ea typeface="Arial"/>
              </a:rPr>
              <a:t>clinical </a:t>
            </a:r>
            <a:r>
              <a:rPr lang="en-US" sz="2000" b="0" u="none" strike="noStrike">
                <a:solidFill>
                  <a:srgbClr val="B0C4DE"/>
                </a:solidFill>
                <a:effectLst/>
                <a:uFillTx/>
                <a:latin typeface="Arial"/>
                <a:ea typeface="Arial"/>
              </a:rPr>
              <a:t>decisio</a:t>
            </a:r>
            <a:r>
              <a:rPr lang="en-US" sz="2000" b="0" u="none" strike="noStrike">
                <a:solidFill>
                  <a:srgbClr val="B0C4DE"/>
                </a:solidFill>
                <a:effectLst/>
                <a:uFillTx/>
                <a:latin typeface="Arial"/>
                <a:ea typeface="Arial"/>
              </a:rPr>
              <a:t>n </a:t>
            </a:r>
            <a:r>
              <a:rPr lang="en-US" sz="2000" b="0" u="none" strike="noStrike">
                <a:solidFill>
                  <a:srgbClr val="B0C4DE"/>
                </a:solidFill>
                <a:effectLst/>
                <a:uFillTx/>
                <a:latin typeface="Arial"/>
                <a:ea typeface="Arial"/>
              </a:rPr>
              <a:t>support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548640" y="4572000"/>
            <a:ext cx="7314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8CA0C0"/>
                </a:solidFill>
                <a:effectLst/>
                <a:uFillTx/>
                <a:latin typeface="Arial"/>
                <a:ea typeface="Arial"/>
              </a:rPr>
              <a:t>Benchmar</a:t>
            </a:r>
            <a:r>
              <a:rPr lang="en-US" sz="1400" b="0" u="none" strike="noStrike">
                <a:solidFill>
                  <a:srgbClr val="8CA0C0"/>
                </a:solidFill>
                <a:effectLst/>
                <a:uFillTx/>
                <a:latin typeface="Arial"/>
                <a:ea typeface="Arial"/>
              </a:rPr>
              <a:t>k: 200 </a:t>
            </a:r>
            <a:r>
              <a:rPr lang="en-US" sz="1400" b="0" u="none" strike="noStrike">
                <a:solidFill>
                  <a:srgbClr val="8CA0C0"/>
                </a:solidFill>
                <a:effectLst/>
                <a:uFillTx/>
                <a:latin typeface="Arial"/>
                <a:ea typeface="Arial"/>
              </a:rPr>
              <a:t>casos · 10 </a:t>
            </a:r>
            <a:r>
              <a:rPr lang="en-US" sz="1400" b="0" u="none" strike="noStrike">
                <a:solidFill>
                  <a:srgbClr val="8CA0C0"/>
                </a:solidFill>
                <a:effectLst/>
                <a:uFillTx/>
                <a:latin typeface="Arial"/>
                <a:ea typeface="Arial"/>
              </a:rPr>
              <a:t>modelos · </a:t>
            </a:r>
            <a:r>
              <a:rPr lang="en-US" sz="1400" b="0" u="none" strike="noStrike">
                <a:solidFill>
                  <a:srgbClr val="8CA0C0"/>
                </a:solidFill>
                <a:effectLst/>
                <a:uFillTx/>
                <a:latin typeface="Arial"/>
                <a:ea typeface="Arial"/>
              </a:rPr>
              <a:t>23 </a:t>
            </a:r>
            <a:r>
              <a:rPr lang="en-US" sz="1400" b="0" u="none" strike="noStrike">
                <a:solidFill>
                  <a:srgbClr val="8CA0C0"/>
                </a:solidFill>
                <a:effectLst/>
                <a:uFillTx/>
                <a:latin typeface="Arial"/>
                <a:ea typeface="Arial"/>
              </a:rPr>
              <a:t>especialida</a:t>
            </a:r>
            <a:r>
              <a:rPr lang="en-US" sz="1400" b="0" u="none" strike="noStrike">
                <a:solidFill>
                  <a:srgbClr val="8CA0C0"/>
                </a:solidFill>
                <a:effectLst/>
                <a:uFillTx/>
                <a:latin typeface="Arial"/>
                <a:ea typeface="Arial"/>
              </a:rPr>
              <a:t>des · 2.000 </a:t>
            </a:r>
            <a:r>
              <a:rPr lang="en-US" sz="1400" b="0" u="none" strike="noStrike">
                <a:solidFill>
                  <a:srgbClr val="8CA0C0"/>
                </a:solidFill>
                <a:effectLst/>
                <a:uFillTx/>
                <a:latin typeface="Arial"/>
                <a:ea typeface="Arial"/>
              </a:rPr>
              <a:t>avaliações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548640" y="5303520"/>
            <a:ext cx="3657600" cy="360"/>
          </a:xfrm>
          <a:prstGeom prst="line">
            <a:avLst/>
          </a:prstGeom>
          <a:ln w="25400">
            <a:solidFill>
              <a:srgbClr val="FF6A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548640" y="548640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8CA0C0"/>
                </a:solidFill>
                <a:effectLst/>
                <a:uFillTx/>
                <a:latin typeface="Arial"/>
                <a:ea typeface="Arial"/>
              </a:rPr>
              <a:t>BeansTech </a:t>
            </a:r>
            <a:r>
              <a:rPr lang="en-US" sz="1200" b="0" u="none" strike="noStrike">
                <a:solidFill>
                  <a:srgbClr val="8CA0C0"/>
                </a:solidFill>
                <a:effectLst/>
                <a:uFillTx/>
                <a:latin typeface="Arial"/>
                <a:ea typeface="Arial"/>
              </a:rPr>
              <a:t>Health → </a:t>
            </a:r>
            <a:r>
              <a:rPr lang="en-US" sz="1200" b="0" u="none" strike="noStrike">
                <a:solidFill>
                  <a:srgbClr val="8CA0C0"/>
                </a:solidFill>
                <a:effectLst/>
                <a:uFillTx/>
                <a:latin typeface="Arial"/>
                <a:ea typeface="Arial"/>
              </a:rPr>
              <a:t>Alibaba </a:t>
            </a:r>
            <a:r>
              <a:rPr lang="en-US" sz="1200" b="0" u="none" strike="noStrike">
                <a:solidFill>
                  <a:srgbClr val="8CA0C0"/>
                </a:solidFill>
                <a:effectLst/>
                <a:uFillTx/>
                <a:latin typeface="Arial"/>
                <a:ea typeface="Arial"/>
              </a:rPr>
              <a:t>Brazil (Eric) · </a:t>
            </a:r>
            <a:r>
              <a:rPr lang="en-US" sz="1200" b="0" u="none" strike="noStrike">
                <a:solidFill>
                  <a:srgbClr val="8CA0C0"/>
                </a:solidFill>
                <a:effectLst/>
                <a:uFillTx/>
                <a:latin typeface="Arial"/>
                <a:ea typeface="Arial"/>
              </a:rPr>
              <a:t>Outubro </a:t>
            </a:r>
            <a:r>
              <a:rPr lang="en-US" sz="1200" b="0" u="none" strike="noStrike">
                <a:solidFill>
                  <a:srgbClr val="8CA0C0"/>
                </a:solidFill>
                <a:effectLst/>
                <a:uFillTx/>
                <a:latin typeface="Arial"/>
                <a:ea typeface="Arial"/>
              </a:rPr>
              <a:t>2026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548640" y="6446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BeansTech · </a:t>
            </a: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Qwen 3.8-Max · </a:t>
            </a: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Confidencial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2"/>
          <p:cNvSpPr/>
          <p:nvPr/>
        </p:nvSpPr>
        <p:spPr>
          <a:xfrm>
            <a:off x="548640" y="36576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6A00"/>
                </a:solidFill>
                <a:effectLst/>
                <a:uFillTx/>
                <a:latin typeface="Georgia"/>
                <a:ea typeface="Georgia"/>
              </a:rPr>
              <a:t>O </a:t>
            </a:r>
            <a:r>
              <a:rPr lang="en-US" sz="3000" b="1" u="none" strike="noStrike">
                <a:solidFill>
                  <a:srgbClr val="FF6A00"/>
                </a:solidFill>
                <a:effectLst/>
                <a:uFillTx/>
                <a:latin typeface="Georgia"/>
                <a:ea typeface="Georgia"/>
              </a:rPr>
              <a:t>Ben</a:t>
            </a:r>
            <a:r>
              <a:rPr lang="en-US" sz="3000" b="1" u="none" strike="noStrike">
                <a:solidFill>
                  <a:srgbClr val="FF6A00"/>
                </a:solidFill>
                <a:effectLst/>
                <a:uFillTx/>
                <a:latin typeface="Georgia"/>
                <a:ea typeface="Georgia"/>
              </a:rPr>
              <a:t>chm</a:t>
            </a:r>
            <a:r>
              <a:rPr lang="en-US" sz="3000" b="1" u="none" strike="noStrike">
                <a:solidFill>
                  <a:srgbClr val="FF6A00"/>
                </a:solidFill>
                <a:effectLst/>
                <a:uFillTx/>
                <a:latin typeface="Georgia"/>
                <a:ea typeface="Georgia"/>
              </a:rPr>
              <a:t>ark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3"/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The </a:t>
            </a: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largest </a:t>
            </a: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LLM test </a:t>
            </a: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para </a:t>
            </a: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medicina </a:t>
            </a: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em língua </a:t>
            </a: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portugues</a:t>
            </a: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a já </a:t>
            </a: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realizado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4"/>
          <p:cNvSpPr/>
          <p:nvPr/>
        </p:nvSpPr>
        <p:spPr>
          <a:xfrm>
            <a:off x="548640" y="1645920"/>
            <a:ext cx="26514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20</a:t>
            </a:r>
            <a:r>
              <a:rPr lang="en-US" sz="52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0</a:t>
            </a:r>
            <a:endParaRPr lang="pt-BR" sz="5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5"/>
          <p:cNvSpPr/>
          <p:nvPr/>
        </p:nvSpPr>
        <p:spPr>
          <a:xfrm>
            <a:off x="548640" y="2560320"/>
            <a:ext cx="2651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real clinical </a:t>
            </a:r>
            <a:r>
              <a:rPr lang="en-US" sz="14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cases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6"/>
          <p:cNvSpPr/>
          <p:nvPr/>
        </p:nvSpPr>
        <p:spPr>
          <a:xfrm>
            <a:off x="3429000" y="1645920"/>
            <a:ext cx="26514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10</a:t>
            </a:r>
            <a:endParaRPr lang="pt-BR" sz="5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7"/>
          <p:cNvSpPr/>
          <p:nvPr/>
        </p:nvSpPr>
        <p:spPr>
          <a:xfrm>
            <a:off x="3429000" y="2560320"/>
            <a:ext cx="2651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models </a:t>
            </a:r>
            <a:r>
              <a:rPr lang="en-US" sz="14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tested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8"/>
          <p:cNvSpPr/>
          <p:nvPr/>
        </p:nvSpPr>
        <p:spPr>
          <a:xfrm>
            <a:off x="6309360" y="1645920"/>
            <a:ext cx="26514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23</a:t>
            </a:r>
            <a:endParaRPr lang="pt-BR" sz="5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9"/>
          <p:cNvSpPr/>
          <p:nvPr/>
        </p:nvSpPr>
        <p:spPr>
          <a:xfrm>
            <a:off x="6309360" y="2560320"/>
            <a:ext cx="2651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medical specialties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0"/>
          <p:cNvSpPr/>
          <p:nvPr/>
        </p:nvSpPr>
        <p:spPr>
          <a:xfrm>
            <a:off x="9189720" y="1645920"/>
            <a:ext cx="26514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0" b="1" u="none" strike="noStrike">
                <a:solidFill>
                  <a:srgbClr val="FF6A00"/>
                </a:solidFill>
                <a:effectLst/>
                <a:uFillTx/>
                <a:latin typeface="Georgia"/>
                <a:ea typeface="Georgia"/>
              </a:rPr>
              <a:t>2</a:t>
            </a:r>
            <a:r>
              <a:rPr lang="en-US" sz="5200" b="1" u="none" strike="noStrike">
                <a:solidFill>
                  <a:srgbClr val="FF6A00"/>
                </a:solidFill>
                <a:effectLst/>
                <a:uFillTx/>
                <a:latin typeface="Georgia"/>
                <a:ea typeface="Georgia"/>
              </a:rPr>
              <a:t>.</a:t>
            </a:r>
            <a:r>
              <a:rPr lang="en-US" sz="5200" b="1" u="none" strike="noStrike">
                <a:solidFill>
                  <a:srgbClr val="FF6A00"/>
                </a:solidFill>
                <a:effectLst/>
                <a:uFillTx/>
                <a:latin typeface="Georgia"/>
                <a:ea typeface="Georgia"/>
              </a:rPr>
              <a:t>0</a:t>
            </a:r>
            <a:r>
              <a:rPr lang="en-US" sz="5200" b="1" u="none" strike="noStrike">
                <a:solidFill>
                  <a:srgbClr val="FF6A00"/>
                </a:solidFill>
                <a:effectLst/>
                <a:uFillTx/>
                <a:latin typeface="Georgia"/>
                <a:ea typeface="Georgia"/>
              </a:rPr>
              <a:t>0</a:t>
            </a:r>
            <a:r>
              <a:rPr lang="en-US" sz="5200" b="1" u="none" strike="noStrike">
                <a:solidFill>
                  <a:srgbClr val="FF6A00"/>
                </a:solidFill>
                <a:effectLst/>
                <a:uFillTx/>
                <a:latin typeface="Georgia"/>
                <a:ea typeface="Georgia"/>
              </a:rPr>
              <a:t>0</a:t>
            </a:r>
            <a:endParaRPr lang="pt-BR" sz="5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1"/>
          <p:cNvSpPr/>
          <p:nvPr/>
        </p:nvSpPr>
        <p:spPr>
          <a:xfrm>
            <a:off x="9189720" y="2560320"/>
            <a:ext cx="2651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total evaluations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2"/>
          <p:cNvSpPr/>
          <p:nvPr/>
        </p:nvSpPr>
        <p:spPr>
          <a:xfrm>
            <a:off x="548640" y="3291840"/>
            <a:ext cx="11091600" cy="360"/>
          </a:xfrm>
          <a:prstGeom prst="line">
            <a:avLst/>
          </a:prstGeom>
          <a:ln w="9525">
            <a:solidFill>
              <a:srgbClr val="E5E7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3"/>
          <p:cNvSpPr/>
          <p:nvPr/>
        </p:nvSpPr>
        <p:spPr>
          <a:xfrm>
            <a:off x="548640" y="347472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Same standard for all: </a:t>
            </a:r>
            <a:r>
              <a:rPr lang="en-US" sz="15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same prompt, same temperature, same context. Evaluation by critical claim coverage.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4"/>
          <p:cNvSpPr/>
          <p:nvPr/>
        </p:nvSpPr>
        <p:spPr>
          <a:xfrm>
            <a:off x="548640" y="4389120"/>
            <a:ext cx="11091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6A00"/>
                </a:solidFill>
                <a:effectLst/>
                <a:uFillTx/>
                <a:latin typeface="Arial"/>
                <a:ea typeface="Arial"/>
              </a:rPr>
              <a:t>Models tested: </a:t>
            </a: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GPT-6 Astra (OpenAI) · Claude Opus 5 (Anthropic) · GLM-5.3 (Z.ai) · Qwen 3.8-Max (Alibaba) · DeepSeek v4 Pro · Kimi K3 (Moonshot) · Baichuan-M3-235B · AntAngelMed-100B · MedGemma-27B · Lingshu-32B (DAMO)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/>
          <p:nvPr/>
        </p:nvSpPr>
        <p:spPr>
          <a:xfrm>
            <a:off x="548640" y="6446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BeansTech · Qwen 3.8-Max · Confidencial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2"/>
          <p:cNvSpPr/>
          <p:nvPr/>
        </p:nvSpPr>
        <p:spPr>
          <a:xfrm>
            <a:off x="548640" y="36576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6A00"/>
                </a:solidFill>
                <a:effectLst/>
                <a:uFillTx/>
                <a:latin typeface="Georgia"/>
                <a:ea typeface="Georgia"/>
              </a:rPr>
              <a:t>Overall Ranking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3"/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Coverage = fraction das critical claims from the gold standard present in the answer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" name="Table 0"/>
          <p:cNvGraphicFramePr/>
          <p:nvPr/>
        </p:nvGraphicFramePr>
        <p:xfrm>
          <a:off x="548640" y="1371600"/>
          <a:ext cx="10268280" cy="3968280"/>
        </p:xfrm>
        <a:graphic>
          <a:graphicData uri="http://schemas.openxmlformats.org/drawingml/2006/table">
            <a:tbl>
              <a:tblPr/>
              <a:tblGrid>
                <a:gridCol w="1097280"/>
                <a:gridCol w="3200400"/>
                <a:gridCol w="1828800"/>
                <a:gridCol w="1828800"/>
                <a:gridCol w="2313360"/>
              </a:tblGrid>
              <a:tr h="5666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Rank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Modelo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Coverage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Velocidade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Provider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1º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GLM-5.3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0,486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23,0s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Z.ai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0F4FF"/>
                    </a:solidFill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6A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2º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6A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Qwen 3.8-Max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6A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0,437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6A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36,4s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6A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Alibaba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FF3E0"/>
                    </a:solidFill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3º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DeepSeek v4 Pro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0,396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37,4s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DeepSeek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0F4FF"/>
                    </a:solidFill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4º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Baichuan-M3-235B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0,392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33,3s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GPU própria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5º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GPT-6 Astra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0,377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17,2s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OpenAI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0F4FF"/>
                    </a:solidFill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6º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Claude Opus 5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0,347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23,7s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Anthropic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Shape 4"/>
          <p:cNvSpPr/>
          <p:nvPr/>
        </p:nvSpPr>
        <p:spPr>
          <a:xfrm>
            <a:off x="0" y="5486400"/>
            <a:ext cx="12188520" cy="822600"/>
          </a:xfrm>
          <a:prstGeom prst="rect">
            <a:avLst/>
          </a:prstGeom>
          <a:solidFill>
            <a:srgbClr val="F0F4FF"/>
          </a:solidFill>
          <a:ln w="12700">
            <a:solidFill>
              <a:srgbClr val="F0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5"/>
          <p:cNvSpPr/>
          <p:nvPr/>
        </p:nvSpPr>
        <p:spPr>
          <a:xfrm>
            <a:off x="548640" y="5577840"/>
            <a:ext cx="11091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F6A00"/>
                </a:solidFill>
                <a:effectLst/>
                <a:uFillTx/>
                <a:latin typeface="Georgia"/>
                <a:ea typeface="Georgia"/>
              </a:rPr>
              <a:t>Qwen 3.8-Max outperforms GPT-6 Astra (US$ 50/M) e Claude Opus 5 (US$ 25/M) — the most expensive models on the market.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0"/>
          <p:cNvSpPr/>
          <p:nvPr/>
        </p:nvSpPr>
        <p:spPr>
          <a:xfrm>
            <a:off x="548640" y="6446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BeansTech · Qwen 3.8-Max · Confidencial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"/>
          <p:cNvSpPr/>
          <p:nvPr/>
        </p:nvSpPr>
        <p:spPr>
          <a:xfrm>
            <a:off x="548640" y="36576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6A00"/>
                </a:solidFill>
                <a:effectLst/>
                <a:uFillTx/>
                <a:latin typeface="Georgia"/>
                <a:ea typeface="Georgia"/>
              </a:rPr>
              <a:t>Multi-morbidity: Qwen excellence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3"/>
          <p:cNvSpPr/>
          <p:nvPr/>
        </p:nvSpPr>
        <p:spPr>
          <a:xfrm>
            <a:off x="548640" y="881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The hardest and most common scenario em hospitais brasileiros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4"/>
          <p:cNvSpPr/>
          <p:nvPr/>
        </p:nvSpPr>
        <p:spPr>
          <a:xfrm>
            <a:off x="548640" y="1371600"/>
            <a:ext cx="36572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0" b="1" u="none" strike="noStrike">
                <a:solidFill>
                  <a:srgbClr val="FF6A00"/>
                </a:solidFill>
                <a:effectLst/>
                <a:uFillTx/>
                <a:latin typeface="Georgia"/>
                <a:ea typeface="Georgia"/>
              </a:rPr>
              <a:t>0,62</a:t>
            </a:r>
            <a:endParaRPr lang="pt-BR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5"/>
          <p:cNvSpPr/>
          <p:nvPr/>
        </p:nvSpPr>
        <p:spPr>
          <a:xfrm>
            <a:off x="548640" y="2743200"/>
            <a:ext cx="3657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coverage — 2× better than any other model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6" name="Table 0"/>
          <p:cNvGraphicFramePr/>
          <p:nvPr/>
        </p:nvGraphicFramePr>
        <p:xfrm>
          <a:off x="5029200" y="1371600"/>
          <a:ext cx="6583320" cy="2194560"/>
        </p:xfrm>
        <a:graphic>
          <a:graphicData uri="http://schemas.openxmlformats.org/drawingml/2006/table">
            <a:tbl>
              <a:tblPr/>
              <a:tblGrid>
                <a:gridCol w="3840480"/>
                <a:gridCol w="1371600"/>
                <a:gridCol w="13716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Case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Qwen 3.8-Max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GPT-6 Astra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Idosa 82 anos, 8 medicamentos, DRC aguda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0,75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0,33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0F4FF"/>
                    </a:solidFill>
                  </a:tcPr>
                </a:tc>
              </a:tr>
              <a:tr h="548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Cirrose Child C com HCC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0,62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0,33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DM2 + ICC + DRC + desnutrição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0,62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0,33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47" name="Text 6"/>
          <p:cNvSpPr/>
          <p:nvPr/>
        </p:nvSpPr>
        <p:spPr>
          <a:xfrm>
            <a:off x="548640" y="475488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Pacientes complexos, politratados, com interações medicamentosas — exatamente onde o Qwen 3.8-Max raciocina melhor.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ext 0"/>
          <p:cNvSpPr/>
          <p:nvPr/>
        </p:nvSpPr>
        <p:spPr>
          <a:xfrm>
            <a:off x="548640" y="6446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BeansTech · Qwen 3.8-Max · Confidencial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"/>
          <p:cNvSpPr/>
          <p:nvPr/>
        </p:nvSpPr>
        <p:spPr>
          <a:xfrm>
            <a:off x="548640" y="36576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6A00"/>
                </a:solidFill>
                <a:effectLst/>
                <a:uFillTx/>
                <a:latin typeface="Georgia"/>
                <a:ea typeface="Georgia"/>
              </a:rPr>
              <a:t>Pulmonology: best of all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3"/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Coverage 0,75 — 3× better than 2nd place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4"/>
          <p:cNvSpPr/>
          <p:nvPr/>
        </p:nvSpPr>
        <p:spPr>
          <a:xfrm>
            <a:off x="548640" y="1645920"/>
            <a:ext cx="8229240" cy="54828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5"/>
          <p:cNvSpPr/>
          <p:nvPr/>
        </p:nvSpPr>
        <p:spPr>
          <a:xfrm>
            <a:off x="548640" y="160020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Qwen 3.8-Max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6"/>
          <p:cNvSpPr/>
          <p:nvPr/>
        </p:nvSpPr>
        <p:spPr>
          <a:xfrm>
            <a:off x="8869680" y="1600200"/>
            <a:ext cx="91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6A00"/>
                </a:solidFill>
                <a:effectLst/>
                <a:uFillTx/>
                <a:latin typeface="Arial"/>
                <a:ea typeface="Arial"/>
              </a:rPr>
              <a:t>0,75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7"/>
          <p:cNvSpPr/>
          <p:nvPr/>
        </p:nvSpPr>
        <p:spPr>
          <a:xfrm>
            <a:off x="548640" y="2468880"/>
            <a:ext cx="2742840" cy="5482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8"/>
          <p:cNvSpPr/>
          <p:nvPr/>
        </p:nvSpPr>
        <p:spPr>
          <a:xfrm>
            <a:off x="548640" y="2544480"/>
            <a:ext cx="2742840" cy="29016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GLM-5.3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9"/>
          <p:cNvSpPr/>
          <p:nvPr/>
        </p:nvSpPr>
        <p:spPr>
          <a:xfrm>
            <a:off x="3383280" y="2423160"/>
            <a:ext cx="91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0,25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0"/>
          <p:cNvSpPr/>
          <p:nvPr/>
        </p:nvSpPr>
        <p:spPr>
          <a:xfrm>
            <a:off x="548640" y="3291840"/>
            <a:ext cx="2742840" cy="5482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1"/>
          <p:cNvSpPr/>
          <p:nvPr/>
        </p:nvSpPr>
        <p:spPr>
          <a:xfrm>
            <a:off x="548640" y="324612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GPT-6 Astra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2"/>
          <p:cNvSpPr/>
          <p:nvPr/>
        </p:nvSpPr>
        <p:spPr>
          <a:xfrm>
            <a:off x="3383280" y="3246120"/>
            <a:ext cx="91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0,25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13"/>
          <p:cNvSpPr/>
          <p:nvPr/>
        </p:nvSpPr>
        <p:spPr>
          <a:xfrm>
            <a:off x="548640" y="4114800"/>
            <a:ext cx="2742840" cy="5482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4"/>
          <p:cNvSpPr/>
          <p:nvPr/>
        </p:nvSpPr>
        <p:spPr>
          <a:xfrm>
            <a:off x="548640" y="406908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Claude Opus 5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5"/>
          <p:cNvSpPr/>
          <p:nvPr/>
        </p:nvSpPr>
        <p:spPr>
          <a:xfrm>
            <a:off x="3383280" y="4069080"/>
            <a:ext cx="91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0,25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6"/>
          <p:cNvSpPr/>
          <p:nvPr/>
        </p:nvSpPr>
        <p:spPr>
          <a:xfrm>
            <a:off x="548640" y="4754880"/>
            <a:ext cx="1109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Case: DPOC grave, VEF1 28%, exacerbador frequente. O Qwen 3.8-Max was the only one to indicate all management steps: triple therapy (LABA+LAMA+CSI), rehabilitation, vaccination, oxygen therapy and transplant evaluation.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 0"/>
          <p:cNvSpPr/>
          <p:nvPr/>
        </p:nvSpPr>
        <p:spPr>
          <a:xfrm>
            <a:off x="548640" y="6446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BeansTech · Qwen 3.8-Max · Confidencial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6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"/>
          <p:cNvSpPr/>
          <p:nvPr/>
        </p:nvSpPr>
        <p:spPr>
          <a:xfrm>
            <a:off x="548640" y="36576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6A00"/>
                </a:solidFill>
                <a:effectLst/>
                <a:uFillTx/>
                <a:latin typeface="Georgia"/>
                <a:ea typeface="Georgia"/>
              </a:rPr>
              <a:t>Documented reasoning in 100% dos casos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3"/>
          <p:cNvSpPr/>
          <p:nvPr/>
        </p:nvSpPr>
        <p:spPr>
          <a:xfrm>
            <a:off x="548640" y="1645920"/>
            <a:ext cx="27428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0" b="1" u="none" strike="noStrike">
                <a:solidFill>
                  <a:srgbClr val="FF6A00"/>
                </a:solidFill>
                <a:effectLst/>
                <a:uFillTx/>
                <a:latin typeface="Georgia"/>
                <a:ea typeface="Georgia"/>
              </a:rPr>
              <a:t>100%</a:t>
            </a:r>
            <a:endParaRPr lang="pt-B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4"/>
          <p:cNvSpPr/>
          <p:nvPr/>
        </p:nvSpPr>
        <p:spPr>
          <a:xfrm>
            <a:off x="548640" y="3017520"/>
            <a:ext cx="3657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of cases with explicit clinical reasoning before the answer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5"/>
          <p:cNvSpPr/>
          <p:nvPr/>
        </p:nvSpPr>
        <p:spPr>
          <a:xfrm>
            <a:off x="5486400" y="1645920"/>
            <a:ext cx="3200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Qwen 3.8-Max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6"/>
          <p:cNvSpPr/>
          <p:nvPr/>
        </p:nvSpPr>
        <p:spPr>
          <a:xfrm>
            <a:off x="7898040" y="1656360"/>
            <a:ext cx="3657240" cy="45684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7"/>
          <p:cNvSpPr/>
          <p:nvPr/>
        </p:nvSpPr>
        <p:spPr>
          <a:xfrm>
            <a:off x="12435840" y="1645920"/>
            <a:ext cx="91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6A00"/>
                </a:solidFill>
                <a:effectLst/>
                <a:uFillTx/>
                <a:latin typeface="Arial"/>
                <a:ea typeface="Arial"/>
              </a:rPr>
              <a:t>100%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8"/>
          <p:cNvSpPr/>
          <p:nvPr/>
        </p:nvSpPr>
        <p:spPr>
          <a:xfrm>
            <a:off x="5486400" y="2377440"/>
            <a:ext cx="3200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GLM-5.3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9"/>
          <p:cNvSpPr/>
          <p:nvPr/>
        </p:nvSpPr>
        <p:spPr>
          <a:xfrm>
            <a:off x="7894800" y="2377440"/>
            <a:ext cx="3657240" cy="45684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0"/>
          <p:cNvSpPr/>
          <p:nvPr/>
        </p:nvSpPr>
        <p:spPr>
          <a:xfrm>
            <a:off x="12435840" y="2377440"/>
            <a:ext cx="91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6A00"/>
                </a:solidFill>
                <a:effectLst/>
                <a:uFillTx/>
                <a:latin typeface="Arial"/>
                <a:ea typeface="Arial"/>
              </a:rPr>
              <a:t>100%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1"/>
          <p:cNvSpPr/>
          <p:nvPr/>
        </p:nvSpPr>
        <p:spPr>
          <a:xfrm>
            <a:off x="5486400" y="3108960"/>
            <a:ext cx="3200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DeepSeek v4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12"/>
          <p:cNvSpPr/>
          <p:nvPr/>
        </p:nvSpPr>
        <p:spPr>
          <a:xfrm>
            <a:off x="7894800" y="3108960"/>
            <a:ext cx="3657240" cy="45684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3"/>
          <p:cNvSpPr/>
          <p:nvPr/>
        </p:nvSpPr>
        <p:spPr>
          <a:xfrm>
            <a:off x="12435840" y="3108960"/>
            <a:ext cx="91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6A00"/>
                </a:solidFill>
                <a:effectLst/>
                <a:uFillTx/>
                <a:latin typeface="Arial"/>
                <a:ea typeface="Arial"/>
              </a:rPr>
              <a:t>100%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4"/>
          <p:cNvSpPr/>
          <p:nvPr/>
        </p:nvSpPr>
        <p:spPr>
          <a:xfrm>
            <a:off x="5486400" y="3840480"/>
            <a:ext cx="3200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GPT-6 Astra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15"/>
          <p:cNvSpPr/>
          <p:nvPr/>
        </p:nvSpPr>
        <p:spPr>
          <a:xfrm>
            <a:off x="7858800" y="3840480"/>
            <a:ext cx="219240" cy="45684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6"/>
          <p:cNvSpPr/>
          <p:nvPr/>
        </p:nvSpPr>
        <p:spPr>
          <a:xfrm>
            <a:off x="8133840" y="3840480"/>
            <a:ext cx="91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6%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7"/>
          <p:cNvSpPr/>
          <p:nvPr/>
        </p:nvSpPr>
        <p:spPr>
          <a:xfrm>
            <a:off x="5486400" y="4572000"/>
            <a:ext cx="3200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MedGemma-27B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18"/>
          <p:cNvSpPr/>
          <p:nvPr/>
        </p:nvSpPr>
        <p:spPr>
          <a:xfrm>
            <a:off x="7894800" y="4572000"/>
            <a:ext cx="91080" cy="45684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9"/>
          <p:cNvSpPr/>
          <p:nvPr/>
        </p:nvSpPr>
        <p:spPr>
          <a:xfrm>
            <a:off x="8041680" y="4572000"/>
            <a:ext cx="91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0%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0"/>
          <p:cNvSpPr/>
          <p:nvPr/>
        </p:nvSpPr>
        <p:spPr>
          <a:xfrm>
            <a:off x="548640" y="548640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Why it matters: medical audit,  regulatory compliance LGPD/CFM, publishable clinical research.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0"/>
          <p:cNvSpPr/>
          <p:nvPr/>
        </p:nvSpPr>
        <p:spPr>
          <a:xfrm>
            <a:off x="548640" y="6446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BeansTech · Qwen 3.8-Max · Confidencial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7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"/>
          <p:cNvSpPr/>
          <p:nvPr/>
        </p:nvSpPr>
        <p:spPr>
          <a:xfrm>
            <a:off x="548640" y="36576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6A00"/>
                </a:solidFill>
                <a:effectLst/>
                <a:uFillTx/>
                <a:latin typeface="Georgia"/>
                <a:ea typeface="Georgia"/>
              </a:rPr>
              <a:t>Effective cost per 1.000 responses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3"/>
          <p:cNvSpPr/>
          <p:nvPr/>
        </p:nvSpPr>
        <p:spPr>
          <a:xfrm>
            <a:off x="548640" y="1645920"/>
            <a:ext cx="799920" cy="73116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4"/>
          <p:cNvSpPr/>
          <p:nvPr/>
        </p:nvSpPr>
        <p:spPr>
          <a:xfrm>
            <a:off x="548640" y="132588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Qwen 3.8-Max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5"/>
          <p:cNvSpPr/>
          <p:nvPr/>
        </p:nvSpPr>
        <p:spPr>
          <a:xfrm>
            <a:off x="1531800" y="1645920"/>
            <a:ext cx="1828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6A00"/>
                </a:solidFill>
                <a:effectLst/>
                <a:uFillTx/>
                <a:latin typeface="Georgia"/>
                <a:ea typeface="Georgia"/>
              </a:rPr>
              <a:t>US$ 2.80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6"/>
          <p:cNvSpPr/>
          <p:nvPr/>
        </p:nvSpPr>
        <p:spPr>
          <a:xfrm>
            <a:off x="548640" y="2743200"/>
            <a:ext cx="4571640" cy="7311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7"/>
          <p:cNvSpPr/>
          <p:nvPr/>
        </p:nvSpPr>
        <p:spPr>
          <a:xfrm>
            <a:off x="548640" y="242316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Claude Opus 5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8"/>
          <p:cNvSpPr/>
          <p:nvPr/>
        </p:nvSpPr>
        <p:spPr>
          <a:xfrm>
            <a:off x="5303520" y="2743200"/>
            <a:ext cx="1828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US$ 16.00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9"/>
          <p:cNvSpPr/>
          <p:nvPr/>
        </p:nvSpPr>
        <p:spPr>
          <a:xfrm>
            <a:off x="548640" y="3840480"/>
            <a:ext cx="9143640" cy="7311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0"/>
          <p:cNvSpPr/>
          <p:nvPr/>
        </p:nvSpPr>
        <p:spPr>
          <a:xfrm>
            <a:off x="548640" y="352044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GPT-6 Astra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1"/>
          <p:cNvSpPr/>
          <p:nvPr/>
        </p:nvSpPr>
        <p:spPr>
          <a:xfrm>
            <a:off x="9875520" y="3840480"/>
            <a:ext cx="1828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A4A"/>
                </a:solidFill>
                <a:effectLst/>
                <a:uFillTx/>
                <a:latin typeface="Georgia"/>
                <a:ea typeface="Georgia"/>
              </a:rPr>
              <a:t>US$ 32.00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2"/>
          <p:cNvSpPr/>
          <p:nvPr/>
        </p:nvSpPr>
        <p:spPr>
          <a:xfrm>
            <a:off x="548640" y="5029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Qwen 3.8-Max is </a:t>
            </a:r>
            <a:r>
              <a:rPr lang="en-US" sz="1600" b="1" u="none" strike="noStrike">
                <a:solidFill>
                  <a:srgbClr val="FF6A00"/>
                </a:solidFill>
                <a:effectLst/>
                <a:uFillTx/>
                <a:latin typeface="Arial"/>
                <a:ea typeface="Arial"/>
              </a:rPr>
              <a:t>11× cheaper</a:t>
            </a:r>
            <a:r>
              <a:rPr lang="en-US" sz="16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 que o GPT-6 Astra e </a:t>
            </a:r>
            <a:r>
              <a:rPr lang="en-US" sz="1600" b="1" u="none" strike="noStrike">
                <a:solidFill>
                  <a:srgbClr val="FF6A00"/>
                </a:solidFill>
                <a:effectLst/>
                <a:uFillTx/>
                <a:latin typeface="Arial"/>
                <a:ea typeface="Arial"/>
              </a:rPr>
              <a:t>6× mais barato</a:t>
            </a:r>
            <a:r>
              <a:rPr lang="en-US" sz="16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 que o Claude Opus 5 — with superior quality.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548640" y="6446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BeansTech · Qwen 3.8-Max · Confidencial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8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"/>
          <p:cNvSpPr/>
          <p:nvPr/>
        </p:nvSpPr>
        <p:spPr>
          <a:xfrm>
            <a:off x="548640" y="36576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6A00"/>
                </a:solidFill>
                <a:effectLst/>
                <a:uFillTx/>
                <a:latin typeface="Georgia"/>
                <a:ea typeface="Georgia"/>
              </a:rPr>
              <a:t>Lingshu-32B (base Qwen2.5-VL): imagem médica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3"/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The best open model for multimodal medical VQA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3" name="Table 0"/>
          <p:cNvGraphicFramePr/>
          <p:nvPr/>
        </p:nvGraphicFramePr>
        <p:xfrm>
          <a:off x="548640" y="1371600"/>
          <a:ext cx="10999800" cy="1132920"/>
        </p:xfrm>
        <a:graphic>
          <a:graphicData uri="http://schemas.openxmlformats.org/drawingml/2006/table">
            <a:tbl>
              <a:tblPr/>
              <a:tblGrid>
                <a:gridCol w="3657600"/>
                <a:gridCol w="2743200"/>
                <a:gridCol w="2743200"/>
                <a:gridCol w="1856160"/>
              </a:tblGrid>
              <a:tr h="566640">
                <a:tc>
                  <a:txBody>
                    <a:bodyPr anchor="t">
                      <a:noAutofit/>
                    </a:bodyPr>
                    <a:p>
                      <a:pPr algn="ctr"/>
                      <a:r>
                        <a:rPr lang="pt-BR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Benchmark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/>
                      <a:r>
                        <a:rPr lang="pt-BR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Lingshu-32B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/>
                      <a:r>
                        <a:rPr lang="pt-BR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GPT-4.1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/>
                      <a:r>
                        <a:rPr lang="pt-BR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Claude Sonnet 4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566640">
                <a:tc>
                  <a:txBody>
                    <a:bodyPr anchor="t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/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/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/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E5E7EB"/>
                      </a:solidFill>
                      <a:prstDash val="solid"/>
                    </a:lnL>
                    <a:lnR w="6480">
                      <a:solidFill>
                        <a:srgbClr val="E5E7EB"/>
                      </a:solidFill>
                      <a:prstDash val="solid"/>
                    </a:lnR>
                    <a:lnT w="6480">
                      <a:solidFill>
                        <a:srgbClr val="E5E7EB"/>
                      </a:solidFill>
                      <a:prstDash val="solid"/>
                    </a:lnT>
                    <a:lnB w="6480">
                      <a:solidFill>
                        <a:srgbClr val="E5E7EB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4" name="Text 4"/>
          <p:cNvSpPr/>
          <p:nvPr/>
        </p:nvSpPr>
        <p:spPr>
          <a:xfrm>
            <a:off x="548640" y="438912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6A00"/>
                </a:solidFill>
                <a:effectLst/>
                <a:uFillTx/>
                <a:latin typeface="Arial"/>
                <a:ea typeface="Arial"/>
              </a:rPr>
              <a:t>12 modalities: RX · TC · RM · ultrassom · histopatologia · dermatoscopia · fundoscopia · OCT · endoscopia · microscopia · fotografia · PET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 0"/>
          <p:cNvSpPr/>
          <p:nvPr/>
        </p:nvSpPr>
        <p:spPr>
          <a:xfrm>
            <a:off x="548640" y="6446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BeansTech · Qwen 3.8-Max · Confidencial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2"/>
          <p:cNvSpPr/>
          <p:nvPr/>
        </p:nvSpPr>
        <p:spPr>
          <a:xfrm>
            <a:off x="548640" y="36576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6A00"/>
                </a:solidFill>
                <a:effectLst/>
                <a:uFillTx/>
                <a:latin typeface="Georgia"/>
                <a:ea typeface="Georgia"/>
              </a:rPr>
              <a:t>Recommendations to make Qwen the Nº 1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6 concrete actions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4"/>
          <p:cNvSpPr/>
          <p:nvPr/>
        </p:nvSpPr>
        <p:spPr>
          <a:xfrm>
            <a:off x="548640" y="1627560"/>
            <a:ext cx="127800" cy="1278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5"/>
          <p:cNvSpPr/>
          <p:nvPr/>
        </p:nvSpPr>
        <p:spPr>
          <a:xfrm>
            <a:off x="822960" y="155448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1. Fine-tuning PT-BR medical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6"/>
          <p:cNvSpPr/>
          <p:nvPr/>
        </p:nvSpPr>
        <p:spPr>
          <a:xfrm>
            <a:off x="822960" y="1901880"/>
            <a:ext cx="51202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+15-20 pts in coverage com PCDT/bulas/diretrizes BR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7"/>
          <p:cNvSpPr/>
          <p:nvPr/>
        </p:nvSpPr>
        <p:spPr>
          <a:xfrm>
            <a:off x="6217920" y="1627560"/>
            <a:ext cx="127800" cy="1278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8"/>
          <p:cNvSpPr/>
          <p:nvPr/>
        </p:nvSpPr>
        <p:spPr>
          <a:xfrm>
            <a:off x="6492240" y="155448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2. Lingshu radiologia brasileira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9"/>
          <p:cNvSpPr/>
          <p:nvPr/>
        </p:nvSpPr>
        <p:spPr>
          <a:xfrm>
            <a:off x="6492240" y="1901880"/>
            <a:ext cx="51202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World.s best RX model em PT com dados de hospitais parceiros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0"/>
          <p:cNvSpPr/>
          <p:nvPr/>
        </p:nvSpPr>
        <p:spPr>
          <a:xfrm>
            <a:off x="548640" y="3090600"/>
            <a:ext cx="127800" cy="1278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1"/>
          <p:cNvSpPr/>
          <p:nvPr/>
        </p:nvSpPr>
        <p:spPr>
          <a:xfrm>
            <a:off x="822960" y="301752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3. Qwen-Med dedicado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2"/>
          <p:cNvSpPr/>
          <p:nvPr/>
        </p:nvSpPr>
        <p:spPr>
          <a:xfrm>
            <a:off x="822960" y="3364920"/>
            <a:ext cx="51202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Official medical model (como MedGemma, mas aberto)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13"/>
          <p:cNvSpPr/>
          <p:nvPr/>
        </p:nvSpPr>
        <p:spPr>
          <a:xfrm>
            <a:off x="6217920" y="3090600"/>
            <a:ext cx="127800" cy="1278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4"/>
          <p:cNvSpPr/>
          <p:nvPr/>
        </p:nvSpPr>
        <p:spPr>
          <a:xfrm>
            <a:off x="6492240" y="301752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4. Qwen-Flash-Medical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5"/>
          <p:cNvSpPr/>
          <p:nvPr/>
        </p:nvSpPr>
        <p:spPr>
          <a:xfrm>
            <a:off x="6492240" y="3364920"/>
            <a:ext cx="51202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Distilled version &lt;5s for triage in PS/UPA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16"/>
          <p:cNvSpPr/>
          <p:nvPr/>
        </p:nvSpPr>
        <p:spPr>
          <a:xfrm>
            <a:off x="548640" y="4553640"/>
            <a:ext cx="127800" cy="1278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7"/>
          <p:cNvSpPr/>
          <p:nvPr/>
        </p:nvSpPr>
        <p:spPr>
          <a:xfrm>
            <a:off x="822960" y="448056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5. Presença em São Paulo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8"/>
          <p:cNvSpPr/>
          <p:nvPr/>
        </p:nvSpPr>
        <p:spPr>
          <a:xfrm>
            <a:off x="822960" y="4827960"/>
            <a:ext cx="51202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Latency &lt;15s (vs 36s at via Singapura)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19"/>
          <p:cNvSpPr/>
          <p:nvPr/>
        </p:nvSpPr>
        <p:spPr>
          <a:xfrm>
            <a:off x="6217920" y="4553640"/>
            <a:ext cx="127800" cy="1278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0"/>
          <p:cNvSpPr/>
          <p:nvPr/>
        </p:nvSpPr>
        <p:spPr>
          <a:xfrm>
            <a:off x="6492240" y="448056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6. Open validation program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1"/>
          <p:cNvSpPr/>
          <p:nvPr/>
        </p:nvSpPr>
        <p:spPr>
          <a:xfrm>
            <a:off x="6492240" y="4827960"/>
            <a:ext cx="51202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Published study with partner hospitals and medical societies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 0"/>
          <p:cNvSpPr/>
          <p:nvPr/>
        </p:nvSpPr>
        <p:spPr>
          <a:xfrm>
            <a:off x="548640" y="6446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BeansTech · Qwen 3.8-Max · Confidencial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"/>
          <p:cNvSpPr/>
          <p:nvPr/>
        </p:nvSpPr>
        <p:spPr>
          <a:xfrm>
            <a:off x="11091600" y="644652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"/>
          <p:cNvSpPr/>
          <p:nvPr/>
        </p:nvSpPr>
        <p:spPr>
          <a:xfrm>
            <a:off x="548640" y="36576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6A00"/>
                </a:solidFill>
                <a:effectLst/>
                <a:uFillTx/>
                <a:latin typeface="Georgia"/>
                <a:ea typeface="Georgia"/>
              </a:rPr>
              <a:t>Roadmap and Contact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3"/>
          <p:cNvSpPr/>
          <p:nvPr/>
        </p:nvSpPr>
        <p:spPr>
          <a:xfrm>
            <a:off x="548640" y="1463040"/>
            <a:ext cx="1096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6A00"/>
                </a:solidFill>
                <a:effectLst/>
                <a:uFillTx/>
                <a:latin typeface="Arial"/>
                <a:ea typeface="Arial"/>
              </a:rPr>
              <a:t>Fase 1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4"/>
          <p:cNvSpPr/>
          <p:nvPr/>
        </p:nvSpPr>
        <p:spPr>
          <a:xfrm>
            <a:off x="1737360" y="1463040"/>
            <a:ext cx="4114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Fine-tune Qwen PT-BR medical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5"/>
          <p:cNvSpPr/>
          <p:nvPr/>
        </p:nvSpPr>
        <p:spPr>
          <a:xfrm>
            <a:off x="6035040" y="1463040"/>
            <a:ext cx="1371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6 meses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6"/>
          <p:cNvSpPr/>
          <p:nvPr/>
        </p:nvSpPr>
        <p:spPr>
          <a:xfrm>
            <a:off x="7498080" y="1463040"/>
            <a:ext cx="4114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A8E8"/>
                </a:solidFill>
                <a:effectLst/>
                <a:uFillTx/>
                <a:latin typeface="Arial"/>
                <a:ea typeface="Arial"/>
              </a:rPr>
              <a:t>+15-20 pts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7"/>
          <p:cNvSpPr/>
          <p:nvPr/>
        </p:nvSpPr>
        <p:spPr>
          <a:xfrm>
            <a:off x="548640" y="2194560"/>
            <a:ext cx="1096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6A00"/>
                </a:solidFill>
                <a:effectLst/>
                <a:uFillTx/>
                <a:latin typeface="Arial"/>
                <a:ea typeface="Arial"/>
              </a:rPr>
              <a:t>Fase 2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8"/>
          <p:cNvSpPr/>
          <p:nvPr/>
        </p:nvSpPr>
        <p:spPr>
          <a:xfrm>
            <a:off x="1737360" y="2194560"/>
            <a:ext cx="4114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Lingshu Brazilian radiology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9"/>
          <p:cNvSpPr/>
          <p:nvPr/>
        </p:nvSpPr>
        <p:spPr>
          <a:xfrm>
            <a:off x="6035040" y="2194560"/>
            <a:ext cx="1371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6 meses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0"/>
          <p:cNvSpPr/>
          <p:nvPr/>
        </p:nvSpPr>
        <p:spPr>
          <a:xfrm>
            <a:off x="7498080" y="2194560"/>
            <a:ext cx="4114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A8E8"/>
                </a:solidFill>
                <a:effectLst/>
                <a:uFillTx/>
                <a:latin typeface="Arial"/>
                <a:ea typeface="Arial"/>
              </a:rPr>
              <a:t>Melhor RX do mundo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1"/>
          <p:cNvSpPr/>
          <p:nvPr/>
        </p:nvSpPr>
        <p:spPr>
          <a:xfrm>
            <a:off x="548640" y="2926080"/>
            <a:ext cx="1096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6A00"/>
                </a:solidFill>
                <a:effectLst/>
                <a:uFillTx/>
                <a:latin typeface="Arial"/>
                <a:ea typeface="Arial"/>
              </a:rPr>
              <a:t>Fase 3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2"/>
          <p:cNvSpPr/>
          <p:nvPr/>
        </p:nvSpPr>
        <p:spPr>
          <a:xfrm>
            <a:off x="1737360" y="2926080"/>
            <a:ext cx="4114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Dedicated Qwen Medical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3"/>
          <p:cNvSpPr/>
          <p:nvPr/>
        </p:nvSpPr>
        <p:spPr>
          <a:xfrm>
            <a:off x="6035040" y="2926080"/>
            <a:ext cx="1371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12 meses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4"/>
          <p:cNvSpPr/>
          <p:nvPr/>
        </p:nvSpPr>
        <p:spPr>
          <a:xfrm>
            <a:off x="7498080" y="2926080"/>
            <a:ext cx="4114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A8E8"/>
                </a:solidFill>
                <a:effectLst/>
                <a:uFillTx/>
                <a:latin typeface="Arial"/>
                <a:ea typeface="Arial"/>
              </a:rPr>
              <a:t>Compete with MedGemma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5"/>
          <p:cNvSpPr/>
          <p:nvPr/>
        </p:nvSpPr>
        <p:spPr>
          <a:xfrm>
            <a:off x="548640" y="3657600"/>
            <a:ext cx="1096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6A00"/>
                </a:solidFill>
                <a:effectLst/>
                <a:uFillTx/>
                <a:latin typeface="Arial"/>
                <a:ea typeface="Arial"/>
              </a:rPr>
              <a:t>Fase 4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6"/>
          <p:cNvSpPr/>
          <p:nvPr/>
        </p:nvSpPr>
        <p:spPr>
          <a:xfrm>
            <a:off x="1737360" y="3657600"/>
            <a:ext cx="4114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 Brazil presence (SP)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7"/>
          <p:cNvSpPr/>
          <p:nvPr/>
        </p:nvSpPr>
        <p:spPr>
          <a:xfrm>
            <a:off x="6035040" y="3657600"/>
            <a:ext cx="1371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3 meses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8"/>
          <p:cNvSpPr/>
          <p:nvPr/>
        </p:nvSpPr>
        <p:spPr>
          <a:xfrm>
            <a:off x="7498080" y="3657600"/>
            <a:ext cx="4114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A8E8"/>
                </a:solidFill>
                <a:effectLst/>
                <a:uFillTx/>
                <a:latin typeface="Arial"/>
                <a:ea typeface="Arial"/>
              </a:rPr>
              <a:t>Latency &lt;15s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9"/>
          <p:cNvSpPr/>
          <p:nvPr/>
        </p:nvSpPr>
        <p:spPr>
          <a:xfrm>
            <a:off x="548640" y="4389120"/>
            <a:ext cx="1096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6A00"/>
                </a:solidFill>
                <a:effectLst/>
                <a:uFillTx/>
                <a:latin typeface="Arial"/>
                <a:ea typeface="Arial"/>
              </a:rPr>
              <a:t>Fase 5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0"/>
          <p:cNvSpPr/>
          <p:nvPr/>
        </p:nvSpPr>
        <p:spPr>
          <a:xfrm>
            <a:off x="1737360" y="4389120"/>
            <a:ext cx="4114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Validation program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21"/>
          <p:cNvSpPr/>
          <p:nvPr/>
        </p:nvSpPr>
        <p:spPr>
          <a:xfrm>
            <a:off x="6035040" y="4389120"/>
            <a:ext cx="1371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6B7280"/>
                </a:solidFill>
                <a:effectLst/>
                <a:uFillTx/>
                <a:latin typeface="Arial"/>
                <a:ea typeface="Arial"/>
              </a:rPr>
              <a:t>12 meses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2"/>
          <p:cNvSpPr/>
          <p:nvPr/>
        </p:nvSpPr>
        <p:spPr>
          <a:xfrm>
            <a:off x="7498080" y="4389120"/>
            <a:ext cx="4114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A8E8"/>
                </a:solidFill>
                <a:effectLst/>
                <a:uFillTx/>
                <a:latin typeface="Arial"/>
                <a:ea typeface="Arial"/>
              </a:rPr>
              <a:t>Published study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23"/>
          <p:cNvSpPr/>
          <p:nvPr/>
        </p:nvSpPr>
        <p:spPr>
          <a:xfrm>
            <a:off x="548640" y="5486400"/>
            <a:ext cx="11091600" cy="360"/>
          </a:xfrm>
          <a:prstGeom prst="line">
            <a:avLst/>
          </a:prstGeom>
          <a:ln w="9525">
            <a:solidFill>
              <a:srgbClr val="E5E7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4"/>
          <p:cNvSpPr/>
          <p:nvPr/>
        </p:nvSpPr>
        <p:spPr>
          <a:xfrm>
            <a:off x="548640" y="5669280"/>
            <a:ext cx="7314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A4A"/>
                </a:solidFill>
                <a:effectLst/>
                <a:uFillTx/>
                <a:latin typeface="Arial"/>
                <a:ea typeface="Arial"/>
              </a:rPr>
              <a:t>Matheus Feijão · WhatsApp +55 11 92507-9058 · matheus@beanstech.com.br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LibreOffice/26.2.5.2$Linux_X86_64 LibreOffice_project/6d2b0d33fb0f5da53a12f98bed3e9973e56ff1f0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2026-09-18T16:56:04Z</dcterms:created>
  <dc:creator>BeansTech</dc:creator>
  <dc:description/>
  <dc:language>pt-BR</dc:language>
  <cp:lastModifiedBy/>
  <dcterms:modified xsi:type="dcterms:W3CDTF">2026-09-18T17:20:03Z</dcterms:modified>
  <cp:revision>2</cp:revision>
  <dc:subject>PptxGenJS Presentation</dc:subject>
  <dc:title>Qwen 3.8-Max in Medicine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On-screen Show (16:9)</vt:lpwstr>
  </property>
  <property fmtid="{D5CDD505-2E9C-101B-9397-08002B2CF9AE}" pid="4" name="Slides">
    <vt:i4>10</vt:i4>
  </property>
</Properties>
</file>