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Traditional (inland multi-hop)</c:v>
                </c:pt>
              </c:strCache>
            </c:strRef>
          </c:tx>
          <c:spPr>
            <a:solidFill>
              <a:srgbClr val="2E6FAF"/>
            </a:solidFill>
            <a:effectLst/>
          </c:spPr>
          <c:invertIfNegative val="0"/>
          <c:dLbls>
            <c:numFmt formatCode="0&quot;ms&quot;" sourceLinked="0"/>
            <c:txPr>
              <a:bodyPr/>
              <a:lstStyle/>
              <a:p>
                <a:pPr>
                  <a:defRPr b="0" i="0" strike="noStrike" sz="1200" u="none">
                    <a:solidFill>
                      <a:srgbClr val="0A1F2E"/>
                    </a:solidFill>
                    <a:latin typeface="Helvetica Neue"/>
                  </a:defRPr>
                </a:pPr>
              </a:p>
            </c:txPr>
            <c:showLegendKey val="0"/>
            <c:showVal val="1"/>
            <c:showCatName val="0"/>
            <c:showSerName val="0"/>
            <c:showPercent val="0"/>
            <c:showBubbleSize val="0"/>
            <c:showLeaderLines val="0"/>
          </c:dLbls>
          <c:cat>
            <c:multiLvlStrRef>
              <c:f>Sheet1!$A$2:$A$4</c:f>
              <c:multiLvlStrCache>
                <c:ptCount val="3"/>
                <c:lvl>
                  <c:pt idx="0">
                    <c:v>US East</c:v>
                  </c:pt>
                  <c:pt idx="1">
                    <c:v>Europe</c:v>
                  </c:pt>
                  <c:pt idx="2">
                    <c:v>Intra-LATAM</c:v>
                  </c:pt>
                </c:lvl>
              </c:multiLvlStrCache>
            </c:multiLvlStrRef>
          </c:cat>
          <c:val>
            <c:numRef>
              <c:f>Sheet1!$B$2:$B$4</c:f>
              <c:numCache>
                <c:formatCode>General</c:formatCode>
                <c:ptCount val="3"/>
                <c:pt idx="0">
                  <c:v>122</c:v>
                </c:pt>
                <c:pt idx="1">
                  <c:v>145</c:v>
                </c:pt>
                <c:pt idx="2">
                  <c:v>60</c:v>
                </c:pt>
              </c:numCache>
            </c:numRef>
          </c:val>
        </c:ser>
        <c:ser>
          <c:idx val="1"/>
          <c:order val="1"/>
          <c:tx>
            <c:strRef>
              <c:f>Sheet1!$C$1</c:f>
              <c:strCache>
                <c:ptCount val="1"/>
                <c:pt idx="0">
                  <c:v>ZPE Caucaia (direct subsea)</c:v>
                </c:pt>
              </c:strCache>
            </c:strRef>
          </c:tx>
          <c:spPr>
            <a:solidFill>
              <a:srgbClr val="00B8A9"/>
            </a:solidFill>
            <a:effectLst/>
          </c:spPr>
          <c:invertIfNegative val="0"/>
          <c:dLbls>
            <c:numFmt formatCode="0&quot;ms&quot;" sourceLinked="0"/>
            <c:txPr>
              <a:bodyPr/>
              <a:lstStyle/>
              <a:p>
                <a:pPr>
                  <a:defRPr b="0" i="0" strike="noStrike" sz="1200" u="none">
                    <a:solidFill>
                      <a:srgbClr val="0A1F2E"/>
                    </a:solidFill>
                    <a:latin typeface="Helvetica Neue"/>
                  </a:defRPr>
                </a:pPr>
              </a:p>
            </c:txPr>
            <c:showLegendKey val="0"/>
            <c:showVal val="1"/>
            <c:showCatName val="0"/>
            <c:showSerName val="0"/>
            <c:showPercent val="0"/>
            <c:showBubbleSize val="0"/>
            <c:showLeaderLines val="0"/>
          </c:dLbls>
          <c:cat>
            <c:multiLvlStrRef>
              <c:f>Sheet1!$A$2:$A$4</c:f>
              <c:multiLvlStrCache>
                <c:ptCount val="3"/>
                <c:lvl>
                  <c:pt idx="0">
                    <c:v>US East</c:v>
                  </c:pt>
                  <c:pt idx="1">
                    <c:v>Europe</c:v>
                  </c:pt>
                  <c:pt idx="2">
                    <c:v>Intra-LATAM</c:v>
                  </c:pt>
                </c:lvl>
              </c:multiLvlStrCache>
            </c:multiLvlStrRef>
          </c:cat>
          <c:val>
            <c:numRef>
              <c:f>Sheet1!$C$2:$C$4</c:f>
              <c:numCache>
                <c:formatCode>General</c:formatCode>
                <c:ptCount val="3"/>
                <c:pt idx="0">
                  <c:v>62</c:v>
                </c:pt>
                <c:pt idx="1">
                  <c:v>61</c:v>
                </c:pt>
                <c:pt idx="2">
                  <c:v>21</c:v>
                </c:pt>
              </c:numCache>
            </c:numRef>
          </c:val>
        </c:ser>
        <c:dLbls>
          <c:numFmt formatCode="0&quot;ms&quot;" sourceLinked="0"/>
          <c:txPr>
            <a:bodyPr/>
            <a:lstStyle/>
            <a:p>
              <a:pPr>
                <a:defRPr b="0" i="0" strike="noStrike" sz="1200" u="none">
                  <a:solidFill>
                    <a:srgbClr val="0A1F2E"/>
                  </a:solidFill>
                  <a:latin typeface="Helvetica Neue"/>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A"/>
                </a:solidFill>
                <a:latin typeface="Helvetica Neue"/>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C8D5DC"/>
              </a:solidFill>
              <a:prstDash val="solid"/>
              <a:round/>
            </a:ln>
          </c:spPr>
        </c:majorGridlines>
        <c:title>
          <c:tx>
            <c:rich>
              <a:bodyPr/>
              <a:lstStyle/>
              <a:p>
                <a:pPr>
                  <a:defRPr sz="900" b="0" i="0" u="none" strike="noStrike">
                    <a:solidFill>
                      <a:srgbClr val="5A6B7A"/>
                    </a:solidFill>
                    <a:latin typeface="Arial"/>
                  </a:defRPr>
                </a:pPr>
                <a:r>
                  <a:rPr sz="900" b="0" i="0" u="none" strike="noStrike">
                    <a:solidFill>
                      <a:srgbClr val="5A6B7A"/>
                    </a:solidFill>
                    <a:latin typeface="Arial"/>
                  </a:rPr>
                  <a:t>Round-trip latency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A"/>
                </a:solidFill>
                <a:latin typeface="Helvetica Neue"/>
              </a:defRPr>
            </a:pPr>
            <a:endParaRPr lang="en-US"/>
          </a:p>
        </c:txPr>
        <c:crossAx val="2094734554"/>
        <c:crosses val="autoZero"/>
        <c:crossBetween val="between"/>
      </c:valAx>
      <c:spPr>
        <a:noFill/>
        <a:ln>
          <a:noFill/>
        </a:ln>
        <a:effectLst/>
      </c:spPr>
    </c:plotArea>
    <c:legend>
      <c:legendPos val="b"/>
      <c:overlay val="0"/>
      <c:txPr>
        <a:bodyPr/>
        <a:lstStyle/>
        <a:p>
          <a:pPr>
            <a:defRPr>
              <a:solidFill>
                <a:srgbClr val="5A6B7A"/>
              </a:solidFill>
              <a:latin typeface="Helvetica Neue"/>
              <a:cs typeface="Helvetica Neue"/>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Annual Revenue (US$M)</c:v>
                </c:pt>
              </c:strCache>
            </c:strRef>
          </c:tx>
          <c:spPr>
            <a:solidFill>
              <a:srgbClr val="00B8A9"/>
            </a:solidFill>
            <a:effectLst/>
          </c:spPr>
          <c:invertIfNegative val="0"/>
          <c:dLbls>
            <c:numFmt formatCode="$#,##0&quot;M&quot;" sourceLinked="0"/>
            <c:txPr>
              <a:bodyPr/>
              <a:lstStyle/>
              <a:p>
                <a:pPr>
                  <a:defRPr b="0" i="0" strike="noStrike" sz="1200" u="none">
                    <a:solidFill>
                      <a:srgbClr val="0A1F2E"/>
                    </a:solidFill>
                    <a:latin typeface="Helvetica Neue"/>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18</c:v>
                </c:pt>
                <c:pt idx="1">
                  <c:v>72</c:v>
                </c:pt>
                <c:pt idx="2">
                  <c:v>160</c:v>
                </c:pt>
                <c:pt idx="3">
                  <c:v>310</c:v>
                </c:pt>
                <c:pt idx="4">
                  <c:v>480</c:v>
                </c:pt>
              </c:numCache>
            </c:numRef>
          </c:val>
        </c:ser>
        <c:dLbls>
          <c:numFmt formatCode="$#,##0&quot;M&quot;" sourceLinked="0"/>
          <c:txPr>
            <a:bodyPr/>
            <a:lstStyle/>
            <a:p>
              <a:pPr>
                <a:defRPr b="0" i="0" strike="noStrike" sz="1200" u="none">
                  <a:solidFill>
                    <a:srgbClr val="0A1F2E"/>
                  </a:solidFill>
                  <a:latin typeface="Helvetica Neu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A"/>
                </a:solidFill>
                <a:latin typeface="Helvetica Neue"/>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C8D5DC"/>
              </a:solidFill>
              <a:prstDash val="solid"/>
              <a:round/>
            </a:ln>
          </c:spPr>
        </c:majorGridlines>
        <c:title>
          <c:tx>
            <c:rich>
              <a:bodyPr/>
              <a:lstStyle/>
              <a:p>
                <a:pPr>
                  <a:defRPr sz="900" b="0" i="0" u="none" strike="noStrike">
                    <a:solidFill>
                      <a:srgbClr val="5A6B7A"/>
                    </a:solidFill>
                    <a:latin typeface="Arial"/>
                  </a:defRPr>
                </a:pPr>
                <a:r>
                  <a:rPr sz="900" b="0" i="0" u="none" strike="noStrike">
                    <a:solidFill>
                      <a:srgbClr val="5A6B7A"/>
                    </a:solidFill>
                    <a:latin typeface="Arial"/>
                  </a:rPr>
                  <a:t>Revenue (US$ millions)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A"/>
                </a:solidFill>
                <a:latin typeface="Helvetica Neue"/>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2E"/>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F2E"/>
          </a:solidFill>
          <a:ln w="12700">
            <a:solidFill>
              <a:srgbClr val="0A1F2E"/>
            </a:solidFill>
            <a:prstDash val="solid"/>
          </a:ln>
        </p:spPr>
      </p:sp>
      <p:sp>
        <p:nvSpPr>
          <p:cNvPr id="3" name="Shape 1"/>
          <p:cNvSpPr/>
          <p:nvPr/>
        </p:nvSpPr>
        <p:spPr>
          <a:xfrm>
            <a:off x="9811512" y="457200"/>
            <a:ext cx="1645920" cy="1645920"/>
          </a:xfrm>
          <a:prstGeom prst="ellipse">
            <a:avLst/>
          </a:prstGeom>
          <a:solidFill>
            <a:srgbClr val="0A1F2E">
              <a:alpha val="0"/>
            </a:srgbClr>
          </a:solidFill>
          <a:ln w="25400">
            <a:solidFill>
              <a:srgbClr val="00B8A9"/>
            </a:solidFill>
            <a:prstDash val="solid"/>
          </a:ln>
        </p:spPr>
      </p:sp>
      <p:sp>
        <p:nvSpPr>
          <p:cNvPr id="4" name="Shape 2"/>
          <p:cNvSpPr/>
          <p:nvPr/>
        </p:nvSpPr>
        <p:spPr>
          <a:xfrm>
            <a:off x="10085832" y="731520"/>
            <a:ext cx="1097280" cy="1097280"/>
          </a:xfrm>
          <a:prstGeom prst="ellipse">
            <a:avLst/>
          </a:prstGeom>
          <a:solidFill>
            <a:srgbClr val="0A1F2E">
              <a:alpha val="0"/>
            </a:srgbClr>
          </a:solidFill>
          <a:ln w="12700">
            <a:solidFill>
              <a:srgbClr val="00B8A9"/>
            </a:solidFill>
            <a:prstDash val="solid"/>
          </a:ln>
        </p:spPr>
      </p:sp>
      <p:sp>
        <p:nvSpPr>
          <p:cNvPr id="5" name="Text 3"/>
          <p:cNvSpPr/>
          <p:nvPr/>
        </p:nvSpPr>
        <p:spPr>
          <a:xfrm>
            <a:off x="10085832" y="731520"/>
            <a:ext cx="1097280" cy="1097280"/>
          </a:xfrm>
          <a:prstGeom prst="rect">
            <a:avLst/>
          </a:prstGeom>
          <a:noFill/>
          <a:ln/>
        </p:spPr>
        <p:txBody>
          <a:bodyPr wrap="square" lIns="0" tIns="0" rIns="0" bIns="0" rtlCol="0" anchor="ctr"/>
          <a:lstStyle/>
          <a:p>
            <a:pPr algn="ctr" indent="0" marL="0">
              <a:buNone/>
            </a:pPr>
            <a:r>
              <a:rPr lang="en-US" sz="3600" b="1" dirty="0">
                <a:solidFill>
                  <a:srgbClr val="00B8A9"/>
                </a:solidFill>
                <a:latin typeface="Helvetica Neue" pitchFamily="34" charset="0"/>
                <a:ea typeface="Helvetica Neue" pitchFamily="34" charset="-122"/>
                <a:cs typeface="Helvetica Neue" pitchFamily="34" charset="-120"/>
              </a:rPr>
              <a:t>hy</a:t>
            </a:r>
            <a:endParaRPr lang="en-US" sz="3600" dirty="0"/>
          </a:p>
        </p:txBody>
      </p:sp>
      <p:sp>
        <p:nvSpPr>
          <p:cNvPr id="6" name="Text 4"/>
          <p:cNvSpPr/>
          <p:nvPr/>
        </p:nvSpPr>
        <p:spPr>
          <a:xfrm>
            <a:off x="502920" y="1463040"/>
            <a:ext cx="7315200" cy="457200"/>
          </a:xfrm>
          <a:prstGeom prst="rect">
            <a:avLst/>
          </a:prstGeom>
          <a:noFill/>
          <a:ln/>
        </p:spPr>
        <p:txBody>
          <a:bodyPr wrap="square" lIns="0" tIns="0" rIns="0" bIns="0" rtlCol="0" anchor="ctr"/>
          <a:lstStyle/>
          <a:p>
            <a:pPr indent="0" marL="0">
              <a:buNone/>
            </a:pPr>
            <a:r>
              <a:rPr lang="en-US" sz="1600" b="1" spc="400" kern="0" dirty="0">
                <a:solidFill>
                  <a:srgbClr val="00B8A9"/>
                </a:solidFill>
                <a:latin typeface="Helvetica Neue" pitchFamily="34" charset="0"/>
                <a:ea typeface="Helvetica Neue" pitchFamily="34" charset="-122"/>
                <a:cs typeface="Helvetica Neue" pitchFamily="34" charset="-120"/>
              </a:rPr>
              <a:t>BEANSTECH  ×  TENCENT CLOUD</a:t>
            </a:r>
            <a:endParaRPr lang="en-US" sz="1600" dirty="0"/>
          </a:p>
        </p:txBody>
      </p:sp>
      <p:sp>
        <p:nvSpPr>
          <p:cNvPr id="7" name="Text 5"/>
          <p:cNvSpPr/>
          <p:nvPr/>
        </p:nvSpPr>
        <p:spPr>
          <a:xfrm>
            <a:off x="502920" y="2011680"/>
            <a:ext cx="8686800" cy="201168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Helvetica Neue" pitchFamily="34" charset="0"/>
                <a:ea typeface="Helvetica Neue" pitchFamily="34" charset="-122"/>
                <a:cs typeface="Helvetica Neue" pitchFamily="34" charset="-120"/>
              </a:rPr>
              <a:t>Sovereign AI Ecosystem</a:t>
            </a:r>
            <a:endParaRPr lang="en-US" sz="4400" dirty="0"/>
          </a:p>
          <a:p>
            <a:pPr indent="0" marL="0">
              <a:lnSpc>
                <a:spcPts val="5000"/>
              </a:lnSpc>
              <a:buNone/>
            </a:pPr>
            <a:r>
              <a:rPr lang="en-US" sz="4400" b="1" dirty="0">
                <a:solidFill>
                  <a:srgbClr val="FFFFFF"/>
                </a:solidFill>
                <a:latin typeface="Helvetica Neue" pitchFamily="34" charset="0"/>
                <a:ea typeface="Helvetica Neue" pitchFamily="34" charset="-122"/>
                <a:cs typeface="Helvetica Neue" pitchFamily="34" charset="-120"/>
              </a:rPr>
              <a:t>&amp; LATAM Latency Optimization</a:t>
            </a:r>
            <a:endParaRPr lang="en-US" sz="4400" dirty="0"/>
          </a:p>
        </p:txBody>
      </p:sp>
      <p:sp>
        <p:nvSpPr>
          <p:cNvPr id="8" name="Text 6"/>
          <p:cNvSpPr/>
          <p:nvPr/>
        </p:nvSpPr>
        <p:spPr>
          <a:xfrm>
            <a:off x="502920" y="4023360"/>
            <a:ext cx="8229600" cy="1097280"/>
          </a:xfrm>
          <a:prstGeom prst="rect">
            <a:avLst/>
          </a:prstGeom>
          <a:noFill/>
          <a:ln/>
        </p:spPr>
        <p:txBody>
          <a:bodyPr wrap="square" lIns="0" tIns="0" rIns="0" bIns="0" rtlCol="0" anchor="ctr"/>
          <a:lstStyle/>
          <a:p>
            <a:pPr indent="0" marL="0">
              <a:lnSpc>
                <a:spcPts val="1800"/>
              </a:lnSpc>
              <a:buNone/>
            </a:pPr>
            <a:r>
              <a:rPr lang="en-US" sz="1300" dirty="0">
                <a:solidFill>
                  <a:srgbClr val="B0C8D8"/>
                </a:solidFill>
                <a:latin typeface="Georgia" pitchFamily="34" charset="0"/>
                <a:ea typeface="Georgia" pitchFamily="34" charset="-122"/>
                <a:cs typeface="Georgia" pitchFamily="34" charset="-120"/>
              </a:rPr>
              <a:t>The world's largest sovereign, carbon-free cloud ecosystem — merging Beans Tech's regulated AI verticals with hy.cloud's autonomous infrastructure blueprint and Tencent's Hunyuan compute architecture.</a:t>
            </a:r>
            <a:endParaRPr lang="en-US" sz="1300" dirty="0"/>
          </a:p>
        </p:txBody>
      </p:sp>
      <p:sp>
        <p:nvSpPr>
          <p:cNvPr id="9" name="Shape 7"/>
          <p:cNvSpPr/>
          <p:nvPr/>
        </p:nvSpPr>
        <p:spPr>
          <a:xfrm>
            <a:off x="502920" y="5212080"/>
            <a:ext cx="2743200" cy="0"/>
          </a:xfrm>
          <a:prstGeom prst="line">
            <a:avLst/>
          </a:prstGeom>
          <a:noFill/>
          <a:ln w="25400">
            <a:solidFill>
              <a:srgbClr val="D4A843"/>
            </a:solidFill>
            <a:prstDash val="solid"/>
          </a:ln>
        </p:spPr>
      </p:sp>
      <p:sp>
        <p:nvSpPr>
          <p:cNvPr id="10" name="Text 8"/>
          <p:cNvSpPr/>
          <p:nvPr/>
        </p:nvSpPr>
        <p:spPr>
          <a:xfrm>
            <a:off x="502920" y="5394960"/>
            <a:ext cx="5486400" cy="914400"/>
          </a:xfrm>
          <a:prstGeom prst="rect">
            <a:avLst/>
          </a:prstGeom>
          <a:noFill/>
          <a:ln/>
        </p:spPr>
        <p:txBody>
          <a:bodyPr wrap="square" lIns="0" tIns="0" rIns="0" bIns="0" rtlCol="0" anchor="ctr"/>
          <a:lstStyle/>
          <a:p>
            <a:pPr indent="0" marL="0">
              <a:buNone/>
            </a:pPr>
            <a:r>
              <a:rPr lang="en-US" sz="2600" b="1" dirty="0">
                <a:solidFill>
                  <a:srgbClr val="E8C847"/>
                </a:solidFill>
                <a:latin typeface="Helvetica Neue" pitchFamily="34" charset="0"/>
                <a:ea typeface="Helvetica Neue" pitchFamily="34" charset="-122"/>
                <a:cs typeface="Helvetica Neue" pitchFamily="34" charset="-120"/>
              </a:rPr>
              <a:t>US$ 350,000,000</a:t>
            </a:r>
            <a:endParaRPr lang="en-US" sz="2600" dirty="0"/>
          </a:p>
          <a:p>
            <a:pPr indent="0" marL="0">
              <a:buNone/>
            </a:pPr>
            <a:r>
              <a:rPr lang="en-US" sz="1100" dirty="0">
                <a:solidFill>
                  <a:srgbClr val="8FC0D0"/>
                </a:solidFill>
                <a:latin typeface="Helvetica Neue" pitchFamily="34" charset="0"/>
                <a:ea typeface="Helvetica Neue" pitchFamily="34" charset="-122"/>
                <a:cs typeface="Helvetica Neue" pitchFamily="34" charset="-120"/>
              </a:rPr>
              <a:t>Initial Capital Intake</a:t>
            </a:r>
            <a:endParaRPr lang="en-US" sz="2600" dirty="0"/>
          </a:p>
        </p:txBody>
      </p:sp>
      <p:sp>
        <p:nvSpPr>
          <p:cNvPr id="11" name="Text 9"/>
          <p:cNvSpPr/>
          <p:nvPr/>
        </p:nvSpPr>
        <p:spPr>
          <a:xfrm>
            <a:off x="7571232" y="5394960"/>
            <a:ext cx="4114800" cy="822960"/>
          </a:xfrm>
          <a:prstGeom prst="rect">
            <a:avLst/>
          </a:prstGeom>
          <a:noFill/>
          <a:ln/>
        </p:spPr>
        <p:txBody>
          <a:bodyPr wrap="square" lIns="0" tIns="0" rIns="0" bIns="0" rtlCol="0" anchor="ctr"/>
          <a:lstStyle/>
          <a:p>
            <a:pPr algn="r" indent="0" marL="0">
              <a:lnSpc>
                <a:spcPts val="1400"/>
              </a:lnSpc>
              <a:buNone/>
            </a:pPr>
            <a:r>
              <a:rPr lang="en-US" sz="900" dirty="0">
                <a:solidFill>
                  <a:srgbClr val="6B9BB0"/>
                </a:solidFill>
                <a:latin typeface="Helvetica Neue" pitchFamily="34" charset="0"/>
                <a:ea typeface="Helvetica Neue" pitchFamily="34" charset="-122"/>
                <a:cs typeface="Helvetica Neue" pitchFamily="34" charset="-120"/>
              </a:rPr>
              <a:t>Matheus Ximenes · Founder &amp; CEO</a:t>
            </a:r>
            <a:endParaRPr lang="en-US" sz="900" dirty="0"/>
          </a:p>
          <a:p>
            <a:pPr algn="r" indent="0" marL="0">
              <a:lnSpc>
                <a:spcPts val="1400"/>
              </a:lnSpc>
              <a:buNone/>
            </a:pPr>
            <a:r>
              <a:rPr lang="en-US" sz="900" dirty="0">
                <a:solidFill>
                  <a:srgbClr val="6B9BB0"/>
                </a:solidFill>
                <a:latin typeface="Helvetica Neue" pitchFamily="34" charset="0"/>
                <a:ea typeface="Helvetica Neue" pitchFamily="34" charset="-122"/>
                <a:cs typeface="Helvetica Neue" pitchFamily="34" charset="-120"/>
              </a:rPr>
              <a:t>Attorney · Postgraduate in Cloud Computing &amp; Data Protection</a:t>
            </a:r>
            <a:endParaRPr lang="en-US" sz="900" dirty="0"/>
          </a:p>
          <a:p>
            <a:pPr algn="r" indent="0" marL="0">
              <a:lnSpc>
                <a:spcPts val="1400"/>
              </a:lnSpc>
              <a:buNone/>
            </a:pPr>
            <a:r>
              <a:rPr lang="en-US" sz="900" dirty="0">
                <a:solidFill>
                  <a:srgbClr val="6B9BB0"/>
                </a:solidFill>
                <a:latin typeface="Helvetica Neue" pitchFamily="34" charset="0"/>
                <a:ea typeface="Helvetica Neue" pitchFamily="34" charset="-122"/>
                <a:cs typeface="Helvetica Neue" pitchFamily="34" charset="-120"/>
              </a:rPr>
              <a:t>September 2026 · São Paulo, Brazil</a:t>
            </a:r>
            <a:endParaRPr lang="en-US" sz="900" dirty="0"/>
          </a:p>
        </p:txBody>
      </p:sp>
      <p:sp>
        <p:nvSpPr>
          <p:cNvPr id="12" name="Text 10"/>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6B9BB0"/>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3" name="Text 11"/>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6B9BB0"/>
                </a:solidFill>
                <a:latin typeface="Helvetica Neue" pitchFamily="34" charset="0"/>
                <a:ea typeface="Helvetica Neue" pitchFamily="34" charset="-122"/>
                <a:cs typeface="Helvetica Neue"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Executive Summary</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A production-ready sovereign AI platform with immediate market penetration into regulated sectors</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Shape 3"/>
          <p:cNvSpPr/>
          <p:nvPr/>
        </p:nvSpPr>
        <p:spPr>
          <a:xfrm>
            <a:off x="502920" y="1554480"/>
            <a:ext cx="2011680" cy="1188720"/>
          </a:xfrm>
          <a:prstGeom prst="rect">
            <a:avLst/>
          </a:prstGeom>
          <a:solidFill>
            <a:srgbClr val="F0F5F7"/>
          </a:solidFill>
          <a:ln w="12700">
            <a:solidFill>
              <a:srgbClr val="C8D5DC"/>
            </a:solidFill>
            <a:prstDash val="solid"/>
          </a:ln>
        </p:spPr>
      </p:sp>
      <p:sp>
        <p:nvSpPr>
          <p:cNvPr id="6" name="Text 4"/>
          <p:cNvSpPr/>
          <p:nvPr/>
        </p:nvSpPr>
        <p:spPr>
          <a:xfrm>
            <a:off x="502920" y="1627632"/>
            <a:ext cx="2011680" cy="548640"/>
          </a:xfrm>
          <a:prstGeom prst="rect">
            <a:avLst/>
          </a:prstGeom>
          <a:noFill/>
          <a:ln/>
        </p:spPr>
        <p:txBody>
          <a:bodyPr wrap="square" lIns="0" tIns="0" rIns="0" bIns="0" rtlCol="0" anchor="ctr"/>
          <a:lstStyle/>
          <a:p>
            <a:pPr algn="ctr" indent="0" marL="0">
              <a:buNone/>
            </a:pPr>
            <a:r>
              <a:rPr lang="en-US" sz="2200" b="1" dirty="0">
                <a:solidFill>
                  <a:srgbClr val="0A1F2E"/>
                </a:solidFill>
                <a:latin typeface="Helvetica Neue" pitchFamily="34" charset="0"/>
                <a:ea typeface="Helvetica Neue" pitchFamily="34" charset="-122"/>
                <a:cs typeface="Helvetica Neue" pitchFamily="34" charset="-120"/>
              </a:rPr>
              <a:t>US$ 350M</a:t>
            </a:r>
            <a:endParaRPr lang="en-US" sz="2200" dirty="0"/>
          </a:p>
        </p:txBody>
      </p:sp>
      <p:sp>
        <p:nvSpPr>
          <p:cNvPr id="7" name="Text 5"/>
          <p:cNvSpPr/>
          <p:nvPr/>
        </p:nvSpPr>
        <p:spPr>
          <a:xfrm>
            <a:off x="502920" y="2176272"/>
            <a:ext cx="2011680" cy="457200"/>
          </a:xfrm>
          <a:prstGeom prst="rect">
            <a:avLst/>
          </a:prstGeom>
          <a:noFill/>
          <a:ln/>
        </p:spPr>
        <p:txBody>
          <a:bodyPr wrap="square" lIns="0" tIns="0" rIns="0" bIns="0" rtlCol="0" anchor="ctr"/>
          <a:lstStyle/>
          <a:p>
            <a:pPr algn="ctr" indent="0" marL="0">
              <a:buNone/>
            </a:pPr>
            <a:r>
              <a:rPr lang="en-US" sz="850" spc="100" kern="0" dirty="0">
                <a:solidFill>
                  <a:srgbClr val="5A6B7A"/>
                </a:solidFill>
                <a:latin typeface="Helvetica Neue" pitchFamily="34" charset="0"/>
                <a:ea typeface="Helvetica Neue" pitchFamily="34" charset="-122"/>
                <a:cs typeface="Helvetica Neue" pitchFamily="34" charset="-120"/>
              </a:rPr>
              <a:t>Capital Intake</a:t>
            </a:r>
            <a:endParaRPr lang="en-US" sz="850" dirty="0"/>
          </a:p>
        </p:txBody>
      </p:sp>
      <p:sp>
        <p:nvSpPr>
          <p:cNvPr id="8" name="Shape 6"/>
          <p:cNvSpPr/>
          <p:nvPr/>
        </p:nvSpPr>
        <p:spPr>
          <a:xfrm>
            <a:off x="2715768" y="1554480"/>
            <a:ext cx="2011680" cy="1188720"/>
          </a:xfrm>
          <a:prstGeom prst="rect">
            <a:avLst/>
          </a:prstGeom>
          <a:solidFill>
            <a:srgbClr val="F0F5F7"/>
          </a:solidFill>
          <a:ln w="12700">
            <a:solidFill>
              <a:srgbClr val="C8D5DC"/>
            </a:solidFill>
            <a:prstDash val="solid"/>
          </a:ln>
        </p:spPr>
      </p:sp>
      <p:sp>
        <p:nvSpPr>
          <p:cNvPr id="9" name="Text 7"/>
          <p:cNvSpPr/>
          <p:nvPr/>
        </p:nvSpPr>
        <p:spPr>
          <a:xfrm>
            <a:off x="2715768" y="1627632"/>
            <a:ext cx="2011680" cy="548640"/>
          </a:xfrm>
          <a:prstGeom prst="rect">
            <a:avLst/>
          </a:prstGeom>
          <a:noFill/>
          <a:ln/>
        </p:spPr>
        <p:txBody>
          <a:bodyPr wrap="square" lIns="0" tIns="0" rIns="0" bIns="0" rtlCol="0" anchor="ctr"/>
          <a:lstStyle/>
          <a:p>
            <a:pPr algn="ctr" indent="0" marL="0">
              <a:buNone/>
            </a:pPr>
            <a:r>
              <a:rPr lang="en-US" sz="2200" b="1" dirty="0">
                <a:solidFill>
                  <a:srgbClr val="0A1F2E"/>
                </a:solidFill>
                <a:latin typeface="Helvetica Neue" pitchFamily="34" charset="0"/>
                <a:ea typeface="Helvetica Neue" pitchFamily="34" charset="-122"/>
                <a:cs typeface="Helvetica Neue" pitchFamily="34" charset="-120"/>
              </a:rPr>
              <a:t>4</a:t>
            </a:r>
            <a:endParaRPr lang="en-US" sz="2200" dirty="0"/>
          </a:p>
        </p:txBody>
      </p:sp>
      <p:sp>
        <p:nvSpPr>
          <p:cNvPr id="10" name="Text 8"/>
          <p:cNvSpPr/>
          <p:nvPr/>
        </p:nvSpPr>
        <p:spPr>
          <a:xfrm>
            <a:off x="2715768" y="2176272"/>
            <a:ext cx="2011680" cy="457200"/>
          </a:xfrm>
          <a:prstGeom prst="rect">
            <a:avLst/>
          </a:prstGeom>
          <a:noFill/>
          <a:ln/>
        </p:spPr>
        <p:txBody>
          <a:bodyPr wrap="square" lIns="0" tIns="0" rIns="0" bIns="0" rtlCol="0" anchor="ctr"/>
          <a:lstStyle/>
          <a:p>
            <a:pPr algn="ctr" indent="0" marL="0">
              <a:buNone/>
            </a:pPr>
            <a:r>
              <a:rPr lang="en-US" sz="850" spc="100" kern="0" dirty="0">
                <a:solidFill>
                  <a:srgbClr val="5A6B7A"/>
                </a:solidFill>
                <a:latin typeface="Helvetica Neue" pitchFamily="34" charset="0"/>
                <a:ea typeface="Helvetica Neue" pitchFamily="34" charset="-122"/>
                <a:cs typeface="Helvetica Neue" pitchFamily="34" charset="-120"/>
              </a:rPr>
              <a:t>AI Verticals (Regulated)</a:t>
            </a:r>
            <a:endParaRPr lang="en-US" sz="850" dirty="0"/>
          </a:p>
        </p:txBody>
      </p:sp>
      <p:sp>
        <p:nvSpPr>
          <p:cNvPr id="11" name="Shape 9"/>
          <p:cNvSpPr/>
          <p:nvPr/>
        </p:nvSpPr>
        <p:spPr>
          <a:xfrm>
            <a:off x="4928616" y="1554480"/>
            <a:ext cx="2011680" cy="1188720"/>
          </a:xfrm>
          <a:prstGeom prst="rect">
            <a:avLst/>
          </a:prstGeom>
          <a:solidFill>
            <a:srgbClr val="F0F5F7"/>
          </a:solidFill>
          <a:ln w="12700">
            <a:solidFill>
              <a:srgbClr val="C8D5DC"/>
            </a:solidFill>
            <a:prstDash val="solid"/>
          </a:ln>
        </p:spPr>
      </p:sp>
      <p:sp>
        <p:nvSpPr>
          <p:cNvPr id="12" name="Text 10"/>
          <p:cNvSpPr/>
          <p:nvPr/>
        </p:nvSpPr>
        <p:spPr>
          <a:xfrm>
            <a:off x="4928616" y="1627632"/>
            <a:ext cx="2011680" cy="548640"/>
          </a:xfrm>
          <a:prstGeom prst="rect">
            <a:avLst/>
          </a:prstGeom>
          <a:noFill/>
          <a:ln/>
        </p:spPr>
        <p:txBody>
          <a:bodyPr wrap="square" lIns="0" tIns="0" rIns="0" bIns="0" rtlCol="0" anchor="ctr"/>
          <a:lstStyle/>
          <a:p>
            <a:pPr algn="ctr" indent="0" marL="0">
              <a:buNone/>
            </a:pPr>
            <a:r>
              <a:rPr lang="en-US" sz="2200" b="1" dirty="0">
                <a:solidFill>
                  <a:srgbClr val="0A1F2E"/>
                </a:solidFill>
                <a:latin typeface="Helvetica Neue" pitchFamily="34" charset="0"/>
                <a:ea typeface="Helvetica Neue" pitchFamily="34" charset="-122"/>
                <a:cs typeface="Helvetica Neue" pitchFamily="34" charset="-120"/>
              </a:rPr>
              <a:t>2</a:t>
            </a:r>
            <a:endParaRPr lang="en-US" sz="2200" dirty="0"/>
          </a:p>
        </p:txBody>
      </p:sp>
      <p:sp>
        <p:nvSpPr>
          <p:cNvPr id="13" name="Text 11"/>
          <p:cNvSpPr/>
          <p:nvPr/>
        </p:nvSpPr>
        <p:spPr>
          <a:xfrm>
            <a:off x="4928616" y="2176272"/>
            <a:ext cx="2011680" cy="457200"/>
          </a:xfrm>
          <a:prstGeom prst="rect">
            <a:avLst/>
          </a:prstGeom>
          <a:noFill/>
          <a:ln/>
        </p:spPr>
        <p:txBody>
          <a:bodyPr wrap="square" lIns="0" tIns="0" rIns="0" bIns="0" rtlCol="0" anchor="ctr"/>
          <a:lstStyle/>
          <a:p>
            <a:pPr algn="ctr" indent="0" marL="0">
              <a:buNone/>
            </a:pPr>
            <a:r>
              <a:rPr lang="en-US" sz="850" spc="100" kern="0" dirty="0">
                <a:solidFill>
                  <a:srgbClr val="5A6B7A"/>
                </a:solidFill>
                <a:latin typeface="Helvetica Neue" pitchFamily="34" charset="0"/>
                <a:ea typeface="Helvetica Neue" pitchFamily="34" charset="-122"/>
                <a:cs typeface="Helvetica Neue" pitchFamily="34" charset="-120"/>
              </a:rPr>
              <a:t>Data Centers (Dual-Hub)</a:t>
            </a:r>
            <a:endParaRPr lang="en-US" sz="850" dirty="0"/>
          </a:p>
        </p:txBody>
      </p:sp>
      <p:sp>
        <p:nvSpPr>
          <p:cNvPr id="14" name="Shape 12"/>
          <p:cNvSpPr/>
          <p:nvPr/>
        </p:nvSpPr>
        <p:spPr>
          <a:xfrm>
            <a:off x="7141464" y="1554480"/>
            <a:ext cx="2011680" cy="1188720"/>
          </a:xfrm>
          <a:prstGeom prst="rect">
            <a:avLst/>
          </a:prstGeom>
          <a:solidFill>
            <a:srgbClr val="F0F5F7"/>
          </a:solidFill>
          <a:ln w="12700">
            <a:solidFill>
              <a:srgbClr val="C8D5DC"/>
            </a:solidFill>
            <a:prstDash val="solid"/>
          </a:ln>
        </p:spPr>
      </p:sp>
      <p:sp>
        <p:nvSpPr>
          <p:cNvPr id="15" name="Text 13"/>
          <p:cNvSpPr/>
          <p:nvPr/>
        </p:nvSpPr>
        <p:spPr>
          <a:xfrm>
            <a:off x="7141464" y="1627632"/>
            <a:ext cx="2011680" cy="548640"/>
          </a:xfrm>
          <a:prstGeom prst="rect">
            <a:avLst/>
          </a:prstGeom>
          <a:noFill/>
          <a:ln/>
        </p:spPr>
        <p:txBody>
          <a:bodyPr wrap="square" lIns="0" tIns="0" rIns="0" bIns="0" rtlCol="0" anchor="ctr"/>
          <a:lstStyle/>
          <a:p>
            <a:pPr algn="ctr" indent="0" marL="0">
              <a:buNone/>
            </a:pPr>
            <a:r>
              <a:rPr lang="en-US" sz="2200" b="1" dirty="0">
                <a:solidFill>
                  <a:srgbClr val="0A1F2E"/>
                </a:solidFill>
                <a:latin typeface="Helvetica Neue" pitchFamily="34" charset="0"/>
                <a:ea typeface="Helvetica Neue" pitchFamily="34" charset="-122"/>
                <a:cs typeface="Helvetica Neue" pitchFamily="34" charset="-120"/>
              </a:rPr>
              <a:t>650M</a:t>
            </a:r>
            <a:endParaRPr lang="en-US" sz="2200" dirty="0"/>
          </a:p>
        </p:txBody>
      </p:sp>
      <p:sp>
        <p:nvSpPr>
          <p:cNvPr id="16" name="Text 14"/>
          <p:cNvSpPr/>
          <p:nvPr/>
        </p:nvSpPr>
        <p:spPr>
          <a:xfrm>
            <a:off x="7141464" y="2176272"/>
            <a:ext cx="2011680" cy="457200"/>
          </a:xfrm>
          <a:prstGeom prst="rect">
            <a:avLst/>
          </a:prstGeom>
          <a:noFill/>
          <a:ln/>
        </p:spPr>
        <p:txBody>
          <a:bodyPr wrap="square" lIns="0" tIns="0" rIns="0" bIns="0" rtlCol="0" anchor="ctr"/>
          <a:lstStyle/>
          <a:p>
            <a:pPr algn="ctr" indent="0" marL="0">
              <a:buNone/>
            </a:pPr>
            <a:r>
              <a:rPr lang="en-US" sz="850" spc="100" kern="0" dirty="0">
                <a:solidFill>
                  <a:srgbClr val="5A6B7A"/>
                </a:solidFill>
                <a:latin typeface="Helvetica Neue" pitchFamily="34" charset="0"/>
                <a:ea typeface="Helvetica Neue" pitchFamily="34" charset="-122"/>
                <a:cs typeface="Helvetica Neue" pitchFamily="34" charset="-120"/>
              </a:rPr>
              <a:t>LATAM Population</a:t>
            </a:r>
            <a:endParaRPr lang="en-US" sz="850" dirty="0"/>
          </a:p>
        </p:txBody>
      </p:sp>
      <p:sp>
        <p:nvSpPr>
          <p:cNvPr id="17" name="Shape 15"/>
          <p:cNvSpPr/>
          <p:nvPr/>
        </p:nvSpPr>
        <p:spPr>
          <a:xfrm>
            <a:off x="9354312" y="1554480"/>
            <a:ext cx="2011680" cy="1188720"/>
          </a:xfrm>
          <a:prstGeom prst="rect">
            <a:avLst/>
          </a:prstGeom>
          <a:solidFill>
            <a:srgbClr val="F0F5F7"/>
          </a:solidFill>
          <a:ln w="12700">
            <a:solidFill>
              <a:srgbClr val="C8D5DC"/>
            </a:solidFill>
            <a:prstDash val="solid"/>
          </a:ln>
        </p:spPr>
      </p:sp>
      <p:sp>
        <p:nvSpPr>
          <p:cNvPr id="18" name="Text 16"/>
          <p:cNvSpPr/>
          <p:nvPr/>
        </p:nvSpPr>
        <p:spPr>
          <a:xfrm>
            <a:off x="9354312" y="1627632"/>
            <a:ext cx="2011680" cy="548640"/>
          </a:xfrm>
          <a:prstGeom prst="rect">
            <a:avLst/>
          </a:prstGeom>
          <a:noFill/>
          <a:ln/>
        </p:spPr>
        <p:txBody>
          <a:bodyPr wrap="square" lIns="0" tIns="0" rIns="0" bIns="0" rtlCol="0" anchor="ctr"/>
          <a:lstStyle/>
          <a:p>
            <a:pPr algn="ctr" indent="0" marL="0">
              <a:buNone/>
            </a:pPr>
            <a:r>
              <a:rPr lang="en-US" sz="2200" b="1" dirty="0">
                <a:solidFill>
                  <a:srgbClr val="0A1F2E"/>
                </a:solidFill>
                <a:latin typeface="Helvetica Neue" pitchFamily="34" charset="0"/>
                <a:ea typeface="Helvetica Neue" pitchFamily="34" charset="-122"/>
                <a:cs typeface="Helvetica Neue" pitchFamily="34" charset="-120"/>
              </a:rPr>
              <a:t>77M+</a:t>
            </a:r>
            <a:endParaRPr lang="en-US" sz="2200" dirty="0"/>
          </a:p>
        </p:txBody>
      </p:sp>
      <p:sp>
        <p:nvSpPr>
          <p:cNvPr id="19" name="Text 17"/>
          <p:cNvSpPr/>
          <p:nvPr/>
        </p:nvSpPr>
        <p:spPr>
          <a:xfrm>
            <a:off x="9354312" y="2176272"/>
            <a:ext cx="2011680" cy="457200"/>
          </a:xfrm>
          <a:prstGeom prst="rect">
            <a:avLst/>
          </a:prstGeom>
          <a:noFill/>
          <a:ln/>
        </p:spPr>
        <p:txBody>
          <a:bodyPr wrap="square" lIns="0" tIns="0" rIns="0" bIns="0" rtlCol="0" anchor="ctr"/>
          <a:lstStyle/>
          <a:p>
            <a:pPr algn="ctr" indent="0" marL="0">
              <a:buNone/>
            </a:pPr>
            <a:r>
              <a:rPr lang="en-US" sz="850" spc="100" kern="0" dirty="0">
                <a:solidFill>
                  <a:srgbClr val="5A6B7A"/>
                </a:solidFill>
                <a:latin typeface="Helvetica Neue" pitchFamily="34" charset="0"/>
                <a:ea typeface="Helvetica Neue" pitchFamily="34" charset="-122"/>
                <a:cs typeface="Helvetica Neue" pitchFamily="34" charset="-120"/>
              </a:rPr>
              <a:t>Court Decisions Indexed</a:t>
            </a:r>
            <a:endParaRPr lang="en-US" sz="850" dirty="0"/>
          </a:p>
        </p:txBody>
      </p:sp>
      <p:sp>
        <p:nvSpPr>
          <p:cNvPr id="20" name="Shape 18"/>
          <p:cNvSpPr/>
          <p:nvPr/>
        </p:nvSpPr>
        <p:spPr>
          <a:xfrm>
            <a:off x="502920" y="3017520"/>
            <a:ext cx="11183112" cy="1371600"/>
          </a:xfrm>
          <a:prstGeom prst="rect">
            <a:avLst/>
          </a:prstGeom>
          <a:solidFill>
            <a:srgbClr val="0A1F2E"/>
          </a:solidFill>
          <a:ln w="12700">
            <a:solidFill>
              <a:srgbClr val="0A1F2E"/>
            </a:solidFill>
            <a:prstDash val="solid"/>
          </a:ln>
        </p:spPr>
      </p:sp>
      <p:sp>
        <p:nvSpPr>
          <p:cNvPr id="21" name="Text 19"/>
          <p:cNvSpPr/>
          <p:nvPr/>
        </p:nvSpPr>
        <p:spPr>
          <a:xfrm>
            <a:off x="777240" y="3200400"/>
            <a:ext cx="10634472" cy="1005840"/>
          </a:xfrm>
          <a:prstGeom prst="rect">
            <a:avLst/>
          </a:prstGeom>
          <a:noFill/>
          <a:ln/>
        </p:spPr>
        <p:txBody>
          <a:bodyPr wrap="square" lIns="0" tIns="0" rIns="0" bIns="0" rtlCol="0" anchor="ctr"/>
          <a:lstStyle/>
          <a:p>
            <a:pPr indent="0" marL="0">
              <a:lnSpc>
                <a:spcPts val="1600"/>
              </a:lnSpc>
              <a:buNone/>
            </a:pPr>
            <a:r>
              <a:rPr lang="en-US" sz="1500" b="1" dirty="0">
                <a:solidFill>
                  <a:srgbClr val="00B8A9"/>
                </a:solidFill>
              </a:rPr>
              <a:t>The foundation already exists — and it is sovereign.</a:t>
            </a:r>
            <a:endParaRPr lang="en-US" sz="1500" dirty="0"/>
          </a:p>
          <a:p>
            <a:pPr indent="0" marL="0">
              <a:lnSpc>
                <a:spcPts val="1600"/>
              </a:lnSpc>
              <a:buNone/>
            </a:pPr>
            <a:r>
              <a:rPr lang="en-US" sz="1150" dirty="0">
                <a:solidFill>
                  <a:srgbClr val="B0C8D8"/>
                </a:solidFill>
              </a:rPr>
              <a:t>Beans Tech operates production-ready AI verticals across 4 regulated sectors (Legal, Compliance, Healthcare, Real Estate) with 77M+ court decisions indexed, sovereign identity and compliance infrastructure, and secured land for two data centers — one carbon-free with solar autonomy, one adjacent to international submarine cable landing stations.</a:t>
            </a:r>
            <a:endParaRPr lang="en-US" sz="1500" dirty="0"/>
          </a:p>
        </p:txBody>
      </p:sp>
      <p:sp>
        <p:nvSpPr>
          <p:cNvPr id="22" name="Text 20"/>
          <p:cNvSpPr/>
          <p:nvPr/>
        </p:nvSpPr>
        <p:spPr>
          <a:xfrm>
            <a:off x="502920" y="4572000"/>
            <a:ext cx="5303520" cy="365760"/>
          </a:xfrm>
          <a:prstGeom prst="rect">
            <a:avLst/>
          </a:prstGeom>
          <a:noFill/>
          <a:ln/>
        </p:spPr>
        <p:txBody>
          <a:bodyPr wrap="square" lIns="0" tIns="0" rIns="0" bIns="0" rtlCol="0" anchor="ctr"/>
          <a:lstStyle/>
          <a:p>
            <a:pPr indent="0" marL="0">
              <a:buNone/>
            </a:pPr>
            <a:r>
              <a:rPr lang="en-US" sz="1400" b="1" dirty="0">
                <a:solidFill>
                  <a:srgbClr val="2E6FAF"/>
                </a:solidFill>
                <a:latin typeface="Helvetica Neue" pitchFamily="34" charset="0"/>
                <a:ea typeface="Helvetica Neue" pitchFamily="34" charset="-122"/>
                <a:cs typeface="Helvetica Neue" pitchFamily="34" charset="-120"/>
              </a:rPr>
              <a:t>What Tencent Cloud Gains</a:t>
            </a:r>
            <a:endParaRPr lang="en-US" sz="1400" dirty="0"/>
          </a:p>
        </p:txBody>
      </p:sp>
      <p:sp>
        <p:nvSpPr>
          <p:cNvPr id="23" name="Text 21"/>
          <p:cNvSpPr/>
          <p:nvPr/>
        </p:nvSpPr>
        <p:spPr>
          <a:xfrm>
            <a:off x="502920" y="4937760"/>
            <a:ext cx="5303520" cy="1554480"/>
          </a:xfrm>
          <a:prstGeom prst="rect">
            <a:avLst/>
          </a:prstGeom>
          <a:noFill/>
          <a:ln/>
        </p:spPr>
        <p:txBody>
          <a:bodyPr wrap="square" lIns="0" tIns="0" rIns="0" bIns="0" rtlCol="0" anchor="ctr"/>
          <a:lstStyle/>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Sovereign presence in LATAM — first major cloud with AI in a tax-free ZPE zone</a:t>
            </a:r>
            <a:endParaRPr lang="en-US" sz="1050" dirty="0"/>
          </a:p>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Network multiplier — direct subsea cable access reduces latency for all Tencent services in South America</a:t>
            </a:r>
            <a:endParaRPr lang="en-US" sz="1050" dirty="0"/>
          </a:p>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Turnkey monetization — compute paired with production-ready regulated AI verticals</a:t>
            </a:r>
            <a:endParaRPr lang="en-US" sz="1050" dirty="0"/>
          </a:p>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Hunyuan deployment — Hy4 model family embedded into regulated sector infrastructure</a:t>
            </a:r>
            <a:endParaRPr lang="en-US" sz="1050" dirty="0"/>
          </a:p>
        </p:txBody>
      </p:sp>
      <p:sp>
        <p:nvSpPr>
          <p:cNvPr id="24" name="Text 22"/>
          <p:cNvSpPr/>
          <p:nvPr/>
        </p:nvSpPr>
        <p:spPr>
          <a:xfrm>
            <a:off x="6400800" y="4572000"/>
            <a:ext cx="5303520" cy="365760"/>
          </a:xfrm>
          <a:prstGeom prst="rect">
            <a:avLst/>
          </a:prstGeom>
          <a:noFill/>
          <a:ln/>
        </p:spPr>
        <p:txBody>
          <a:bodyPr wrap="square" lIns="0" tIns="0" rIns="0" bIns="0" rtlCol="0" anchor="ctr"/>
          <a:lstStyle/>
          <a:p>
            <a:pPr indent="0" marL="0">
              <a:buNone/>
            </a:pPr>
            <a:r>
              <a:rPr lang="en-US" sz="1400" b="1" dirty="0">
                <a:solidFill>
                  <a:srgbClr val="2E6FAF"/>
                </a:solidFill>
                <a:latin typeface="Helvetica Neue" pitchFamily="34" charset="0"/>
                <a:ea typeface="Helvetica Neue" pitchFamily="34" charset="-122"/>
                <a:cs typeface="Helvetica Neue" pitchFamily="34" charset="-120"/>
              </a:rPr>
              <a:t>What Beans Tech Brings</a:t>
            </a:r>
            <a:endParaRPr lang="en-US" sz="1400" dirty="0"/>
          </a:p>
        </p:txBody>
      </p:sp>
      <p:sp>
        <p:nvSpPr>
          <p:cNvPr id="25" name="Text 23"/>
          <p:cNvSpPr/>
          <p:nvPr/>
        </p:nvSpPr>
        <p:spPr>
          <a:xfrm>
            <a:off x="6400800" y="4937760"/>
            <a:ext cx="5303520" cy="1554480"/>
          </a:xfrm>
          <a:prstGeom prst="rect">
            <a:avLst/>
          </a:prstGeom>
          <a:noFill/>
          <a:ln/>
        </p:spPr>
        <p:txBody>
          <a:bodyPr wrap="square" lIns="0" tIns="0" rIns="0" bIns="0" rtlCol="0" anchor="ctr"/>
          <a:lstStyle/>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4 regulated verticals in production (Legal, Compliance, Health, Real Estate)</a:t>
            </a:r>
            <a:endParaRPr lang="en-US" sz="1050" dirty="0"/>
          </a:p>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77M+ indexed court decisions (ragjur.ai) — the largest legal RAG in Brazil</a:t>
            </a:r>
            <a:endParaRPr lang="en-US" sz="1050" dirty="0"/>
          </a:p>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Sovereign compliance infrastructure — LGPD, CFM, BACEN by design</a:t>
            </a:r>
            <a:endParaRPr lang="en-US" sz="1050" dirty="0"/>
          </a:p>
          <a:p>
            <a:pPr marL="127000" indent="-127000">
              <a:spcAft>
                <a:spcPts val="600"/>
              </a:spcAft>
              <a:buSzPct val="100000"/>
              <a:buChar char="▸"/>
            </a:pPr>
            <a:r>
              <a:rPr lang="en-US" sz="1050" dirty="0">
                <a:solidFill>
                  <a:srgbClr val="1A2332"/>
                </a:solidFill>
                <a:latin typeface="Helvetica Neue" pitchFamily="34" charset="0"/>
                <a:ea typeface="Helvetica Neue" pitchFamily="34" charset="-122"/>
                <a:cs typeface="Helvetica Neue" pitchFamily="34" charset="-120"/>
              </a:rPr>
              <a:t>Dual-hub data center sites: ZPE Caucaia (subsea) + Santa Terezinha (solar off-grid)</a:t>
            </a:r>
            <a:endParaRPr lang="en-US" sz="1050" dirty="0"/>
          </a:p>
        </p:txBody>
      </p:sp>
      <p:sp>
        <p:nvSpPr>
          <p:cNvPr id="26" name="Text 24"/>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27" name="Text 25"/>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The Core Market Friction</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High-barrier sectors cannot adopt unsecure, non-compliant, or volatile infrastructure</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Text 3"/>
          <p:cNvSpPr/>
          <p:nvPr/>
        </p:nvSpPr>
        <p:spPr>
          <a:xfrm>
            <a:off x="502920" y="1554480"/>
            <a:ext cx="5303520" cy="365760"/>
          </a:xfrm>
          <a:prstGeom prst="rect">
            <a:avLst/>
          </a:prstGeom>
          <a:noFill/>
          <a:ln/>
        </p:spPr>
        <p:txBody>
          <a:bodyPr wrap="square" lIns="0" tIns="0" rIns="0" bIns="0" rtlCol="0" anchor="ctr"/>
          <a:lstStyle/>
          <a:p>
            <a:pPr indent="0" marL="0">
              <a:buNone/>
            </a:pPr>
            <a:r>
              <a:rPr lang="en-US" sz="1400" b="1" dirty="0">
                <a:solidFill>
                  <a:srgbClr val="0A1F2E"/>
                </a:solidFill>
                <a:latin typeface="Helvetica Neue" pitchFamily="34" charset="0"/>
                <a:ea typeface="Helvetica Neue" pitchFamily="34" charset="-122"/>
                <a:cs typeface="Helvetica Neue" pitchFamily="34" charset="-120"/>
              </a:rPr>
              <a:t>The Challenge</a:t>
            </a:r>
            <a:endParaRPr lang="en-US" sz="1400" dirty="0"/>
          </a:p>
        </p:txBody>
      </p:sp>
      <p:sp>
        <p:nvSpPr>
          <p:cNvPr id="6" name="Text 4"/>
          <p:cNvSpPr/>
          <p:nvPr/>
        </p:nvSpPr>
        <p:spPr>
          <a:xfrm>
            <a:off x="502920" y="1920240"/>
            <a:ext cx="5303520" cy="3931920"/>
          </a:xfrm>
          <a:prstGeom prst="rect">
            <a:avLst/>
          </a:prstGeom>
          <a:noFill/>
          <a:ln/>
        </p:spPr>
        <p:txBody>
          <a:bodyPr wrap="square" lIns="0" tIns="0" rIns="0" bIns="0" rtlCol="0" anchor="ctr"/>
          <a:lstStyle/>
          <a:p>
            <a:pPr marL="127000" indent="-127000">
              <a:lnSpc>
                <a:spcPts val="1400"/>
              </a:lnSpc>
              <a:spcAft>
                <a:spcPts val="400"/>
              </a:spcAft>
              <a:buSzPct val="100000"/>
              <a:buChar char="–"/>
            </a:pPr>
            <a:r>
              <a:rPr lang="en-US" b="1" dirty="0">
                <a:solidFill>
                  <a:srgbClr val="000000"/>
                </a:solidFill>
              </a:rPr>
              <a:t>Government &amp; Judiciary</a:t>
            </a:r>
            <a:endParaRPr lang="en-US" dirty="0"/>
          </a:p>
          <a:p>
            <a:pPr indent="0" marL="0">
              <a:lnSpc>
                <a:spcPts val="1400"/>
              </a:lnSpc>
              <a:spcAft>
                <a:spcPts val="400"/>
              </a:spcAft>
              <a:buNone/>
            </a:pPr>
            <a:r>
              <a:rPr lang="en-US" sz="950" dirty="0">
                <a:solidFill>
                  <a:srgbClr val="5A6B7A"/>
                </a:solidFill>
              </a:rPr>
              <a:t>Cannot use cloud AI on public networks — data sovereignty is statutory</a:t>
            </a:r>
            <a:endParaRPr lang="en-US" sz="950" dirty="0"/>
          </a:p>
          <a:p>
            <a:pPr indent="0" marL="0">
              <a:lnSpc>
                <a:spcPts val="1400"/>
              </a:lnSpc>
              <a:spcAft>
                <a:spcPts val="400"/>
              </a:spcAft>
              <a:buNone/>
            </a:pPr>
            <a:r>
              <a:rPr lang="en-US" sz="400" dirty="0">
                <a:solidFill>
                  <a:srgbClr val="000000"/>
                </a:solidFill>
              </a:rPr>
              <a:t> </a:t>
            </a:r>
            <a:endParaRPr lang="en-US" sz="950" dirty="0"/>
          </a:p>
          <a:p>
            <a:pPr marL="127000" indent="-127000">
              <a:lnSpc>
                <a:spcPts val="1400"/>
              </a:lnSpc>
              <a:spcAft>
                <a:spcPts val="400"/>
              </a:spcAft>
              <a:buSzPct val="100000"/>
              <a:buChar char="–"/>
            </a:pPr>
            <a:r>
              <a:rPr lang="en-US" sz="950" b="1" dirty="0">
                <a:solidFill>
                  <a:srgbClr val="000000"/>
                </a:solidFill>
              </a:rPr>
              <a:t>Healthcare</a:t>
            </a:r>
            <a:endParaRPr lang="en-US" sz="950" dirty="0"/>
          </a:p>
          <a:p>
            <a:pPr indent="0" marL="0">
              <a:lnSpc>
                <a:spcPts val="1400"/>
              </a:lnSpc>
              <a:spcAft>
                <a:spcPts val="400"/>
              </a:spcAft>
              <a:buNone/>
            </a:pPr>
            <a:r>
              <a:rPr lang="en-US" sz="950" dirty="0">
                <a:solidFill>
                  <a:srgbClr val="5A6B7A"/>
                </a:solidFill>
              </a:rPr>
              <a:t>Patient data cannot cross borders without explicit contractual basis (LGPD art. 33)</a:t>
            </a:r>
            <a:endParaRPr lang="en-US" sz="950" dirty="0"/>
          </a:p>
          <a:p>
            <a:pPr indent="0" marL="0">
              <a:lnSpc>
                <a:spcPts val="1400"/>
              </a:lnSpc>
              <a:spcAft>
                <a:spcPts val="400"/>
              </a:spcAft>
              <a:buNone/>
            </a:pPr>
            <a:r>
              <a:rPr lang="en-US" sz="400" dirty="0">
                <a:solidFill>
                  <a:srgbClr val="000000"/>
                </a:solidFill>
              </a:rPr>
              <a:t> </a:t>
            </a:r>
            <a:endParaRPr lang="en-US" sz="950" dirty="0"/>
          </a:p>
          <a:p>
            <a:pPr marL="127000" indent="-127000">
              <a:lnSpc>
                <a:spcPts val="1400"/>
              </a:lnSpc>
              <a:spcAft>
                <a:spcPts val="400"/>
              </a:spcAft>
              <a:buSzPct val="100000"/>
              <a:buChar char="–"/>
            </a:pPr>
            <a:r>
              <a:rPr lang="en-US" sz="950" b="1" dirty="0">
                <a:solidFill>
                  <a:srgbClr val="000000"/>
                </a:solidFill>
              </a:rPr>
              <a:t>Finance &amp; Compliance</a:t>
            </a:r>
            <a:endParaRPr lang="en-US" sz="950" dirty="0"/>
          </a:p>
          <a:p>
            <a:pPr indent="0" marL="0">
              <a:lnSpc>
                <a:spcPts val="1400"/>
              </a:lnSpc>
              <a:spcAft>
                <a:spcPts val="400"/>
              </a:spcAft>
              <a:buNone/>
            </a:pPr>
            <a:r>
              <a:rPr lang="en-US" sz="950" dirty="0">
                <a:solidFill>
                  <a:srgbClr val="5A6B7A"/>
                </a:solidFill>
              </a:rPr>
              <a:t>BACEN and COAF require audit trails and ring-fenced processing</a:t>
            </a:r>
            <a:endParaRPr lang="en-US" sz="950" dirty="0"/>
          </a:p>
          <a:p>
            <a:pPr indent="0" marL="0">
              <a:lnSpc>
                <a:spcPts val="1400"/>
              </a:lnSpc>
              <a:spcAft>
                <a:spcPts val="400"/>
              </a:spcAft>
              <a:buNone/>
            </a:pPr>
            <a:r>
              <a:rPr lang="en-US" sz="400" dirty="0">
                <a:solidFill>
                  <a:srgbClr val="000000"/>
                </a:solidFill>
              </a:rPr>
              <a:t> </a:t>
            </a:r>
            <a:endParaRPr lang="en-US" sz="950" dirty="0"/>
          </a:p>
          <a:p>
            <a:pPr marL="127000" indent="-127000">
              <a:lnSpc>
                <a:spcPts val="1400"/>
              </a:lnSpc>
              <a:spcAft>
                <a:spcPts val="400"/>
              </a:spcAft>
              <a:buSzPct val="100000"/>
              <a:buChar char="–"/>
            </a:pPr>
            <a:r>
              <a:rPr lang="en-US" sz="950" b="1" dirty="0">
                <a:solidFill>
                  <a:srgbClr val="000000"/>
                </a:solidFill>
              </a:rPr>
              <a:t>Power Grid Volatility</a:t>
            </a:r>
            <a:endParaRPr lang="en-US" sz="950" dirty="0"/>
          </a:p>
          <a:p>
            <a:pPr indent="0" marL="0">
              <a:lnSpc>
                <a:spcPts val="1400"/>
              </a:lnSpc>
              <a:spcAft>
                <a:spcPts val="400"/>
              </a:spcAft>
              <a:buNone/>
            </a:pPr>
            <a:r>
              <a:rPr lang="en-US" sz="950" dirty="0">
                <a:solidFill>
                  <a:srgbClr val="5A6B7A"/>
                </a:solidFill>
              </a:rPr>
              <a:t>Brazilian national grid instability creates operational risk for high-duty AI workloads</a:t>
            </a:r>
            <a:endParaRPr lang="en-US" sz="950" dirty="0"/>
          </a:p>
        </p:txBody>
      </p:sp>
      <p:sp>
        <p:nvSpPr>
          <p:cNvPr id="7" name="Text 5"/>
          <p:cNvSpPr/>
          <p:nvPr/>
        </p:nvSpPr>
        <p:spPr>
          <a:xfrm>
            <a:off x="6400800" y="1554480"/>
            <a:ext cx="5303520" cy="365760"/>
          </a:xfrm>
          <a:prstGeom prst="rect">
            <a:avLst/>
          </a:prstGeom>
          <a:noFill/>
          <a:ln/>
        </p:spPr>
        <p:txBody>
          <a:bodyPr wrap="square" lIns="0" tIns="0" rIns="0" bIns="0" rtlCol="0" anchor="ctr"/>
          <a:lstStyle/>
          <a:p>
            <a:pPr indent="0" marL="0">
              <a:buNone/>
            </a:pPr>
            <a:r>
              <a:rPr lang="en-US" sz="1400" b="1" dirty="0">
                <a:solidFill>
                  <a:srgbClr val="00B8A9"/>
                </a:solidFill>
                <a:latin typeface="Helvetica Neue" pitchFamily="34" charset="0"/>
                <a:ea typeface="Helvetica Neue" pitchFamily="34" charset="-122"/>
                <a:cs typeface="Helvetica Neue" pitchFamily="34" charset="-120"/>
              </a:rPr>
              <a:t>The Entryway</a:t>
            </a:r>
            <a:endParaRPr lang="en-US" sz="1400" dirty="0"/>
          </a:p>
        </p:txBody>
      </p:sp>
      <p:sp>
        <p:nvSpPr>
          <p:cNvPr id="8" name="Shape 6"/>
          <p:cNvSpPr/>
          <p:nvPr/>
        </p:nvSpPr>
        <p:spPr>
          <a:xfrm>
            <a:off x="6400800" y="1920240"/>
            <a:ext cx="5303520" cy="3840480"/>
          </a:xfrm>
          <a:prstGeom prst="rect">
            <a:avLst/>
          </a:prstGeom>
          <a:solidFill>
            <a:srgbClr val="0A1F2E"/>
          </a:solidFill>
          <a:ln w="12700">
            <a:solidFill>
              <a:srgbClr val="00B8A9"/>
            </a:solidFill>
            <a:prstDash val="solid"/>
          </a:ln>
        </p:spPr>
      </p:sp>
      <p:sp>
        <p:nvSpPr>
          <p:cNvPr id="9" name="Text 7"/>
          <p:cNvSpPr/>
          <p:nvPr/>
        </p:nvSpPr>
        <p:spPr>
          <a:xfrm>
            <a:off x="6583680" y="2057400"/>
            <a:ext cx="4937760" cy="3566160"/>
          </a:xfrm>
          <a:prstGeom prst="rect">
            <a:avLst/>
          </a:prstGeom>
          <a:noFill/>
          <a:ln/>
        </p:spPr>
        <p:txBody>
          <a:bodyPr wrap="square" lIns="0" tIns="0" rIns="0" bIns="0" rtlCol="0" anchor="ctr"/>
          <a:lstStyle/>
          <a:p>
            <a:pPr indent="0" marL="0">
              <a:lnSpc>
                <a:spcPts val="1500"/>
              </a:lnSpc>
              <a:spcAft>
                <a:spcPts val="300"/>
              </a:spcAft>
              <a:buNone/>
            </a:pPr>
            <a:r>
              <a:rPr lang="en-US" sz="1500" b="1" dirty="0">
                <a:solidFill>
                  <a:srgbClr val="00B8A9"/>
                </a:solidFill>
              </a:rPr>
              <a:t>A localized, fully sovereign cloud environment</a:t>
            </a:r>
            <a:endParaRPr lang="en-US" sz="1500" dirty="0"/>
          </a:p>
          <a:p>
            <a:pPr indent="0" marL="0">
              <a:lnSpc>
                <a:spcPts val="1500"/>
              </a:lnSpc>
              <a:spcAft>
                <a:spcPts val="300"/>
              </a:spcAft>
              <a:buNone/>
            </a:pPr>
            <a:r>
              <a:rPr lang="en-US" sz="600" dirty="0">
                <a:solidFill>
                  <a:srgbClr val="000000"/>
                </a:solidFill>
              </a:rPr>
              <a:t> </a:t>
            </a:r>
            <a:endParaRPr lang="en-US" sz="1500" dirty="0"/>
          </a:p>
          <a:p>
            <a:pPr indent="0" marL="0">
              <a:lnSpc>
                <a:spcPts val="1500"/>
              </a:lnSpc>
              <a:spcAft>
                <a:spcPts val="300"/>
              </a:spcAft>
              <a:buNone/>
            </a:pPr>
            <a:r>
              <a:rPr lang="en-US" sz="1100" dirty="0">
                <a:solidFill>
                  <a:srgbClr val="B0C8D8"/>
                </a:solidFill>
              </a:rPr>
              <a:t>Built by design to fulfill:</a:t>
            </a:r>
            <a:endParaRPr lang="en-US" sz="1500" dirty="0"/>
          </a:p>
          <a:p>
            <a:pPr indent="0" marL="0">
              <a:lnSpc>
                <a:spcPts val="1500"/>
              </a:lnSpc>
              <a:spcAft>
                <a:spcPts val="300"/>
              </a:spcAft>
              <a:buNone/>
            </a:pPr>
            <a:r>
              <a:rPr lang="en-US" sz="1050" dirty="0">
                <a:solidFill>
                  <a:srgbClr val="B0C8D8"/>
                </a:solidFill>
              </a:rPr>
              <a:t>  • Strict statutory data residency (LGPD)</a:t>
            </a:r>
            <a:endParaRPr lang="en-US" sz="1500" dirty="0"/>
          </a:p>
          <a:p>
            <a:pPr indent="0" marL="0">
              <a:lnSpc>
                <a:spcPts val="1500"/>
              </a:lnSpc>
              <a:spcAft>
                <a:spcPts val="300"/>
              </a:spcAft>
              <a:buNone/>
            </a:pPr>
            <a:r>
              <a:rPr lang="en-US" sz="1050" dirty="0">
                <a:solidFill>
                  <a:srgbClr val="B0C8D8"/>
                </a:solidFill>
              </a:rPr>
              <a:t>  • Absolute data isolation and audit trail</a:t>
            </a:r>
            <a:endParaRPr lang="en-US" sz="1500" dirty="0"/>
          </a:p>
          <a:p>
            <a:pPr indent="0" marL="0">
              <a:lnSpc>
                <a:spcPts val="1500"/>
              </a:lnSpc>
              <a:spcAft>
                <a:spcPts val="300"/>
              </a:spcAft>
              <a:buNone/>
            </a:pPr>
            <a:r>
              <a:rPr lang="en-US" sz="1050" dirty="0">
                <a:solidFill>
                  <a:srgbClr val="B0C8D8"/>
                </a:solidFill>
              </a:rPr>
              <a:t>  • Environmental (ESG) mandates — carbon-free</a:t>
            </a:r>
            <a:endParaRPr lang="en-US" sz="1500" dirty="0"/>
          </a:p>
          <a:p>
            <a:pPr indent="0" marL="0">
              <a:lnSpc>
                <a:spcPts val="1500"/>
              </a:lnSpc>
              <a:spcAft>
                <a:spcPts val="300"/>
              </a:spcAft>
              <a:buNone/>
            </a:pPr>
            <a:r>
              <a:rPr lang="en-US" sz="1050" dirty="0">
                <a:solidFill>
                  <a:srgbClr val="B0C8D8"/>
                </a:solidFill>
              </a:rPr>
              <a:t>  • Energy independence from public grid</a:t>
            </a:r>
            <a:endParaRPr lang="en-US" sz="1500" dirty="0"/>
          </a:p>
          <a:p>
            <a:pPr indent="0" marL="0">
              <a:lnSpc>
                <a:spcPts val="1500"/>
              </a:lnSpc>
              <a:spcAft>
                <a:spcPts val="300"/>
              </a:spcAft>
              <a:buNone/>
            </a:pPr>
            <a:r>
              <a:rPr lang="en-US" sz="600" dirty="0">
                <a:solidFill>
                  <a:srgbClr val="000000"/>
                </a:solidFill>
              </a:rPr>
              <a:t> </a:t>
            </a:r>
            <a:endParaRPr lang="en-US" sz="1500" dirty="0"/>
          </a:p>
          <a:p>
            <a:pPr indent="0" marL="0">
              <a:lnSpc>
                <a:spcPts val="1500"/>
              </a:lnSpc>
              <a:spcAft>
                <a:spcPts val="300"/>
              </a:spcAft>
              <a:buNone/>
            </a:pPr>
            <a:r>
              <a:rPr lang="en-US" sz="1100" dirty="0">
                <a:solidFill>
                  <a:srgbClr val="B0C8D8"/>
                </a:solidFill>
              </a:rPr>
              <a:t>Powered by:</a:t>
            </a:r>
            <a:endParaRPr lang="en-US" sz="1500" dirty="0"/>
          </a:p>
          <a:p>
            <a:pPr indent="0" marL="0">
              <a:lnSpc>
                <a:spcPts val="1500"/>
              </a:lnSpc>
              <a:spcAft>
                <a:spcPts val="300"/>
              </a:spcAft>
              <a:buNone/>
            </a:pPr>
            <a:r>
              <a:rPr lang="en-US" sz="1050" dirty="0">
                <a:solidFill>
                  <a:srgbClr val="E8C847"/>
                </a:solidFill>
              </a:rPr>
              <a:t>  • Tencent Hunyuan/Hy4 compute architecture</a:t>
            </a:r>
            <a:endParaRPr lang="en-US" sz="1500" dirty="0"/>
          </a:p>
          <a:p>
            <a:pPr indent="0" marL="0">
              <a:lnSpc>
                <a:spcPts val="1500"/>
              </a:lnSpc>
              <a:spcAft>
                <a:spcPts val="300"/>
              </a:spcAft>
              <a:buNone/>
            </a:pPr>
            <a:r>
              <a:rPr lang="en-US" sz="1050" dirty="0">
                <a:solidFill>
                  <a:srgbClr val="E8C847"/>
                </a:solidFill>
              </a:rPr>
              <a:t>  • Beans Tech regulated AI verticals (production-ready)</a:t>
            </a:r>
            <a:endParaRPr lang="en-US" sz="1500" dirty="0"/>
          </a:p>
          <a:p>
            <a:pPr indent="0" marL="0">
              <a:lnSpc>
                <a:spcPts val="1500"/>
              </a:lnSpc>
              <a:spcAft>
                <a:spcPts val="300"/>
              </a:spcAft>
              <a:buNone/>
            </a:pPr>
            <a:r>
              <a:rPr lang="en-US" sz="1050" dirty="0">
                <a:solidFill>
                  <a:srgbClr val="E8C847"/>
                </a:solidFill>
              </a:rPr>
              <a:t>  • hy.cloud autonomous eco-infrastructure</a:t>
            </a:r>
            <a:endParaRPr lang="en-US" sz="1500" dirty="0"/>
          </a:p>
        </p:txBody>
      </p:sp>
      <p:sp>
        <p:nvSpPr>
          <p:cNvPr id="10" name="Text 8"/>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1" name="Text 9"/>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The 4 Regulated AI Verticals</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Instant monetization — Tencent compute paired with production-ready AI engines</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Shape 3"/>
          <p:cNvSpPr/>
          <p:nvPr/>
        </p:nvSpPr>
        <p:spPr>
          <a:xfrm>
            <a:off x="502920" y="1554480"/>
            <a:ext cx="5394960" cy="2103120"/>
          </a:xfrm>
          <a:prstGeom prst="rect">
            <a:avLst/>
          </a:prstGeom>
          <a:solidFill>
            <a:srgbClr val="F0F5F7"/>
          </a:solidFill>
          <a:ln w="12700">
            <a:solidFill>
              <a:srgbClr val="C8D5DC"/>
            </a:solidFill>
            <a:prstDash val="solid"/>
          </a:ln>
        </p:spPr>
      </p:sp>
      <p:sp>
        <p:nvSpPr>
          <p:cNvPr id="6" name="Text 4"/>
          <p:cNvSpPr/>
          <p:nvPr/>
        </p:nvSpPr>
        <p:spPr>
          <a:xfrm>
            <a:off x="731520" y="1691640"/>
            <a:ext cx="4937760" cy="1828800"/>
          </a:xfrm>
          <a:prstGeom prst="rect">
            <a:avLst/>
          </a:prstGeom>
          <a:noFill/>
          <a:ln/>
        </p:spPr>
        <p:txBody>
          <a:bodyPr wrap="square" lIns="0" tIns="0" rIns="0" bIns="0" rtlCol="0" anchor="ctr"/>
          <a:lstStyle/>
          <a:p>
            <a:pPr indent="0" marL="0">
              <a:lnSpc>
                <a:spcPts val="1300"/>
              </a:lnSpc>
              <a:spcAft>
                <a:spcPts val="300"/>
              </a:spcAft>
              <a:buNone/>
            </a:pPr>
            <a:r>
              <a:rPr lang="en-US" sz="1400" b="1" dirty="0">
                <a:solidFill>
                  <a:srgbClr val="0A1F2E"/>
                </a:solidFill>
              </a:rPr>
              <a:t>⚖️ Legal &amp; Compliance</a:t>
            </a:r>
            <a:endParaRPr lang="en-US" sz="1400" dirty="0"/>
          </a:p>
          <a:p>
            <a:pPr indent="0" marL="0">
              <a:lnSpc>
                <a:spcPts val="1300"/>
              </a:lnSpc>
              <a:spcAft>
                <a:spcPts val="300"/>
              </a:spcAft>
              <a:buNone/>
            </a:pPr>
            <a:r>
              <a:rPr lang="en-US" sz="1000" i="1" dirty="0">
                <a:solidFill>
                  <a:srgbClr val="2E6FAF"/>
                </a:solidFill>
              </a:rPr>
              <a:t>ragjur.ai · legalsuite.tech</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950" dirty="0">
                <a:solidFill>
                  <a:srgbClr val="5A6B7A"/>
                </a:solidFill>
              </a:rPr>
              <a:t>Multi-jurisdictional RAG engines · anti-hallucination decision support · 77M+ indexed court decisions · auditable judicial compliance</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1000" b="1" dirty="0">
                <a:solidFill>
                  <a:srgbClr val="00B8A9"/>
                </a:solidFill>
              </a:rPr>
              <a:t>1.2M attorneys · R$ 80B/yr</a:t>
            </a:r>
            <a:endParaRPr lang="en-US" sz="1400" dirty="0"/>
          </a:p>
        </p:txBody>
      </p:sp>
      <p:sp>
        <p:nvSpPr>
          <p:cNvPr id="7" name="Shape 5"/>
          <p:cNvSpPr/>
          <p:nvPr/>
        </p:nvSpPr>
        <p:spPr>
          <a:xfrm>
            <a:off x="6126480" y="1554480"/>
            <a:ext cx="5394960" cy="2103120"/>
          </a:xfrm>
          <a:prstGeom prst="rect">
            <a:avLst/>
          </a:prstGeom>
          <a:solidFill>
            <a:srgbClr val="F0F5F7"/>
          </a:solidFill>
          <a:ln w="12700">
            <a:solidFill>
              <a:srgbClr val="C8D5DC"/>
            </a:solidFill>
            <a:prstDash val="solid"/>
          </a:ln>
        </p:spPr>
      </p:sp>
      <p:sp>
        <p:nvSpPr>
          <p:cNvPr id="8" name="Text 6"/>
          <p:cNvSpPr/>
          <p:nvPr/>
        </p:nvSpPr>
        <p:spPr>
          <a:xfrm>
            <a:off x="6355080" y="1691640"/>
            <a:ext cx="4937760" cy="1828800"/>
          </a:xfrm>
          <a:prstGeom prst="rect">
            <a:avLst/>
          </a:prstGeom>
          <a:noFill/>
          <a:ln/>
        </p:spPr>
        <p:txBody>
          <a:bodyPr wrap="square" lIns="0" tIns="0" rIns="0" bIns="0" rtlCol="0" anchor="ctr"/>
          <a:lstStyle/>
          <a:p>
            <a:pPr indent="0" marL="0">
              <a:lnSpc>
                <a:spcPts val="1300"/>
              </a:lnSpc>
              <a:spcAft>
                <a:spcPts val="300"/>
              </a:spcAft>
              <a:buNone/>
            </a:pPr>
            <a:r>
              <a:rPr lang="en-US" sz="1400" b="1" dirty="0">
                <a:solidFill>
                  <a:srgbClr val="0A1F2E"/>
                </a:solidFill>
              </a:rPr>
              <a:t>🛡️ Compliance / RegTech</a:t>
            </a:r>
            <a:endParaRPr lang="en-US" sz="1400" dirty="0"/>
          </a:p>
          <a:p>
            <a:pPr indent="0" marL="0">
              <a:lnSpc>
                <a:spcPts val="1300"/>
              </a:lnSpc>
              <a:spcAft>
                <a:spcPts val="300"/>
              </a:spcAft>
              <a:buNone/>
            </a:pPr>
            <a:r>
              <a:rPr lang="en-US" sz="1000" i="1" dirty="0">
                <a:solidFill>
                  <a:srgbClr val="2E6FAF"/>
                </a:solidFill>
              </a:rPr>
              <a:t>pldbr.tech · beansbank</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950" dirty="0">
                <a:solidFill>
                  <a:srgbClr val="5A6B7A"/>
                </a:solidFill>
              </a:rPr>
              <a:t>Automated governance, AML, regulatory monitoring · SAR narrative generation · complex Latin American legal frameworks</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1000" b="1" dirty="0">
                <a:solidFill>
                  <a:srgbClr val="00B8A9"/>
                </a:solidFill>
              </a:rPr>
              <a:t>740 institutions · R$ 12B/yr</a:t>
            </a:r>
            <a:endParaRPr lang="en-US" sz="1400" dirty="0"/>
          </a:p>
        </p:txBody>
      </p:sp>
      <p:sp>
        <p:nvSpPr>
          <p:cNvPr id="9" name="Shape 7"/>
          <p:cNvSpPr/>
          <p:nvPr/>
        </p:nvSpPr>
        <p:spPr>
          <a:xfrm>
            <a:off x="502920" y="3931920"/>
            <a:ext cx="5394960" cy="2103120"/>
          </a:xfrm>
          <a:prstGeom prst="rect">
            <a:avLst/>
          </a:prstGeom>
          <a:solidFill>
            <a:srgbClr val="F0F5F7"/>
          </a:solidFill>
          <a:ln w="12700">
            <a:solidFill>
              <a:srgbClr val="C8D5DC"/>
            </a:solidFill>
            <a:prstDash val="solid"/>
          </a:ln>
        </p:spPr>
      </p:sp>
      <p:sp>
        <p:nvSpPr>
          <p:cNvPr id="10" name="Text 8"/>
          <p:cNvSpPr/>
          <p:nvPr/>
        </p:nvSpPr>
        <p:spPr>
          <a:xfrm>
            <a:off x="731520" y="4069080"/>
            <a:ext cx="4937760" cy="1828800"/>
          </a:xfrm>
          <a:prstGeom prst="rect">
            <a:avLst/>
          </a:prstGeom>
          <a:noFill/>
          <a:ln/>
        </p:spPr>
        <p:txBody>
          <a:bodyPr wrap="square" lIns="0" tIns="0" rIns="0" bIns="0" rtlCol="0" anchor="ctr"/>
          <a:lstStyle/>
          <a:p>
            <a:pPr indent="0" marL="0">
              <a:lnSpc>
                <a:spcPts val="1300"/>
              </a:lnSpc>
              <a:spcAft>
                <a:spcPts val="300"/>
              </a:spcAft>
              <a:buNone/>
            </a:pPr>
            <a:r>
              <a:rPr lang="en-US" sz="1400" b="1" dirty="0">
                <a:solidFill>
                  <a:srgbClr val="0A1F2E"/>
                </a:solidFill>
              </a:rPr>
              <a:t>🏥 Healthcare</a:t>
            </a:r>
            <a:endParaRPr lang="en-US" sz="1400" dirty="0"/>
          </a:p>
          <a:p>
            <a:pPr indent="0" marL="0">
              <a:lnSpc>
                <a:spcPts val="1300"/>
              </a:lnSpc>
              <a:spcAft>
                <a:spcPts val="300"/>
              </a:spcAft>
              <a:buNone/>
            </a:pPr>
            <a:r>
              <a:rPr lang="en-US" sz="1000" i="1" dirty="0">
                <a:solidFill>
                  <a:srgbClr val="2E6FAF"/>
                </a:solidFill>
              </a:rPr>
              <a:t>dodr.ai · ragmed.ai</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950" dirty="0">
                <a:solidFill>
                  <a:srgbClr val="5A6B7A"/>
                </a:solidFill>
              </a:rPr>
              <a:t>Ring-fenced clinical environments · sovereign processing of medical records · clinical decision support with audit trail</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1000" b="1" dirty="0">
                <a:solidFill>
                  <a:srgbClr val="00B8A9"/>
                </a:solidFill>
              </a:rPr>
              <a:t>550k physicians · R$ 4.4B/yr</a:t>
            </a:r>
            <a:endParaRPr lang="en-US" sz="1400" dirty="0"/>
          </a:p>
        </p:txBody>
      </p:sp>
      <p:sp>
        <p:nvSpPr>
          <p:cNvPr id="11" name="Shape 9"/>
          <p:cNvSpPr/>
          <p:nvPr/>
        </p:nvSpPr>
        <p:spPr>
          <a:xfrm>
            <a:off x="6126480" y="3931920"/>
            <a:ext cx="5394960" cy="2103120"/>
          </a:xfrm>
          <a:prstGeom prst="rect">
            <a:avLst/>
          </a:prstGeom>
          <a:solidFill>
            <a:srgbClr val="F0F5F7"/>
          </a:solidFill>
          <a:ln w="12700">
            <a:solidFill>
              <a:srgbClr val="C8D5DC"/>
            </a:solidFill>
            <a:prstDash val="solid"/>
          </a:ln>
        </p:spPr>
      </p:sp>
      <p:sp>
        <p:nvSpPr>
          <p:cNvPr id="12" name="Text 10"/>
          <p:cNvSpPr/>
          <p:nvPr/>
        </p:nvSpPr>
        <p:spPr>
          <a:xfrm>
            <a:off x="6355080" y="4069080"/>
            <a:ext cx="4937760" cy="1828800"/>
          </a:xfrm>
          <a:prstGeom prst="rect">
            <a:avLst/>
          </a:prstGeom>
          <a:noFill/>
          <a:ln/>
        </p:spPr>
        <p:txBody>
          <a:bodyPr wrap="square" lIns="0" tIns="0" rIns="0" bIns="0" rtlCol="0" anchor="ctr"/>
          <a:lstStyle/>
          <a:p>
            <a:pPr indent="0" marL="0">
              <a:lnSpc>
                <a:spcPts val="1300"/>
              </a:lnSpc>
              <a:spcAft>
                <a:spcPts val="300"/>
              </a:spcAft>
              <a:buNone/>
            </a:pPr>
            <a:r>
              <a:rPr lang="en-US" sz="1400" b="1" dirty="0">
                <a:solidFill>
                  <a:srgbClr val="0A1F2E"/>
                </a:solidFill>
              </a:rPr>
              <a:t>🏢 Real Estate</a:t>
            </a:r>
            <a:endParaRPr lang="en-US" sz="1400" dirty="0"/>
          </a:p>
          <a:p>
            <a:pPr indent="0" marL="0">
              <a:lnSpc>
                <a:spcPts val="1300"/>
              </a:lnSpc>
              <a:spcAft>
                <a:spcPts val="300"/>
              </a:spcAft>
              <a:buNone/>
            </a:pPr>
            <a:r>
              <a:rPr lang="en-US" sz="1000" i="1" dirty="0">
                <a:solidFill>
                  <a:srgbClr val="2E6FAF"/>
                </a:solidFill>
              </a:rPr>
              <a:t>alirealty.com.br · proptechbr.ai</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950" dirty="0">
                <a:solidFill>
                  <a:srgbClr val="5A6B7A"/>
                </a:solidFill>
              </a:rPr>
              <a:t>Intelligent transaction auditing · compliance engines for high-value asset acquisitions · document analysis at scale</a:t>
            </a:r>
            <a:endParaRPr lang="en-US" sz="1400" dirty="0"/>
          </a:p>
          <a:p>
            <a:pPr indent="0" marL="0">
              <a:lnSpc>
                <a:spcPts val="1300"/>
              </a:lnSpc>
              <a:spcAft>
                <a:spcPts val="300"/>
              </a:spcAft>
              <a:buNone/>
            </a:pPr>
            <a:r>
              <a:rPr lang="en-US" sz="400" dirty="0">
                <a:solidFill>
                  <a:srgbClr val="000000"/>
                </a:solidFill>
              </a:rPr>
              <a:t> </a:t>
            </a:r>
            <a:endParaRPr lang="en-US" sz="1400" dirty="0"/>
          </a:p>
          <a:p>
            <a:pPr indent="0" marL="0">
              <a:lnSpc>
                <a:spcPts val="1300"/>
              </a:lnSpc>
              <a:spcAft>
                <a:spcPts val="300"/>
              </a:spcAft>
              <a:buNone/>
            </a:pPr>
            <a:r>
              <a:rPr lang="en-US" sz="1000" b="1" dirty="0">
                <a:solidFill>
                  <a:srgbClr val="00B8A9"/>
                </a:solidFill>
              </a:rPr>
              <a:t>R$ 15B/yr (proptech)</a:t>
            </a:r>
            <a:endParaRPr lang="en-US" sz="1400" dirty="0"/>
          </a:p>
        </p:txBody>
      </p:sp>
      <p:sp>
        <p:nvSpPr>
          <p:cNvPr id="13" name="Text 11"/>
          <p:cNvSpPr/>
          <p:nvPr/>
        </p:nvSpPr>
        <p:spPr>
          <a:xfrm>
            <a:off x="502920" y="6199632"/>
            <a:ext cx="11183112" cy="320040"/>
          </a:xfrm>
          <a:prstGeom prst="rect">
            <a:avLst/>
          </a:prstGeom>
          <a:noFill/>
          <a:ln/>
        </p:spPr>
        <p:txBody>
          <a:bodyPr wrap="square" lIns="0" tIns="0" rIns="0" bIns="0" rtlCol="0" anchor="ctr"/>
          <a:lstStyle/>
          <a:p>
            <a:pPr algn="ctr" indent="0" marL="0">
              <a:buNone/>
            </a:pPr>
            <a:r>
              <a:rPr lang="en-US" sz="950" b="1" dirty="0">
                <a:solidFill>
                  <a:srgbClr val="0A1F2E"/>
                </a:solidFill>
                <a:latin typeface="Helvetica Neue" pitchFamily="34" charset="0"/>
                <a:ea typeface="Helvetica Neue" pitchFamily="34" charset="-122"/>
                <a:cs typeface="Helvetica Neue" pitchFamily="34" charset="-120"/>
              </a:rPr>
              <a:t>All verticals share: the same model engine (Hunyuan/Hy4) · the same identity (OIDC) · the same compliance stack · the same principle — prove what you answer.</a:t>
            </a:r>
            <a:endParaRPr lang="en-US" sz="950" dirty="0"/>
          </a:p>
        </p:txBody>
      </p:sp>
      <p:sp>
        <p:nvSpPr>
          <p:cNvPr id="14" name="Text 12"/>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5" name="Text 13"/>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2E"/>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0B8A9"/>
                </a:solidFill>
                <a:latin typeface="Helvetica Neue" pitchFamily="34" charset="0"/>
                <a:ea typeface="Helvetica Neue" pitchFamily="34" charset="-122"/>
                <a:cs typeface="Helvetica Neue" pitchFamily="34" charset="-120"/>
              </a:rPr>
              <a:t>The "hy" Model — Infrastructure Blueprint</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8FC0D0"/>
                </a:solidFill>
                <a:latin typeface="Helvetica Neue" pitchFamily="34" charset="0"/>
                <a:ea typeface="Helvetica Neue" pitchFamily="34" charset="-122"/>
                <a:cs typeface="Helvetica Neue" pitchFamily="34" charset="-120"/>
              </a:rPr>
              <a:t>Complete sovereignty: logical, physical, and energy independence</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Text 3"/>
          <p:cNvSpPr/>
          <p:nvPr/>
        </p:nvSpPr>
        <p:spPr>
          <a:xfrm>
            <a:off x="502920" y="1554480"/>
            <a:ext cx="5303520" cy="365760"/>
          </a:xfrm>
          <a:prstGeom prst="rect">
            <a:avLst/>
          </a:prstGeom>
          <a:noFill/>
          <a:ln/>
        </p:spPr>
        <p:txBody>
          <a:bodyPr wrap="square" lIns="0" tIns="0" rIns="0" bIns="0" rtlCol="0" anchor="ctr"/>
          <a:lstStyle/>
          <a:p>
            <a:pPr indent="0" marL="0">
              <a:buNone/>
            </a:pPr>
            <a:r>
              <a:rPr lang="en-US" sz="1400" b="1" dirty="0">
                <a:solidFill>
                  <a:srgbClr val="00B8A9"/>
                </a:solidFill>
                <a:latin typeface="Helvetica Neue" pitchFamily="34" charset="0"/>
                <a:ea typeface="Helvetica Neue" pitchFamily="34" charset="-122"/>
                <a:cs typeface="Helvetica Neue" pitchFamily="34" charset="-120"/>
              </a:rPr>
              <a:t>HY-per-Secure Hybridization</a:t>
            </a:r>
            <a:endParaRPr lang="en-US" sz="1400" dirty="0"/>
          </a:p>
        </p:txBody>
      </p:sp>
      <p:sp>
        <p:nvSpPr>
          <p:cNvPr id="6" name="Shape 4"/>
          <p:cNvSpPr/>
          <p:nvPr/>
        </p:nvSpPr>
        <p:spPr>
          <a:xfrm>
            <a:off x="502920" y="1920240"/>
            <a:ext cx="5303520" cy="2286000"/>
          </a:xfrm>
          <a:prstGeom prst="rect">
            <a:avLst/>
          </a:prstGeom>
          <a:solidFill>
            <a:srgbClr val="0D2839"/>
          </a:solidFill>
          <a:ln w="12700">
            <a:solidFill>
              <a:srgbClr val="00B8A9"/>
            </a:solidFill>
            <a:prstDash val="solid"/>
          </a:ln>
        </p:spPr>
      </p:sp>
      <p:sp>
        <p:nvSpPr>
          <p:cNvPr id="7" name="Text 5"/>
          <p:cNvSpPr/>
          <p:nvPr/>
        </p:nvSpPr>
        <p:spPr>
          <a:xfrm>
            <a:off x="731520" y="2057400"/>
            <a:ext cx="4846320" cy="2011680"/>
          </a:xfrm>
          <a:prstGeom prst="rect">
            <a:avLst/>
          </a:prstGeom>
          <a:noFill/>
          <a:ln/>
        </p:spPr>
        <p:txBody>
          <a:bodyPr wrap="square" lIns="0" tIns="0" rIns="0" bIns="0" rtlCol="0" anchor="ctr"/>
          <a:lstStyle/>
          <a:p>
            <a:pPr marL="127000" indent="-127000">
              <a:lnSpc>
                <a:spcPts val="1400"/>
              </a:lnSpc>
              <a:spcAft>
                <a:spcPts val="600"/>
              </a:spcAft>
              <a:buSzPct val="100000"/>
              <a:buChar char="▸"/>
            </a:pPr>
            <a:r>
              <a:rPr lang="en-US" sz="1050" dirty="0">
                <a:solidFill>
                  <a:srgbClr val="B0C8D8"/>
                </a:solidFill>
              </a:rPr>
              <a:t>Complete logical and physical segregation of institutional data</a:t>
            </a:r>
            <a:endParaRPr lang="en-US" sz="1050" dirty="0"/>
          </a:p>
          <a:p>
            <a:pPr marL="127000" indent="-127000">
              <a:lnSpc>
                <a:spcPts val="1400"/>
              </a:lnSpc>
              <a:spcAft>
                <a:spcPts val="600"/>
              </a:spcAft>
              <a:buSzPct val="100000"/>
              <a:buChar char="▸"/>
            </a:pPr>
            <a:r>
              <a:rPr lang="en-US" sz="1050" dirty="0">
                <a:solidFill>
                  <a:srgbClr val="B0C8D8"/>
                </a:solidFill>
              </a:rPr>
              <a:t>Absolute data sovereignty — inference data terminates within local hardware boundaries</a:t>
            </a:r>
            <a:endParaRPr lang="en-US" sz="1050" dirty="0"/>
          </a:p>
          <a:p>
            <a:pPr marL="127000" indent="-127000">
              <a:lnSpc>
                <a:spcPts val="1400"/>
              </a:lnSpc>
              <a:spcAft>
                <a:spcPts val="600"/>
              </a:spcAft>
              <a:buSzPct val="100000"/>
              <a:buChar char="▸"/>
            </a:pPr>
            <a:r>
              <a:rPr lang="en-US" sz="1050" dirty="0">
                <a:solidFill>
                  <a:srgbClr val="B0C8D8"/>
                </a:solidFill>
              </a:rPr>
              <a:t>Ring-fenced enclaves per vertical (Legal, Compliance, Health, Real Estate)</a:t>
            </a:r>
            <a:endParaRPr lang="en-US" sz="1050" dirty="0"/>
          </a:p>
          <a:p>
            <a:pPr marL="127000" indent="-127000">
              <a:lnSpc>
                <a:spcPts val="1400"/>
              </a:lnSpc>
              <a:spcAft>
                <a:spcPts val="600"/>
              </a:spcAft>
              <a:buSzPct val="100000"/>
              <a:buChar char="▸"/>
            </a:pPr>
            <a:r>
              <a:rPr lang="en-US" sz="1050" dirty="0">
                <a:solidFill>
                  <a:srgbClr val="E8C847"/>
                </a:solidFill>
              </a:rPr>
              <a:t>LGPD statutory isolation satisfied by architectural design, not contract amendment</a:t>
            </a:r>
            <a:endParaRPr lang="en-US" sz="1050" dirty="0"/>
          </a:p>
        </p:txBody>
      </p:sp>
      <p:sp>
        <p:nvSpPr>
          <p:cNvPr id="8" name="Text 6"/>
          <p:cNvSpPr/>
          <p:nvPr/>
        </p:nvSpPr>
        <p:spPr>
          <a:xfrm>
            <a:off x="6400800" y="1554480"/>
            <a:ext cx="5303520" cy="365760"/>
          </a:xfrm>
          <a:prstGeom prst="rect">
            <a:avLst/>
          </a:prstGeom>
          <a:noFill/>
          <a:ln/>
        </p:spPr>
        <p:txBody>
          <a:bodyPr wrap="square" lIns="0" tIns="0" rIns="0" bIns="0" rtlCol="0" anchor="ctr"/>
          <a:lstStyle/>
          <a:p>
            <a:pPr indent="0" marL="0">
              <a:buNone/>
            </a:pPr>
            <a:r>
              <a:rPr lang="en-US" sz="1400" b="1" dirty="0">
                <a:solidFill>
                  <a:srgbClr val="00B8A9"/>
                </a:solidFill>
                <a:latin typeface="Helvetica Neue" pitchFamily="34" charset="0"/>
                <a:ea typeface="Helvetica Neue" pitchFamily="34" charset="-122"/>
                <a:cs typeface="Helvetica Neue" pitchFamily="34" charset="-120"/>
              </a:rPr>
              <a:t>HY-dro-Solar Autonomy</a:t>
            </a:r>
            <a:endParaRPr lang="en-US" sz="1400" dirty="0"/>
          </a:p>
        </p:txBody>
      </p:sp>
      <p:sp>
        <p:nvSpPr>
          <p:cNvPr id="9" name="Shape 7"/>
          <p:cNvSpPr/>
          <p:nvPr/>
        </p:nvSpPr>
        <p:spPr>
          <a:xfrm>
            <a:off x="6400800" y="1920240"/>
            <a:ext cx="5303520" cy="2286000"/>
          </a:xfrm>
          <a:prstGeom prst="rect">
            <a:avLst/>
          </a:prstGeom>
          <a:solidFill>
            <a:srgbClr val="0D2839"/>
          </a:solidFill>
          <a:ln w="12700">
            <a:solidFill>
              <a:srgbClr val="D4A843"/>
            </a:solidFill>
            <a:prstDash val="solid"/>
          </a:ln>
        </p:spPr>
      </p:sp>
      <p:sp>
        <p:nvSpPr>
          <p:cNvPr id="10" name="Text 8"/>
          <p:cNvSpPr/>
          <p:nvPr/>
        </p:nvSpPr>
        <p:spPr>
          <a:xfrm>
            <a:off x="6629400" y="2057400"/>
            <a:ext cx="4846320" cy="2011680"/>
          </a:xfrm>
          <a:prstGeom prst="rect">
            <a:avLst/>
          </a:prstGeom>
          <a:noFill/>
          <a:ln/>
        </p:spPr>
        <p:txBody>
          <a:bodyPr wrap="square" lIns="0" tIns="0" rIns="0" bIns="0" rtlCol="0" anchor="ctr"/>
          <a:lstStyle/>
          <a:p>
            <a:pPr marL="127000" indent="-127000">
              <a:lnSpc>
                <a:spcPts val="1400"/>
              </a:lnSpc>
              <a:spcAft>
                <a:spcPts val="600"/>
              </a:spcAft>
              <a:buSzPct val="100000"/>
              <a:buChar char="▸"/>
            </a:pPr>
            <a:r>
              <a:rPr lang="en-US" sz="1050" dirty="0">
                <a:solidFill>
                  <a:srgbClr val="B0C8D8"/>
                </a:solidFill>
              </a:rPr>
              <a:t>100% off-grid — zero connection to public power grid</a:t>
            </a:r>
            <a:endParaRPr lang="en-US" sz="1050" dirty="0"/>
          </a:p>
          <a:p>
            <a:pPr marL="127000" indent="-127000">
              <a:lnSpc>
                <a:spcPts val="1400"/>
              </a:lnSpc>
              <a:spcAft>
                <a:spcPts val="600"/>
              </a:spcAft>
              <a:buSzPct val="100000"/>
              <a:buChar char="▸"/>
            </a:pPr>
            <a:r>
              <a:rPr lang="en-US" sz="1050" dirty="0">
                <a:solidFill>
                  <a:srgbClr val="B0C8D8"/>
                </a:solidFill>
              </a:rPr>
              <a:t>Dedicated photovoltaic solar plant on owned land</a:t>
            </a:r>
            <a:endParaRPr lang="en-US" sz="1050" dirty="0"/>
          </a:p>
          <a:p>
            <a:pPr marL="127000" indent="-127000">
              <a:lnSpc>
                <a:spcPts val="1400"/>
              </a:lnSpc>
              <a:spcAft>
                <a:spcPts val="600"/>
              </a:spcAft>
              <a:buSzPct val="100000"/>
              <a:buChar char="▸"/>
            </a:pPr>
            <a:r>
              <a:rPr lang="en-US" sz="1050" dirty="0">
                <a:solidFill>
                  <a:srgbClr val="B0C8D8"/>
                </a:solidFill>
              </a:rPr>
              <a:t>High-throughput satellite transmission backup</a:t>
            </a:r>
            <a:endParaRPr lang="en-US" sz="1050" dirty="0"/>
          </a:p>
          <a:p>
            <a:pPr marL="127000" indent="-127000">
              <a:lnSpc>
                <a:spcPts val="1400"/>
              </a:lnSpc>
              <a:spcAft>
                <a:spcPts val="600"/>
              </a:spcAft>
              <a:buSzPct val="100000"/>
              <a:buChar char="▸"/>
            </a:pPr>
            <a:r>
              <a:rPr lang="en-US" sz="1050" dirty="0">
                <a:solidFill>
                  <a:srgbClr val="E8C847"/>
                </a:solidFill>
              </a:rPr>
              <a:t>Carbon-free processing — ESG-auditable, zero-carbon per GPU-hour</a:t>
            </a:r>
            <a:endParaRPr lang="en-US" sz="1050" dirty="0"/>
          </a:p>
          <a:p>
            <a:pPr marL="127000" indent="-127000">
              <a:lnSpc>
                <a:spcPts val="1400"/>
              </a:lnSpc>
              <a:spcAft>
                <a:spcPts val="600"/>
              </a:spcAft>
              <a:buSzPct val="100000"/>
              <a:buChar char="▸"/>
            </a:pPr>
            <a:r>
              <a:rPr lang="en-US" sz="1050" dirty="0">
                <a:solidFill>
                  <a:srgbClr val="E8C847"/>
                </a:solidFill>
              </a:rPr>
              <a:t>Complete insulation from public grid failures and energy price volatility</a:t>
            </a:r>
            <a:endParaRPr lang="en-US" sz="1050" dirty="0"/>
          </a:p>
        </p:txBody>
      </p:sp>
      <p:sp>
        <p:nvSpPr>
          <p:cNvPr id="11" name="Text 9"/>
          <p:cNvSpPr/>
          <p:nvPr/>
        </p:nvSpPr>
        <p:spPr>
          <a:xfrm>
            <a:off x="502920" y="4389120"/>
            <a:ext cx="5486400" cy="365760"/>
          </a:xfrm>
          <a:prstGeom prst="rect">
            <a:avLst/>
          </a:prstGeom>
          <a:noFill/>
          <a:ln/>
        </p:spPr>
        <p:txBody>
          <a:bodyPr wrap="square" lIns="0" tIns="0" rIns="0" bIns="0" rtlCol="0" anchor="ctr"/>
          <a:lstStyle/>
          <a:p>
            <a:pPr indent="0" marL="0">
              <a:buNone/>
            </a:pPr>
            <a:r>
              <a:rPr lang="en-US" sz="1400" b="1" dirty="0">
                <a:solidFill>
                  <a:srgbClr val="00B8A9"/>
                </a:solidFill>
                <a:latin typeface="Helvetica Neue" pitchFamily="34" charset="0"/>
                <a:ea typeface="Helvetica Neue" pitchFamily="34" charset="-122"/>
                <a:cs typeface="Helvetica Neue" pitchFamily="34" charset="-120"/>
              </a:rPr>
              <a:t>The Dual-Hub Deployment Model</a:t>
            </a:r>
            <a:endParaRPr lang="en-US" sz="1400" dirty="0"/>
          </a:p>
        </p:txBody>
      </p:sp>
      <p:sp>
        <p:nvSpPr>
          <p:cNvPr id="12" name="Shape 10"/>
          <p:cNvSpPr/>
          <p:nvPr/>
        </p:nvSpPr>
        <p:spPr>
          <a:xfrm>
            <a:off x="502920" y="4754880"/>
            <a:ext cx="5394960" cy="1371600"/>
          </a:xfrm>
          <a:prstGeom prst="rect">
            <a:avLst/>
          </a:prstGeom>
          <a:solidFill>
            <a:srgbClr val="0D2839"/>
          </a:solidFill>
          <a:ln w="12700">
            <a:solidFill>
              <a:srgbClr val="2E6FAF"/>
            </a:solidFill>
            <a:prstDash val="solid"/>
          </a:ln>
        </p:spPr>
      </p:sp>
      <p:sp>
        <p:nvSpPr>
          <p:cNvPr id="13" name="Text 11"/>
          <p:cNvSpPr/>
          <p:nvPr/>
        </p:nvSpPr>
        <p:spPr>
          <a:xfrm>
            <a:off x="685800" y="4846320"/>
            <a:ext cx="5029200" cy="1188720"/>
          </a:xfrm>
          <a:prstGeom prst="rect">
            <a:avLst/>
          </a:prstGeom>
          <a:noFill/>
          <a:ln/>
        </p:spPr>
        <p:txBody>
          <a:bodyPr wrap="square" lIns="0" tIns="0" rIns="0" bIns="0" rtlCol="0" anchor="ctr"/>
          <a:lstStyle/>
          <a:p>
            <a:pPr indent="0" marL="0">
              <a:lnSpc>
                <a:spcPts val="1300"/>
              </a:lnSpc>
              <a:spcAft>
                <a:spcPts val="400"/>
              </a:spcAft>
              <a:buNone/>
            </a:pPr>
            <a:r>
              <a:rPr lang="en-US" sz="1200" b="1" dirty="0">
                <a:solidFill>
                  <a:srgbClr val="00B8A9"/>
                </a:solidFill>
              </a:rPr>
              <a:t>Hub 1: ZPE Caucaia, CE</a:t>
            </a:r>
            <a:endParaRPr lang="en-US" sz="1200" dirty="0"/>
          </a:p>
          <a:p>
            <a:pPr indent="0" marL="0">
              <a:lnSpc>
                <a:spcPts val="1300"/>
              </a:lnSpc>
              <a:spcAft>
                <a:spcPts val="400"/>
              </a:spcAft>
              <a:buNone/>
            </a:pPr>
            <a:r>
              <a:rPr lang="en-US" sz="1000" i="1" dirty="0">
                <a:solidFill>
                  <a:srgbClr val="8FC0D0"/>
                </a:solidFill>
              </a:rPr>
              <a:t>Subsea Link &amp; Tax-Free Zone</a:t>
            </a:r>
            <a:endParaRPr lang="en-US" sz="1200" dirty="0"/>
          </a:p>
          <a:p>
            <a:pPr indent="0" marL="0">
              <a:lnSpc>
                <a:spcPts val="1300"/>
              </a:lnSpc>
              <a:spcAft>
                <a:spcPts val="400"/>
              </a:spcAft>
              <a:buNone/>
            </a:pPr>
            <a:r>
              <a:rPr lang="en-US" sz="900" dirty="0">
                <a:solidFill>
                  <a:srgbClr val="B0C8D8"/>
                </a:solidFill>
              </a:rPr>
              <a:t>Adjacent to submarine cable landing stations · duty-free GPU ingestion · direct transatlantic fiber</a:t>
            </a:r>
            <a:endParaRPr lang="en-US" sz="1200" dirty="0"/>
          </a:p>
        </p:txBody>
      </p:sp>
      <p:sp>
        <p:nvSpPr>
          <p:cNvPr id="14" name="Shape 12"/>
          <p:cNvSpPr/>
          <p:nvPr/>
        </p:nvSpPr>
        <p:spPr>
          <a:xfrm>
            <a:off x="6126480" y="4754880"/>
            <a:ext cx="5394960" cy="1371600"/>
          </a:xfrm>
          <a:prstGeom prst="rect">
            <a:avLst/>
          </a:prstGeom>
          <a:solidFill>
            <a:srgbClr val="0D2839"/>
          </a:solidFill>
          <a:ln w="12700">
            <a:solidFill>
              <a:srgbClr val="D4A843"/>
            </a:solidFill>
            <a:prstDash val="solid"/>
          </a:ln>
        </p:spPr>
      </p:sp>
      <p:sp>
        <p:nvSpPr>
          <p:cNvPr id="15" name="Text 13"/>
          <p:cNvSpPr/>
          <p:nvPr/>
        </p:nvSpPr>
        <p:spPr>
          <a:xfrm>
            <a:off x="6309360" y="4846320"/>
            <a:ext cx="5029200" cy="1188720"/>
          </a:xfrm>
          <a:prstGeom prst="rect">
            <a:avLst/>
          </a:prstGeom>
          <a:noFill/>
          <a:ln/>
        </p:spPr>
        <p:txBody>
          <a:bodyPr wrap="square" lIns="0" tIns="0" rIns="0" bIns="0" rtlCol="0" anchor="ctr"/>
          <a:lstStyle/>
          <a:p>
            <a:pPr indent="0" marL="0">
              <a:lnSpc>
                <a:spcPts val="1300"/>
              </a:lnSpc>
              <a:spcAft>
                <a:spcPts val="400"/>
              </a:spcAft>
              <a:buNone/>
            </a:pPr>
            <a:r>
              <a:rPr lang="en-US" sz="1200" b="1" dirty="0">
                <a:solidFill>
                  <a:srgbClr val="E8C847"/>
                </a:solidFill>
              </a:rPr>
              <a:t>Hub 2: Santa Terezinha, PB</a:t>
            </a:r>
            <a:endParaRPr lang="en-US" sz="1200" dirty="0"/>
          </a:p>
          <a:p>
            <a:pPr indent="0" marL="0">
              <a:lnSpc>
                <a:spcPts val="1300"/>
              </a:lnSpc>
              <a:spcAft>
                <a:spcPts val="400"/>
              </a:spcAft>
              <a:buNone/>
            </a:pPr>
            <a:r>
              <a:rPr lang="en-US" sz="1000" i="1" dirty="0">
                <a:solidFill>
                  <a:srgbClr val="8FC0D0"/>
                </a:solidFill>
              </a:rPr>
              <a:t>Solar Autonomy &amp; Satellite</a:t>
            </a:r>
            <a:endParaRPr lang="en-US" sz="1200" dirty="0"/>
          </a:p>
          <a:p>
            <a:pPr indent="0" marL="0">
              <a:lnSpc>
                <a:spcPts val="1300"/>
              </a:lnSpc>
              <a:spcAft>
                <a:spcPts val="400"/>
              </a:spcAft>
              <a:buNone/>
            </a:pPr>
            <a:r>
              <a:rPr lang="en-US" sz="900" dirty="0">
                <a:solidFill>
                  <a:srgbClr val="B0C8D8"/>
                </a:solidFill>
              </a:rPr>
              <a:t>100% off-grid photovoltaic plant · satellite transmission · carbon-free · owned land</a:t>
            </a:r>
            <a:endParaRPr lang="en-US" sz="1200" dirty="0"/>
          </a:p>
        </p:txBody>
      </p:sp>
      <p:sp>
        <p:nvSpPr>
          <p:cNvPr id="16" name="Text 14"/>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6B9BB0"/>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7" name="Text 15"/>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6B9BB0"/>
                </a:solidFill>
                <a:latin typeface="Helvetica Neue" pitchFamily="34" charset="0"/>
                <a:ea typeface="Helvetica Neue" pitchFamily="34" charset="-122"/>
                <a:cs typeface="Helvetica Neue"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ZPE Caucaia — The Subsea Cable Advantage</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Direct integration with international submarine cable landing stations</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graphicFrame>
        <p:nvGraphicFramePr>
          <p:cNvPr id="5" name="Chart 0" descr=""/>
          <p:cNvGraphicFramePr/>
          <p:nvPr/>
        </p:nvGraphicFramePr>
        <p:xfrm>
          <a:off x="502920" y="155448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1554480"/>
            <a:ext cx="5303520" cy="365760"/>
          </a:xfrm>
          <a:prstGeom prst="rect">
            <a:avLst/>
          </a:prstGeom>
          <a:noFill/>
          <a:ln/>
        </p:spPr>
        <p:txBody>
          <a:bodyPr wrap="square" lIns="0" tIns="0" rIns="0" bIns="0" rtlCol="0" anchor="ctr"/>
          <a:lstStyle/>
          <a:p>
            <a:pPr indent="0" marL="0">
              <a:buNone/>
            </a:pPr>
            <a:r>
              <a:rPr lang="en-US" sz="1300" b="1" dirty="0">
                <a:solidFill>
                  <a:srgbClr val="0A1F2E"/>
                </a:solidFill>
                <a:latin typeface="Helvetica Neue" pitchFamily="34" charset="0"/>
                <a:ea typeface="Helvetica Neue" pitchFamily="34" charset="-122"/>
                <a:cs typeface="Helvetica Neue" pitchFamily="34" charset="-120"/>
              </a:rPr>
              <a:t>Submarine Cable Systems at Node</a:t>
            </a:r>
            <a:endParaRPr lang="en-US" sz="1300" dirty="0"/>
          </a:p>
        </p:txBody>
      </p:sp>
      <p:sp>
        <p:nvSpPr>
          <p:cNvPr id="7" name="Shape 4"/>
          <p:cNvSpPr/>
          <p:nvPr/>
        </p:nvSpPr>
        <p:spPr>
          <a:xfrm>
            <a:off x="6400800" y="1874520"/>
            <a:ext cx="5303520" cy="777240"/>
          </a:xfrm>
          <a:prstGeom prst="rect">
            <a:avLst/>
          </a:prstGeom>
          <a:solidFill>
            <a:srgbClr val="F0F5F7"/>
          </a:solidFill>
          <a:ln w="9525">
            <a:solidFill>
              <a:srgbClr val="C8D5DC"/>
            </a:solidFill>
            <a:prstDash val="solid"/>
          </a:ln>
        </p:spPr>
      </p:sp>
      <p:sp>
        <p:nvSpPr>
          <p:cNvPr id="8" name="Text 5"/>
          <p:cNvSpPr/>
          <p:nvPr/>
        </p:nvSpPr>
        <p:spPr>
          <a:xfrm>
            <a:off x="6537960" y="1920240"/>
            <a:ext cx="5029200" cy="731520"/>
          </a:xfrm>
          <a:prstGeom prst="rect">
            <a:avLst/>
          </a:prstGeom>
          <a:noFill/>
          <a:ln/>
        </p:spPr>
        <p:txBody>
          <a:bodyPr wrap="square" lIns="0" tIns="0" rIns="0" bIns="0" rtlCol="0" anchor="ctr"/>
          <a:lstStyle/>
          <a:p>
            <a:pPr indent="0" marL="0">
              <a:lnSpc>
                <a:spcPts val="1200"/>
              </a:lnSpc>
              <a:spcAft>
                <a:spcPts val="200"/>
              </a:spcAft>
              <a:buNone/>
            </a:pPr>
            <a:r>
              <a:rPr lang="en-US" sz="1100" b="1" dirty="0">
                <a:solidFill>
                  <a:srgbClr val="2E6FAF"/>
                </a:solidFill>
              </a:rPr>
              <a:t>Monet &amp; Seabras-1</a:t>
            </a:r>
            <a:endParaRPr lang="en-US" sz="1100" dirty="0"/>
          </a:p>
          <a:p>
            <a:pPr indent="0" marL="0">
              <a:lnSpc>
                <a:spcPts val="1200"/>
              </a:lnSpc>
              <a:spcAft>
                <a:spcPts val="200"/>
              </a:spcAft>
              <a:buNone/>
            </a:pPr>
            <a:r>
              <a:rPr lang="en-US" sz="900" dirty="0">
                <a:solidFill>
                  <a:srgbClr val="5A6B7A"/>
                </a:solidFill>
              </a:rPr>
              <a:t>Direct ultra-low-latency paths to US East (Virginia, New Jersey, Miami) — 42-48% latency reduction</a:t>
            </a:r>
            <a:endParaRPr lang="en-US" sz="1100" dirty="0"/>
          </a:p>
        </p:txBody>
      </p:sp>
      <p:sp>
        <p:nvSpPr>
          <p:cNvPr id="9" name="Shape 6"/>
          <p:cNvSpPr/>
          <p:nvPr/>
        </p:nvSpPr>
        <p:spPr>
          <a:xfrm>
            <a:off x="6400800" y="2743200"/>
            <a:ext cx="5303520" cy="777240"/>
          </a:xfrm>
          <a:prstGeom prst="rect">
            <a:avLst/>
          </a:prstGeom>
          <a:solidFill>
            <a:srgbClr val="F0F5F7"/>
          </a:solidFill>
          <a:ln w="9525">
            <a:solidFill>
              <a:srgbClr val="C8D5DC"/>
            </a:solidFill>
            <a:prstDash val="solid"/>
          </a:ln>
        </p:spPr>
      </p:sp>
      <p:sp>
        <p:nvSpPr>
          <p:cNvPr id="10" name="Text 7"/>
          <p:cNvSpPr/>
          <p:nvPr/>
        </p:nvSpPr>
        <p:spPr>
          <a:xfrm>
            <a:off x="6537960" y="2788920"/>
            <a:ext cx="5029200" cy="731520"/>
          </a:xfrm>
          <a:prstGeom prst="rect">
            <a:avLst/>
          </a:prstGeom>
          <a:noFill/>
          <a:ln/>
        </p:spPr>
        <p:txBody>
          <a:bodyPr wrap="square" lIns="0" tIns="0" rIns="0" bIns="0" rtlCol="0" anchor="ctr"/>
          <a:lstStyle/>
          <a:p>
            <a:pPr indent="0" marL="0">
              <a:lnSpc>
                <a:spcPts val="1200"/>
              </a:lnSpc>
              <a:spcAft>
                <a:spcPts val="200"/>
              </a:spcAft>
              <a:buNone/>
            </a:pPr>
            <a:r>
              <a:rPr lang="en-US" sz="1100" b="1" dirty="0">
                <a:solidFill>
                  <a:srgbClr val="2E6FAF"/>
                </a:solidFill>
              </a:rPr>
              <a:t>EllaLink</a:t>
            </a:r>
            <a:endParaRPr lang="en-US" sz="1100" dirty="0"/>
          </a:p>
          <a:p>
            <a:pPr indent="0" marL="0">
              <a:lnSpc>
                <a:spcPts val="1200"/>
              </a:lnSpc>
              <a:spcAft>
                <a:spcPts val="200"/>
              </a:spcAft>
              <a:buNone/>
            </a:pPr>
            <a:r>
              <a:rPr lang="en-US" sz="900" dirty="0">
                <a:solidFill>
                  <a:srgbClr val="5A6B7A"/>
                </a:solidFill>
              </a:rPr>
              <a:t>Direct optical link to Europe (Sines/Lisbon, Portugal) — bypassing US jurisdiction — 55-60% reduction</a:t>
            </a:r>
            <a:endParaRPr lang="en-US" sz="1100" dirty="0"/>
          </a:p>
        </p:txBody>
      </p:sp>
      <p:sp>
        <p:nvSpPr>
          <p:cNvPr id="11" name="Shape 8"/>
          <p:cNvSpPr/>
          <p:nvPr/>
        </p:nvSpPr>
        <p:spPr>
          <a:xfrm>
            <a:off x="6400800" y="3611880"/>
            <a:ext cx="5303520" cy="777240"/>
          </a:xfrm>
          <a:prstGeom prst="rect">
            <a:avLst/>
          </a:prstGeom>
          <a:solidFill>
            <a:srgbClr val="F0F5F7"/>
          </a:solidFill>
          <a:ln w="9525">
            <a:solidFill>
              <a:srgbClr val="C8D5DC"/>
            </a:solidFill>
            <a:prstDash val="solid"/>
          </a:ln>
        </p:spPr>
      </p:sp>
      <p:sp>
        <p:nvSpPr>
          <p:cNvPr id="12" name="Text 9"/>
          <p:cNvSpPr/>
          <p:nvPr/>
        </p:nvSpPr>
        <p:spPr>
          <a:xfrm>
            <a:off x="6537960" y="3657600"/>
            <a:ext cx="5029200" cy="731520"/>
          </a:xfrm>
          <a:prstGeom prst="rect">
            <a:avLst/>
          </a:prstGeom>
          <a:noFill/>
          <a:ln/>
        </p:spPr>
        <p:txBody>
          <a:bodyPr wrap="square" lIns="0" tIns="0" rIns="0" bIns="0" rtlCol="0" anchor="ctr"/>
          <a:lstStyle/>
          <a:p>
            <a:pPr indent="0" marL="0">
              <a:lnSpc>
                <a:spcPts val="1200"/>
              </a:lnSpc>
              <a:spcAft>
                <a:spcPts val="200"/>
              </a:spcAft>
              <a:buNone/>
            </a:pPr>
            <a:r>
              <a:rPr lang="en-US" sz="1100" b="1" dirty="0">
                <a:solidFill>
                  <a:srgbClr val="2E6FAF"/>
                </a:solidFill>
              </a:rPr>
              <a:t>SACS</a:t>
            </a:r>
            <a:endParaRPr lang="en-US" sz="1100" dirty="0"/>
          </a:p>
          <a:p>
            <a:pPr indent="0" marL="0">
              <a:lnSpc>
                <a:spcPts val="1200"/>
              </a:lnSpc>
              <a:spcAft>
                <a:spcPts val="200"/>
              </a:spcAft>
              <a:buNone/>
            </a:pPr>
            <a:r>
              <a:rPr lang="en-US" sz="900" dirty="0">
                <a:solidFill>
                  <a:srgbClr val="5A6B7A"/>
                </a:solidFill>
              </a:rPr>
              <a:t>Direct southern routing toward Africa (Luanda) and onward to Asia-Pacific</a:t>
            </a:r>
            <a:endParaRPr lang="en-US" sz="1100" dirty="0"/>
          </a:p>
        </p:txBody>
      </p:sp>
      <p:sp>
        <p:nvSpPr>
          <p:cNvPr id="13" name="Shape 10"/>
          <p:cNvSpPr/>
          <p:nvPr/>
        </p:nvSpPr>
        <p:spPr>
          <a:xfrm>
            <a:off x="6400800" y="4480560"/>
            <a:ext cx="5303520" cy="777240"/>
          </a:xfrm>
          <a:prstGeom prst="rect">
            <a:avLst/>
          </a:prstGeom>
          <a:solidFill>
            <a:srgbClr val="F0F5F7"/>
          </a:solidFill>
          <a:ln w="9525">
            <a:solidFill>
              <a:srgbClr val="C8D5DC"/>
            </a:solidFill>
            <a:prstDash val="solid"/>
          </a:ln>
        </p:spPr>
      </p:sp>
      <p:sp>
        <p:nvSpPr>
          <p:cNvPr id="14" name="Text 11"/>
          <p:cNvSpPr/>
          <p:nvPr/>
        </p:nvSpPr>
        <p:spPr>
          <a:xfrm>
            <a:off x="6537960" y="4526280"/>
            <a:ext cx="5029200" cy="731520"/>
          </a:xfrm>
          <a:prstGeom prst="rect">
            <a:avLst/>
          </a:prstGeom>
          <a:noFill/>
          <a:ln/>
        </p:spPr>
        <p:txBody>
          <a:bodyPr wrap="square" lIns="0" tIns="0" rIns="0" bIns="0" rtlCol="0" anchor="ctr"/>
          <a:lstStyle/>
          <a:p>
            <a:pPr indent="0" marL="0">
              <a:lnSpc>
                <a:spcPts val="1200"/>
              </a:lnSpc>
              <a:spcAft>
                <a:spcPts val="200"/>
              </a:spcAft>
              <a:buNone/>
            </a:pPr>
            <a:r>
              <a:rPr lang="en-US" sz="1100" b="1" dirty="0">
                <a:solidFill>
                  <a:srgbClr val="2E6FAF"/>
                </a:solidFill>
              </a:rPr>
              <a:t>Junior &amp; Malbec</a:t>
            </a:r>
            <a:endParaRPr lang="en-US" sz="1100" dirty="0"/>
          </a:p>
          <a:p>
            <a:pPr indent="0" marL="0">
              <a:lnSpc>
                <a:spcPts val="1200"/>
              </a:lnSpc>
              <a:spcAft>
                <a:spcPts val="200"/>
              </a:spcAft>
              <a:buNone/>
            </a:pPr>
            <a:r>
              <a:rPr lang="en-US" sz="900" dirty="0">
                <a:solidFill>
                  <a:srgbClr val="5A6B7A"/>
                </a:solidFill>
              </a:rPr>
              <a:t>High-capacity coastal backbones to São Paulo, Rio, Buenos Aires</a:t>
            </a:r>
            <a:endParaRPr lang="en-US" sz="1100" dirty="0"/>
          </a:p>
        </p:txBody>
      </p:sp>
      <p:sp>
        <p:nvSpPr>
          <p:cNvPr id="15" name="Text 12"/>
          <p:cNvSpPr/>
          <p:nvPr/>
        </p:nvSpPr>
        <p:spPr>
          <a:xfrm>
            <a:off x="502920" y="5257800"/>
            <a:ext cx="11183112" cy="365760"/>
          </a:xfrm>
          <a:prstGeom prst="rect">
            <a:avLst/>
          </a:prstGeom>
          <a:noFill/>
          <a:ln/>
        </p:spPr>
        <p:txBody>
          <a:bodyPr wrap="square" lIns="0" tIns="0" rIns="0" bIns="0" rtlCol="0" anchor="ctr"/>
          <a:lstStyle/>
          <a:p>
            <a:pPr algn="ctr" indent="0" marL="0">
              <a:buNone/>
            </a:pPr>
            <a:r>
              <a:rPr lang="en-US" sz="1050" b="1" dirty="0">
                <a:solidFill>
                  <a:srgbClr val="000000"/>
                </a:solidFill>
              </a:rPr>
              <a:t>Tencent Connectivity Multiplier: anchoring compute at this node optimizes latency for the entirety of Tencent Cloud's corporate service catalog across South America.</a:t>
            </a:r>
            <a:endParaRPr lang="en-US" sz="1050" dirty="0"/>
          </a:p>
        </p:txBody>
      </p:sp>
      <p:sp>
        <p:nvSpPr>
          <p:cNvPr id="16" name="Text 13"/>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7" name="Text 14"/>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Quantitative Latency Benchmarks</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Engineered vs. traditional routing — measured round-trip times (RTT)</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200400"/>
                <a:gridCol w="2926080"/>
                <a:gridCol w="2743200"/>
                <a:gridCol w="1856232"/>
              </a:tblGrid>
              <a:tr h="502920">
                <a:tc>
                  <a:txBody>
                    <a:bodyPr/>
                    <a:lstStyle/>
                    <a:p>
                      <a:pPr algn="l" indent="0" marL="0">
                        <a:buNone/>
                      </a:pPr>
                      <a:r>
                        <a:rPr lang="en-US" sz="900" b="1" dirty="0">
                          <a:solidFill>
                            <a:srgbClr val="E8C847"/>
                          </a:solidFill>
                          <a:latin typeface="Helvetica Neue" pitchFamily="34" charset="0"/>
                          <a:ea typeface="Helvetica Neue" pitchFamily="34" charset="-122"/>
                          <a:cs typeface="Helvetica Neue" pitchFamily="34" charset="-120"/>
                        </a:rPr>
                        <a:t>Traffic Route</a:t>
                      </a:r>
                      <a:endParaRPr lang="en-US" sz="9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c>
                  <a:txBody>
                    <a:bodyPr/>
                    <a:lstStyle/>
                    <a:p>
                      <a:pPr algn="l" indent="0" marL="0">
                        <a:buNone/>
                      </a:pPr>
                      <a:r>
                        <a:rPr lang="en-US" sz="900" b="1" dirty="0">
                          <a:solidFill>
                            <a:srgbClr val="E8C847"/>
                          </a:solidFill>
                          <a:latin typeface="Helvetica Neue" pitchFamily="34" charset="0"/>
                          <a:ea typeface="Helvetica Neue" pitchFamily="34" charset="-122"/>
                          <a:cs typeface="Helvetica Neue" pitchFamily="34" charset="-120"/>
                        </a:rPr>
                        <a:t>Traditional Path (Inland/Multi-Hop)</a:t>
                      </a:r>
                      <a:endParaRPr lang="en-US" sz="9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c>
                  <a:txBody>
                    <a:bodyPr/>
                    <a:lstStyle/>
                    <a:p>
                      <a:pPr algn="l" indent="0" marL="0">
                        <a:buNone/>
                      </a:pPr>
                      <a:r>
                        <a:rPr lang="en-US" sz="900" b="1" dirty="0">
                          <a:solidFill>
                            <a:srgbClr val="E8C847"/>
                          </a:solidFill>
                          <a:latin typeface="Helvetica Neue" pitchFamily="34" charset="0"/>
                          <a:ea typeface="Helvetica Neue" pitchFamily="34" charset="-122"/>
                          <a:cs typeface="Helvetica Neue" pitchFamily="34" charset="-120"/>
                        </a:rPr>
                        <a:t>ZPE Caucaia Direct Subsea</a:t>
                      </a:r>
                      <a:endParaRPr lang="en-US" sz="9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c>
                  <a:txBody>
                    <a:bodyPr/>
                    <a:lstStyle/>
                    <a:p>
                      <a:pPr algn="ctr" indent="0" marL="0">
                        <a:buNone/>
                      </a:pPr>
                      <a:r>
                        <a:rPr lang="en-US" sz="900" b="1" dirty="0">
                          <a:solidFill>
                            <a:srgbClr val="E8C847"/>
                          </a:solidFill>
                          <a:latin typeface="Helvetica Neue" pitchFamily="34" charset="0"/>
                          <a:ea typeface="Helvetica Neue" pitchFamily="34" charset="-122"/>
                          <a:cs typeface="Helvetica Neue" pitchFamily="34" charset="-120"/>
                        </a:rPr>
                        <a:t>RTT Reduction</a:t>
                      </a:r>
                      <a:endParaRPr lang="en-US" sz="9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r>
              <a:tr h="502920">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Fortaleza ↔ US East (Virginia/Miami)</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~110-135 ms (via SP loop)</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~60-65 ms</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B8A9"/>
                          </a:solidFill>
                          <a:latin typeface="Helvetica Neue" pitchFamily="34" charset="0"/>
                          <a:ea typeface="Helvetica Neue" pitchFamily="34" charset="-122"/>
                          <a:cs typeface="Helvetica Neue" pitchFamily="34" charset="-120"/>
                        </a:rPr>
                        <a:t>42-48%</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r>
              <a:tr h="502920">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Fortaleza ↔ Europe (Lisbon/Madrid)</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~130-160 ms (via US routing)</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~58-64 ms (via EllaLink)</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c>
                  <a:txBody>
                    <a:bodyPr/>
                    <a:lstStyle/>
                    <a:p>
                      <a:pPr algn="ctr" indent="0" marL="0">
                        <a:buNone/>
                      </a:pPr>
                      <a:r>
                        <a:rPr lang="en-US" sz="1000" b="1" dirty="0">
                          <a:solidFill>
                            <a:srgbClr val="00B8A9"/>
                          </a:solidFill>
                          <a:latin typeface="Helvetica Neue" pitchFamily="34" charset="0"/>
                          <a:ea typeface="Helvetica Neue" pitchFamily="34" charset="-122"/>
                          <a:cs typeface="Helvetica Neue" pitchFamily="34" charset="-120"/>
                        </a:rPr>
                        <a:t>55-60%</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r>
              <a:tr h="502920">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Intra-LATAM ↔ Regional Nodes</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~45-75 ms</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332"/>
                          </a:solidFill>
                          <a:latin typeface="Helvetica Neue" pitchFamily="34" charset="0"/>
                          <a:ea typeface="Helvetica Neue" pitchFamily="34" charset="-122"/>
                          <a:cs typeface="Helvetica Neue" pitchFamily="34" charset="-120"/>
                        </a:rPr>
                        <a:t>~15-28 ms (direct fiber)</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B8A9"/>
                          </a:solidFill>
                          <a:latin typeface="Helvetica Neue" pitchFamily="34" charset="0"/>
                          <a:ea typeface="Helvetica Neue" pitchFamily="34" charset="-122"/>
                          <a:cs typeface="Helvetica Neue" pitchFamily="34" charset="-120"/>
                        </a:rPr>
                        <a:t>~50%</a:t>
                      </a:r>
                      <a:endParaRPr lang="en-US" sz="100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931920"/>
            <a:ext cx="11183112" cy="1097280"/>
          </a:xfrm>
          <a:prstGeom prst="rect">
            <a:avLst/>
          </a:prstGeom>
          <a:solidFill>
            <a:srgbClr val="0A1F2E"/>
          </a:solidFill>
          <a:ln w="12700">
            <a:solidFill>
              <a:srgbClr val="00B8A9"/>
            </a:solidFill>
            <a:prstDash val="solid"/>
          </a:ln>
        </p:spPr>
      </p:sp>
      <p:sp>
        <p:nvSpPr>
          <p:cNvPr id="7" name="Text 4"/>
          <p:cNvSpPr/>
          <p:nvPr/>
        </p:nvSpPr>
        <p:spPr>
          <a:xfrm>
            <a:off x="777240" y="4023360"/>
            <a:ext cx="10634472" cy="822960"/>
          </a:xfrm>
          <a:prstGeom prst="rect">
            <a:avLst/>
          </a:prstGeom>
          <a:noFill/>
          <a:ln/>
        </p:spPr>
        <p:txBody>
          <a:bodyPr wrap="square" lIns="0" tIns="0" rIns="0" bIns="0" rtlCol="0" anchor="ctr"/>
          <a:lstStyle/>
          <a:p>
            <a:pPr indent="0" marL="0">
              <a:lnSpc>
                <a:spcPts val="1500"/>
              </a:lnSpc>
              <a:buNone/>
            </a:pPr>
            <a:r>
              <a:rPr lang="en-US" sz="1200" b="1" dirty="0">
                <a:solidFill>
                  <a:srgbClr val="00B8A9"/>
                </a:solidFill>
              </a:rPr>
              <a:t>What this means for Tencent Cloud:</a:t>
            </a:r>
            <a:endParaRPr lang="en-US" sz="1200" dirty="0"/>
          </a:p>
          <a:p>
            <a:pPr indent="0" marL="0">
              <a:lnSpc>
                <a:spcPts val="1500"/>
              </a:lnSpc>
              <a:buNone/>
            </a:pPr>
            <a:r>
              <a:rPr lang="en-US" sz="1050" dirty="0">
                <a:solidFill>
                  <a:srgbClr val="B0C8D8"/>
                </a:solidFill>
              </a:rPr>
              <a:t>Every Tencent service — WeChat API, Tencent Meeting, cloud compute, gaming, and Hunyuan inference — gains a direct low-latency edge node in South America. No longer routing through US or São Paulo intermediaries. 42-60% improvement for 650 million potential users.</a:t>
            </a:r>
            <a:endParaRPr lang="en-US" sz="1200" dirty="0"/>
          </a:p>
        </p:txBody>
      </p:sp>
      <p:sp>
        <p:nvSpPr>
          <p:cNvPr id="8" name="Text 5"/>
          <p:cNvSpPr/>
          <p:nvPr/>
        </p:nvSpPr>
        <p:spPr>
          <a:xfrm>
            <a:off x="502920" y="6172200"/>
            <a:ext cx="11183112" cy="274320"/>
          </a:xfrm>
          <a:prstGeom prst="rect">
            <a:avLst/>
          </a:prstGeom>
          <a:noFill/>
          <a:ln/>
        </p:spPr>
        <p:txBody>
          <a:bodyPr wrap="square" lIns="0" tIns="0" rIns="0" bIns="0" rtlCol="0" anchor="ctr"/>
          <a:lstStyle/>
          <a:p>
            <a:pPr indent="0" marL="0">
              <a:buNone/>
            </a:pPr>
            <a:r>
              <a:rPr lang="en-US" sz="800" i="1" dirty="0">
                <a:solidFill>
                  <a:srgbClr val="5A6B7A"/>
                </a:solidFill>
                <a:latin typeface="Helvetica Neue" pitchFamily="34" charset="0"/>
                <a:ea typeface="Helvetica Neue" pitchFamily="34" charset="-122"/>
                <a:cs typeface="Helvetica Neue" pitchFamily="34" charset="-120"/>
              </a:rPr>
              <a:t>Source: Beans Tech Technical Architecture Note TAN-LATAM-2026-09 — available for engineering review</a:t>
            </a:r>
            <a:endParaRPr lang="en-US" sz="800" dirty="0"/>
          </a:p>
        </p:txBody>
      </p:sp>
      <p:sp>
        <p:nvSpPr>
          <p:cNvPr id="9" name="Text 6"/>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0" name="Text 7"/>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Tencent Hunyuan / Hy4 — Model Integration</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Embedding Tencent's frontier AI architecture into Latin America's regulated sectors</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Text 3"/>
          <p:cNvSpPr/>
          <p:nvPr/>
        </p:nvSpPr>
        <p:spPr>
          <a:xfrm>
            <a:off x="502920" y="1463040"/>
            <a:ext cx="5303520" cy="365760"/>
          </a:xfrm>
          <a:prstGeom prst="rect">
            <a:avLst/>
          </a:prstGeom>
          <a:noFill/>
          <a:ln/>
        </p:spPr>
        <p:txBody>
          <a:bodyPr wrap="square" lIns="0" tIns="0" rIns="0" bIns="0" rtlCol="0" anchor="ctr"/>
          <a:lstStyle/>
          <a:p>
            <a:pPr indent="0" marL="0">
              <a:buNone/>
            </a:pPr>
            <a:r>
              <a:rPr lang="en-US" sz="1300" b="1" dirty="0">
                <a:solidFill>
                  <a:srgbClr val="2E6FAF"/>
                </a:solidFill>
                <a:latin typeface="Helvetica Neue" pitchFamily="34" charset="0"/>
                <a:ea typeface="Helvetica Neue" pitchFamily="34" charset="-122"/>
                <a:cs typeface="Helvetica Neue" pitchFamily="34" charset="-120"/>
              </a:rPr>
              <a:t>What Hunyuan Brings</a:t>
            </a:r>
            <a:endParaRPr lang="en-US" sz="1300" dirty="0"/>
          </a:p>
        </p:txBody>
      </p:sp>
      <p:sp>
        <p:nvSpPr>
          <p:cNvPr id="6" name="Shape 4"/>
          <p:cNvSpPr/>
          <p:nvPr/>
        </p:nvSpPr>
        <p:spPr>
          <a:xfrm>
            <a:off x="502920" y="1828800"/>
            <a:ext cx="5303520" cy="4114800"/>
          </a:xfrm>
          <a:prstGeom prst="rect">
            <a:avLst/>
          </a:prstGeom>
          <a:solidFill>
            <a:srgbClr val="F0F5F7"/>
          </a:solidFill>
          <a:ln w="12700">
            <a:solidFill>
              <a:srgbClr val="2E6FAF"/>
            </a:solidFill>
            <a:prstDash val="solid"/>
          </a:ln>
        </p:spPr>
      </p:sp>
      <p:sp>
        <p:nvSpPr>
          <p:cNvPr id="7" name="Text 5"/>
          <p:cNvSpPr/>
          <p:nvPr/>
        </p:nvSpPr>
        <p:spPr>
          <a:xfrm>
            <a:off x="731520" y="1965960"/>
            <a:ext cx="4846320" cy="3840480"/>
          </a:xfrm>
          <a:prstGeom prst="rect">
            <a:avLst/>
          </a:prstGeom>
          <a:noFill/>
          <a:ln/>
        </p:spPr>
        <p:txBody>
          <a:bodyPr wrap="square" lIns="0" tIns="0" rIns="0" bIns="0" rtlCol="0" anchor="ctr"/>
          <a:lstStyle/>
          <a:p>
            <a:pPr marL="127000" indent="-127000">
              <a:lnSpc>
                <a:spcPts val="1400"/>
              </a:lnSpc>
              <a:spcAft>
                <a:spcPts val="300"/>
              </a:spcAft>
              <a:buSzPct val="100000"/>
              <a:buChar char="–"/>
            </a:pPr>
            <a:r>
              <a:rPr lang="en-US" b="1" dirty="0">
                <a:solidFill>
                  <a:srgbClr val="000000"/>
                </a:solidFill>
              </a:rPr>
              <a:t>Hunyuan-Large (Hy4)</a:t>
            </a:r>
            <a:endParaRPr lang="en-US" dirty="0"/>
          </a:p>
          <a:p>
            <a:pPr indent="0" marL="0">
              <a:lnSpc>
                <a:spcPts val="1400"/>
              </a:lnSpc>
              <a:spcAft>
                <a:spcPts val="300"/>
              </a:spcAft>
              <a:buNone/>
            </a:pPr>
            <a:r>
              <a:rPr lang="en-US" sz="950" dirty="0">
                <a:solidFill>
                  <a:srgbClr val="5A6B7A"/>
                </a:solidFill>
              </a:rPr>
              <a:t>Frontier MoE architecture with 389B parameters — competitive with GLM-5.3, Qwen-3.8-Max, DeepSeek</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0000"/>
                </a:solidFill>
              </a:rPr>
              <a:t>Hunyuan-Flash</a:t>
            </a:r>
            <a:endParaRPr lang="en-US" sz="950" dirty="0"/>
          </a:p>
          <a:p>
            <a:pPr indent="0" marL="0">
              <a:lnSpc>
                <a:spcPts val="1400"/>
              </a:lnSpc>
              <a:spcAft>
                <a:spcPts val="300"/>
              </a:spcAft>
              <a:buNone/>
            </a:pPr>
            <a:r>
              <a:rPr lang="en-US" sz="950" dirty="0">
                <a:solidFill>
                  <a:srgbClr val="5A6B7A"/>
                </a:solidFill>
              </a:rPr>
              <a:t>High-throughput variant for volume inference — document triage, compliance screening, legal search</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0000"/>
                </a:solidFill>
              </a:rPr>
              <a:t>Hunyuan Vision</a:t>
            </a:r>
            <a:endParaRPr lang="en-US" sz="950" dirty="0"/>
          </a:p>
          <a:p>
            <a:pPr indent="0" marL="0">
              <a:lnSpc>
                <a:spcPts val="1400"/>
              </a:lnSpc>
              <a:spcAft>
                <a:spcPts val="300"/>
              </a:spcAft>
              <a:buNone/>
            </a:pPr>
            <a:r>
              <a:rPr lang="en-US" sz="950" dirty="0">
                <a:solidFill>
                  <a:srgbClr val="5A6B7A"/>
                </a:solidFill>
              </a:rPr>
              <a:t>Multimodal for medical imaging, document OCR, real estate photo analysis</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0000"/>
                </a:solidFill>
              </a:rPr>
              <a:t>Open weights (Apache/Custom)</a:t>
            </a:r>
            <a:endParaRPr lang="en-US" sz="950" dirty="0"/>
          </a:p>
          <a:p>
            <a:pPr indent="0" marL="0">
              <a:lnSpc>
                <a:spcPts val="1400"/>
              </a:lnSpc>
              <a:spcAft>
                <a:spcPts val="300"/>
              </a:spcAft>
              <a:buNone/>
            </a:pPr>
            <a:r>
              <a:rPr lang="en-US" sz="950" dirty="0">
                <a:solidFill>
                  <a:srgbClr val="5A6B7A"/>
                </a:solidFill>
              </a:rPr>
              <a:t>Available for local deployment on sovereign infrastructure — no API dependency</a:t>
            </a:r>
            <a:endParaRPr lang="en-US" sz="950" dirty="0"/>
          </a:p>
        </p:txBody>
      </p:sp>
      <p:sp>
        <p:nvSpPr>
          <p:cNvPr id="8" name="Text 6"/>
          <p:cNvSpPr/>
          <p:nvPr/>
        </p:nvSpPr>
        <p:spPr>
          <a:xfrm>
            <a:off x="6400800" y="1463040"/>
            <a:ext cx="5303520" cy="365760"/>
          </a:xfrm>
          <a:prstGeom prst="rect">
            <a:avLst/>
          </a:prstGeom>
          <a:noFill/>
          <a:ln/>
        </p:spPr>
        <p:txBody>
          <a:bodyPr wrap="square" lIns="0" tIns="0" rIns="0" bIns="0" rtlCol="0" anchor="ctr"/>
          <a:lstStyle/>
          <a:p>
            <a:pPr indent="0" marL="0">
              <a:buNone/>
            </a:pPr>
            <a:r>
              <a:rPr lang="en-US" sz="1300" b="1" dirty="0">
                <a:solidFill>
                  <a:srgbClr val="00B8A9"/>
                </a:solidFill>
                <a:latin typeface="Helvetica Neue" pitchFamily="34" charset="0"/>
                <a:ea typeface="Helvetica Neue" pitchFamily="34" charset="-122"/>
                <a:cs typeface="Helvetica Neue" pitchFamily="34" charset="-120"/>
              </a:rPr>
              <a:t>How Beans Tech Deploys It</a:t>
            </a:r>
            <a:endParaRPr lang="en-US" sz="1300" dirty="0"/>
          </a:p>
        </p:txBody>
      </p:sp>
      <p:sp>
        <p:nvSpPr>
          <p:cNvPr id="9" name="Shape 7"/>
          <p:cNvSpPr/>
          <p:nvPr/>
        </p:nvSpPr>
        <p:spPr>
          <a:xfrm>
            <a:off x="6400800" y="1828800"/>
            <a:ext cx="5303520" cy="4114800"/>
          </a:xfrm>
          <a:prstGeom prst="rect">
            <a:avLst/>
          </a:prstGeom>
          <a:solidFill>
            <a:srgbClr val="0A1F2E"/>
          </a:solidFill>
          <a:ln w="12700">
            <a:solidFill>
              <a:srgbClr val="00B8A9"/>
            </a:solidFill>
            <a:prstDash val="solid"/>
          </a:ln>
        </p:spPr>
      </p:sp>
      <p:sp>
        <p:nvSpPr>
          <p:cNvPr id="10" name="Text 8"/>
          <p:cNvSpPr/>
          <p:nvPr/>
        </p:nvSpPr>
        <p:spPr>
          <a:xfrm>
            <a:off x="6629400" y="1965960"/>
            <a:ext cx="4846320" cy="3840480"/>
          </a:xfrm>
          <a:prstGeom prst="rect">
            <a:avLst/>
          </a:prstGeom>
          <a:noFill/>
          <a:ln/>
        </p:spPr>
        <p:txBody>
          <a:bodyPr wrap="square" lIns="0" tIns="0" rIns="0" bIns="0" rtlCol="0" anchor="ctr"/>
          <a:lstStyle/>
          <a:p>
            <a:pPr marL="127000" indent="-127000">
              <a:lnSpc>
                <a:spcPts val="1400"/>
              </a:lnSpc>
              <a:spcAft>
                <a:spcPts val="300"/>
              </a:spcAft>
              <a:buSzPct val="100000"/>
              <a:buChar char="▸"/>
            </a:pPr>
            <a:r>
              <a:rPr lang="en-US" b="1" dirty="0">
                <a:solidFill>
                  <a:srgbClr val="00B8A9"/>
                </a:solidFill>
              </a:rPr>
              <a:t>Legal (ragjur.ai)</a:t>
            </a:r>
            <a:endParaRPr lang="en-US" dirty="0"/>
          </a:p>
          <a:p>
            <a:pPr indent="0" marL="0">
              <a:lnSpc>
                <a:spcPts val="1400"/>
              </a:lnSpc>
              <a:spcAft>
                <a:spcPts val="300"/>
              </a:spcAft>
              <a:buNone/>
            </a:pPr>
            <a:r>
              <a:rPr lang="en-US" sz="950" dirty="0">
                <a:solidFill>
                  <a:srgbClr val="B0C8D8"/>
                </a:solidFill>
              </a:rPr>
              <a:t>Hy4-Large for multi-party judicial analysis · Flash for 77M+ decision search volume</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B8A9"/>
                </a:solidFill>
              </a:rPr>
              <a:t>Compliance (pldbr.tech)</a:t>
            </a:r>
            <a:endParaRPr lang="en-US" sz="950" dirty="0"/>
          </a:p>
          <a:p>
            <a:pPr indent="0" marL="0">
              <a:lnSpc>
                <a:spcPts val="1400"/>
              </a:lnSpc>
              <a:spcAft>
                <a:spcPts val="300"/>
              </a:spcAft>
              <a:buNone/>
            </a:pPr>
            <a:r>
              <a:rPr lang="en-US" sz="950" dirty="0">
                <a:solidFill>
                  <a:srgbClr val="B0C8D8"/>
                </a:solidFill>
              </a:rPr>
              <a:t>Hy4 for SAR narratives and complex regulatory interpretation · Flash for transaction triage</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B8A9"/>
                </a:solidFill>
              </a:rPr>
              <a:t>Healthcare (dodr.ai)</a:t>
            </a:r>
            <a:endParaRPr lang="en-US" sz="950" dirty="0"/>
          </a:p>
          <a:p>
            <a:pPr indent="0" marL="0">
              <a:lnSpc>
                <a:spcPts val="1400"/>
              </a:lnSpc>
              <a:spcAft>
                <a:spcPts val="300"/>
              </a:spcAft>
              <a:buNone/>
            </a:pPr>
            <a:r>
              <a:rPr lang="en-US" sz="950" dirty="0">
                <a:solidFill>
                  <a:srgbClr val="B0C8D8"/>
                </a:solidFill>
              </a:rPr>
              <a:t>Hy4-Large for clinical decision support with anti-hallucination chain · Vision for imaging</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B8A9"/>
                </a:solidFill>
              </a:rPr>
              <a:t>Real Estate (proptechbr.ai)</a:t>
            </a:r>
            <a:endParaRPr lang="en-US" sz="950" dirty="0"/>
          </a:p>
          <a:p>
            <a:pPr indent="0" marL="0">
              <a:lnSpc>
                <a:spcPts val="1400"/>
              </a:lnSpc>
              <a:spcAft>
                <a:spcPts val="300"/>
              </a:spcAft>
              <a:buNone/>
            </a:pPr>
            <a:r>
              <a:rPr lang="en-US" sz="950" dirty="0">
                <a:solidFill>
                  <a:srgbClr val="B0C8D8"/>
                </a:solidFill>
              </a:rPr>
              <a:t>Flash for document analysis (matrículas, deeds, liens) in seconds vs. hours · Vision for property photos</a:t>
            </a:r>
            <a:endParaRPr lang="en-US" sz="950" dirty="0"/>
          </a:p>
        </p:txBody>
      </p:sp>
      <p:sp>
        <p:nvSpPr>
          <p:cNvPr id="11" name="Text 9"/>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2" name="Text 10"/>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2E"/>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0B8A9"/>
                </a:solidFill>
                <a:latin typeface="Helvetica Neue" pitchFamily="34" charset="0"/>
                <a:ea typeface="Helvetica Neue" pitchFamily="34" charset="-122"/>
                <a:cs typeface="Helvetica Neue" pitchFamily="34" charset="-120"/>
              </a:rPr>
              <a:t>Fiscal &amp; Thermodynamic Advantages</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8FC0D0"/>
                </a:solidFill>
                <a:latin typeface="Helvetica Neue" pitchFamily="34" charset="0"/>
                <a:ea typeface="Helvetica Neue" pitchFamily="34" charset="-122"/>
                <a:cs typeface="Helvetica Neue" pitchFamily="34" charset="-120"/>
              </a:rPr>
              <a:t>Why ZPE Caucaia is the optimal sovereign deployment perimeter</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Text 3"/>
          <p:cNvSpPr/>
          <p:nvPr/>
        </p:nvSpPr>
        <p:spPr>
          <a:xfrm>
            <a:off x="502920" y="1554480"/>
            <a:ext cx="5303520" cy="365760"/>
          </a:xfrm>
          <a:prstGeom prst="rect">
            <a:avLst/>
          </a:prstGeom>
          <a:noFill/>
          <a:ln/>
        </p:spPr>
        <p:txBody>
          <a:bodyPr wrap="square" lIns="0" tIns="0" rIns="0" bIns="0" rtlCol="0" anchor="ctr"/>
          <a:lstStyle/>
          <a:p>
            <a:pPr indent="0" marL="0">
              <a:buNone/>
            </a:pPr>
            <a:r>
              <a:rPr lang="en-US" sz="1400" b="1" dirty="0">
                <a:solidFill>
                  <a:srgbClr val="E8C847"/>
                </a:solidFill>
                <a:latin typeface="Helvetica Neue" pitchFamily="34" charset="0"/>
                <a:ea typeface="Helvetica Neue" pitchFamily="34" charset="-122"/>
                <a:cs typeface="Helvetica Neue" pitchFamily="34" charset="-120"/>
              </a:rPr>
              <a:t>Tax-Exempt Ingestion (ZPE Regime)</a:t>
            </a:r>
            <a:endParaRPr lang="en-US" sz="1400" dirty="0"/>
          </a:p>
        </p:txBody>
      </p:sp>
      <p:sp>
        <p:nvSpPr>
          <p:cNvPr id="6" name="Shape 4"/>
          <p:cNvSpPr/>
          <p:nvPr/>
        </p:nvSpPr>
        <p:spPr>
          <a:xfrm>
            <a:off x="502920" y="1920240"/>
            <a:ext cx="5303520" cy="2560320"/>
          </a:xfrm>
          <a:prstGeom prst="rect">
            <a:avLst/>
          </a:prstGeom>
          <a:solidFill>
            <a:srgbClr val="0D2839"/>
          </a:solidFill>
          <a:ln w="12700">
            <a:solidFill>
              <a:srgbClr val="D4A843"/>
            </a:solidFill>
            <a:prstDash val="solid"/>
          </a:ln>
        </p:spPr>
      </p:sp>
      <p:sp>
        <p:nvSpPr>
          <p:cNvPr id="7" name="Text 5"/>
          <p:cNvSpPr/>
          <p:nvPr/>
        </p:nvSpPr>
        <p:spPr>
          <a:xfrm>
            <a:off x="731520" y="2057400"/>
            <a:ext cx="4846320" cy="2286000"/>
          </a:xfrm>
          <a:prstGeom prst="rect">
            <a:avLst/>
          </a:prstGeom>
          <a:noFill/>
          <a:ln/>
        </p:spPr>
        <p:txBody>
          <a:bodyPr wrap="square" lIns="0" tIns="0" rIns="0" bIns="0" rtlCol="0" anchor="ctr"/>
          <a:lstStyle/>
          <a:p>
            <a:pPr indent="0" marL="0">
              <a:lnSpc>
                <a:spcPts val="1400"/>
              </a:lnSpc>
              <a:spcAft>
                <a:spcPts val="300"/>
              </a:spcAft>
              <a:buNone/>
            </a:pPr>
            <a:r>
              <a:rPr lang="en-US" sz="1000" dirty="0">
                <a:solidFill>
                  <a:srgbClr val="B0C8D8"/>
                </a:solidFill>
              </a:rPr>
              <a:t>Under Brazilian Federal Law governing ZPE (Export Processing Zones):</a:t>
            </a:r>
            <a:endParaRPr lang="en-US" sz="1000" dirty="0"/>
          </a:p>
          <a:p>
            <a:pPr indent="0" marL="0">
              <a:lnSpc>
                <a:spcPts val="1400"/>
              </a:lnSpc>
              <a:spcAft>
                <a:spcPts val="300"/>
              </a:spcAft>
              <a:buNone/>
            </a:pPr>
            <a:r>
              <a:rPr lang="en-US" sz="1000" dirty="0">
                <a:solidFill>
                  <a:srgbClr val="E8C847"/>
                </a:solidFill>
              </a:rPr>
              <a:t>  • GPU clusters: import tariff suspension/exemption</a:t>
            </a:r>
            <a:endParaRPr lang="en-US" sz="1000" dirty="0"/>
          </a:p>
          <a:p>
            <a:pPr indent="0" marL="0">
              <a:lnSpc>
                <a:spcPts val="1400"/>
              </a:lnSpc>
              <a:spcAft>
                <a:spcPts val="300"/>
              </a:spcAft>
              <a:buNone/>
            </a:pPr>
            <a:r>
              <a:rPr lang="en-US" sz="1000" dirty="0">
                <a:solidFill>
                  <a:srgbClr val="E8C847"/>
                </a:solidFill>
              </a:rPr>
              <a:t>  • Tensor processing units: zero import tax</a:t>
            </a:r>
            <a:endParaRPr lang="en-US" sz="1000" dirty="0"/>
          </a:p>
          <a:p>
            <a:pPr indent="0" marL="0">
              <a:lnSpc>
                <a:spcPts val="1400"/>
              </a:lnSpc>
              <a:spcAft>
                <a:spcPts val="300"/>
              </a:spcAft>
              <a:buNone/>
            </a:pPr>
            <a:r>
              <a:rPr lang="en-US" sz="1000" dirty="0">
                <a:solidFill>
                  <a:srgbClr val="E8C847"/>
                </a:solidFill>
              </a:rPr>
              <a:t>  • Liquid-chilled racks: duty-free entry</a:t>
            </a:r>
            <a:endParaRPr lang="en-US" sz="1000" dirty="0"/>
          </a:p>
          <a:p>
            <a:pPr indent="0" marL="0">
              <a:lnSpc>
                <a:spcPts val="1400"/>
              </a:lnSpc>
              <a:spcAft>
                <a:spcPts val="300"/>
              </a:spcAft>
              <a:buNone/>
            </a:pPr>
            <a:r>
              <a:rPr lang="en-US" sz="1000" b="1" dirty="0">
                <a:solidFill>
                  <a:srgbClr val="E8C847"/>
                </a:solidFill>
              </a:rPr>
              <a:t>  • Maximizing hardware density per dollar of capital intake</a:t>
            </a:r>
            <a:endParaRPr lang="en-US" sz="1000" dirty="0"/>
          </a:p>
          <a:p>
            <a:pPr indent="0" marL="0">
              <a:lnSpc>
                <a:spcPts val="1400"/>
              </a:lnSpc>
              <a:spcAft>
                <a:spcPts val="300"/>
              </a:spcAft>
              <a:buNone/>
            </a:pPr>
            <a:r>
              <a:rPr lang="en-US" sz="600" dirty="0">
                <a:solidFill>
                  <a:srgbClr val="000000"/>
                </a:solidFill>
              </a:rPr>
              <a:t> </a:t>
            </a:r>
            <a:endParaRPr lang="en-US" sz="1000" dirty="0"/>
          </a:p>
          <a:p>
            <a:pPr indent="0" marL="0">
              <a:lnSpc>
                <a:spcPts val="1400"/>
              </a:lnSpc>
              <a:spcAft>
                <a:spcPts val="300"/>
              </a:spcAft>
              <a:buNone/>
            </a:pPr>
            <a:r>
              <a:rPr lang="en-US" sz="1100" b="1" dirty="0">
                <a:solidFill>
                  <a:srgbClr val="FFFFFF"/>
                </a:solidFill>
              </a:rPr>
              <a:t>Result: Tencent's $350M investment buys significantly more GPU capacity than in any non-ZPE jurisdiction in the Americas.</a:t>
            </a:r>
            <a:endParaRPr lang="en-US" sz="1000" dirty="0"/>
          </a:p>
        </p:txBody>
      </p:sp>
      <p:sp>
        <p:nvSpPr>
          <p:cNvPr id="8" name="Text 6"/>
          <p:cNvSpPr/>
          <p:nvPr/>
        </p:nvSpPr>
        <p:spPr>
          <a:xfrm>
            <a:off x="6400800" y="1554480"/>
            <a:ext cx="5303520" cy="365760"/>
          </a:xfrm>
          <a:prstGeom prst="rect">
            <a:avLst/>
          </a:prstGeom>
          <a:noFill/>
          <a:ln/>
        </p:spPr>
        <p:txBody>
          <a:bodyPr wrap="square" lIns="0" tIns="0" rIns="0" bIns="0" rtlCol="0" anchor="ctr"/>
          <a:lstStyle/>
          <a:p>
            <a:pPr indent="0" marL="0">
              <a:buNone/>
            </a:pPr>
            <a:r>
              <a:rPr lang="en-US" sz="1400" b="1" dirty="0">
                <a:solidFill>
                  <a:srgbClr val="00B8A9"/>
                </a:solidFill>
                <a:latin typeface="Helvetica Neue" pitchFamily="34" charset="0"/>
                <a:ea typeface="Helvetica Neue" pitchFamily="34" charset="-122"/>
                <a:cs typeface="Helvetica Neue" pitchFamily="34" charset="-120"/>
              </a:rPr>
              <a:t>Thermal Efficiency</a:t>
            </a:r>
            <a:endParaRPr lang="en-US" sz="1400" dirty="0"/>
          </a:p>
        </p:txBody>
      </p:sp>
      <p:sp>
        <p:nvSpPr>
          <p:cNvPr id="9" name="Shape 7"/>
          <p:cNvSpPr/>
          <p:nvPr/>
        </p:nvSpPr>
        <p:spPr>
          <a:xfrm>
            <a:off x="6400800" y="1920240"/>
            <a:ext cx="5303520" cy="2560320"/>
          </a:xfrm>
          <a:prstGeom prst="rect">
            <a:avLst/>
          </a:prstGeom>
          <a:solidFill>
            <a:srgbClr val="0D2839"/>
          </a:solidFill>
          <a:ln w="12700">
            <a:solidFill>
              <a:srgbClr val="00B8A9"/>
            </a:solidFill>
            <a:prstDash val="solid"/>
          </a:ln>
        </p:spPr>
      </p:sp>
      <p:sp>
        <p:nvSpPr>
          <p:cNvPr id="10" name="Text 8"/>
          <p:cNvSpPr/>
          <p:nvPr/>
        </p:nvSpPr>
        <p:spPr>
          <a:xfrm>
            <a:off x="6629400" y="2057400"/>
            <a:ext cx="4846320" cy="2286000"/>
          </a:xfrm>
          <a:prstGeom prst="rect">
            <a:avLst/>
          </a:prstGeom>
          <a:noFill/>
          <a:ln/>
        </p:spPr>
        <p:txBody>
          <a:bodyPr wrap="square" lIns="0" tIns="0" rIns="0" bIns="0" rtlCol="0" anchor="ctr"/>
          <a:lstStyle/>
          <a:p>
            <a:pPr indent="0" marL="0">
              <a:lnSpc>
                <a:spcPts val="1400"/>
              </a:lnSpc>
              <a:spcAft>
                <a:spcPts val="300"/>
              </a:spcAft>
              <a:buNone/>
            </a:pPr>
            <a:r>
              <a:rPr lang="en-US" sz="1000" dirty="0">
                <a:solidFill>
                  <a:srgbClr val="B0C8D8"/>
                </a:solidFill>
              </a:rPr>
              <a:t>Proximity to the Pecém Industrial Complex:</a:t>
            </a:r>
            <a:endParaRPr lang="en-US" sz="1000" dirty="0"/>
          </a:p>
          <a:p>
            <a:pPr indent="0" marL="0">
              <a:lnSpc>
                <a:spcPts val="1400"/>
              </a:lnSpc>
              <a:spcAft>
                <a:spcPts val="300"/>
              </a:spcAft>
              <a:buNone/>
            </a:pPr>
            <a:r>
              <a:rPr lang="en-US" sz="1000" dirty="0">
                <a:solidFill>
                  <a:srgbClr val="00B8A9"/>
                </a:solidFill>
              </a:rPr>
              <a:t>  • Clean-energy grid interconnection (wind + solar)</a:t>
            </a:r>
            <a:endParaRPr lang="en-US" sz="1000" dirty="0"/>
          </a:p>
          <a:p>
            <a:pPr indent="0" marL="0">
              <a:lnSpc>
                <a:spcPts val="1400"/>
              </a:lnSpc>
              <a:spcAft>
                <a:spcPts val="300"/>
              </a:spcAft>
              <a:buNone/>
            </a:pPr>
            <a:r>
              <a:rPr lang="en-US" sz="1000" dirty="0">
                <a:solidFill>
                  <a:srgbClr val="00B8A9"/>
                </a:solidFill>
              </a:rPr>
              <a:t>  • Coastal cooling corridors for free-air cooling</a:t>
            </a:r>
            <a:endParaRPr lang="en-US" sz="1000" dirty="0"/>
          </a:p>
          <a:p>
            <a:pPr indent="0" marL="0">
              <a:lnSpc>
                <a:spcPts val="1400"/>
              </a:lnSpc>
              <a:spcAft>
                <a:spcPts val="300"/>
              </a:spcAft>
              <a:buNone/>
            </a:pPr>
            <a:r>
              <a:rPr lang="en-US" sz="1000" dirty="0">
                <a:solidFill>
                  <a:srgbClr val="00B8A9"/>
                </a:solidFill>
              </a:rPr>
              <a:t>  • PUE (Power Usage Effectiveness) optimized to international tier standards</a:t>
            </a:r>
            <a:endParaRPr lang="en-US" sz="1000" dirty="0"/>
          </a:p>
          <a:p>
            <a:pPr indent="0" marL="0">
              <a:lnSpc>
                <a:spcPts val="1400"/>
              </a:lnSpc>
              <a:spcAft>
                <a:spcPts val="300"/>
              </a:spcAft>
              <a:buNone/>
            </a:pPr>
            <a:r>
              <a:rPr lang="en-US" sz="1000" dirty="0">
                <a:solidFill>
                  <a:srgbClr val="00B8A9"/>
                </a:solidFill>
              </a:rPr>
              <a:t>  • Continuous high-duty AI workloads without thermal throttling</a:t>
            </a:r>
            <a:endParaRPr lang="en-US" sz="1000" dirty="0"/>
          </a:p>
          <a:p>
            <a:pPr indent="0" marL="0">
              <a:lnSpc>
                <a:spcPts val="1400"/>
              </a:lnSpc>
              <a:spcAft>
                <a:spcPts val="300"/>
              </a:spcAft>
              <a:buNone/>
            </a:pPr>
            <a:r>
              <a:rPr lang="en-US" sz="600" dirty="0">
                <a:solidFill>
                  <a:srgbClr val="000000"/>
                </a:solidFill>
              </a:rPr>
              <a:t> </a:t>
            </a:r>
            <a:endParaRPr lang="en-US" sz="1000" dirty="0"/>
          </a:p>
          <a:p>
            <a:pPr indent="0" marL="0">
              <a:lnSpc>
                <a:spcPts val="1400"/>
              </a:lnSpc>
              <a:spcAft>
                <a:spcPts val="300"/>
              </a:spcAft>
              <a:buNone/>
            </a:pPr>
            <a:r>
              <a:rPr lang="en-US" sz="1100" b="1" dirty="0">
                <a:solidFill>
                  <a:srgbClr val="FFFFFF"/>
                </a:solidFill>
              </a:rPr>
              <a:t>Combined with Hub 2 (Santa Terezinha solar off-grid), the dual-hub model achieves complete energy independence.</a:t>
            </a:r>
            <a:endParaRPr lang="en-US" sz="1000" dirty="0"/>
          </a:p>
        </p:txBody>
      </p:sp>
      <p:sp>
        <p:nvSpPr>
          <p:cNvPr id="11" name="Text 9"/>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6B9BB0"/>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2" name="Text 10"/>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6B9BB0"/>
                </a:solidFill>
                <a:latin typeface="Helvetica Neue" pitchFamily="34" charset="0"/>
                <a:ea typeface="Helvetica Neue" pitchFamily="34" charset="-122"/>
                <a:cs typeface="Helvetica Neue"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Alliance Structure &amp; Capital Allocation</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US$ 350M initial intake — targeted deployment</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Text 3"/>
          <p:cNvSpPr/>
          <p:nvPr/>
        </p:nvSpPr>
        <p:spPr>
          <a:xfrm>
            <a:off x="502920" y="1463040"/>
            <a:ext cx="5486400" cy="365760"/>
          </a:xfrm>
          <a:prstGeom prst="rect">
            <a:avLst/>
          </a:prstGeom>
          <a:noFill/>
          <a:ln/>
        </p:spPr>
        <p:txBody>
          <a:bodyPr wrap="square" lIns="0" tIns="0" rIns="0" bIns="0" rtlCol="0" anchor="ctr"/>
          <a:lstStyle/>
          <a:p>
            <a:pPr indent="0" marL="0">
              <a:buNone/>
            </a:pPr>
            <a:r>
              <a:rPr lang="en-US" sz="1300" b="1" dirty="0">
                <a:solidFill>
                  <a:srgbClr val="0A1F2E"/>
                </a:solidFill>
                <a:latin typeface="Helvetica Neue" pitchFamily="34" charset="0"/>
                <a:ea typeface="Helvetica Neue" pitchFamily="34" charset="-122"/>
                <a:cs typeface="Helvetica Neue" pitchFamily="34" charset="-120"/>
              </a:rPr>
              <a:t>Capital Allocation</a:t>
            </a:r>
            <a:endParaRPr lang="en-US" sz="1300" dirty="0"/>
          </a:p>
        </p:txBody>
      </p:sp>
      <p:sp>
        <p:nvSpPr>
          <p:cNvPr id="6" name="Shape 4"/>
          <p:cNvSpPr/>
          <p:nvPr/>
        </p:nvSpPr>
        <p:spPr>
          <a:xfrm>
            <a:off x="502920" y="1828800"/>
            <a:ext cx="5394960" cy="1005840"/>
          </a:xfrm>
          <a:prstGeom prst="rect">
            <a:avLst/>
          </a:prstGeom>
          <a:solidFill>
            <a:srgbClr val="0A1F2E"/>
          </a:solidFill>
          <a:ln w="19050">
            <a:solidFill>
              <a:srgbClr val="D4A843"/>
            </a:solidFill>
            <a:prstDash val="solid"/>
          </a:ln>
        </p:spPr>
      </p:sp>
      <p:sp>
        <p:nvSpPr>
          <p:cNvPr id="7" name="Text 5"/>
          <p:cNvSpPr/>
          <p:nvPr/>
        </p:nvSpPr>
        <p:spPr>
          <a:xfrm>
            <a:off x="731520" y="1920240"/>
            <a:ext cx="4937760" cy="822960"/>
          </a:xfrm>
          <a:prstGeom prst="rect">
            <a:avLst/>
          </a:prstGeom>
          <a:noFill/>
          <a:ln/>
        </p:spPr>
        <p:txBody>
          <a:bodyPr wrap="square" lIns="0" tIns="0" rIns="0" bIns="0" rtlCol="0" anchor="ctr"/>
          <a:lstStyle/>
          <a:p>
            <a:pPr indent="0" marL="0">
              <a:lnSpc>
                <a:spcPts val="1300"/>
              </a:lnSpc>
              <a:spcAft>
                <a:spcPts val="200"/>
              </a:spcAft>
              <a:buNone/>
            </a:pPr>
            <a:r>
              <a:rPr lang="en-US" sz="1100" b="1" dirty="0">
                <a:solidFill>
                  <a:srgbClr val="E8C847"/>
                </a:solidFill>
              </a:rPr>
              <a:t>Enterprise Hardware Procurement</a:t>
            </a:r>
            <a:endParaRPr lang="en-US" sz="1100" dirty="0"/>
          </a:p>
          <a:p>
            <a:pPr indent="0" marL="0">
              <a:lnSpc>
                <a:spcPts val="1300"/>
              </a:lnSpc>
              <a:spcAft>
                <a:spcPts val="200"/>
              </a:spcAft>
              <a:buNone/>
            </a:pPr>
            <a:r>
              <a:rPr lang="en-US" sz="900" dirty="0">
                <a:solidFill>
                  <a:srgbClr val="B0C8D8"/>
                </a:solidFill>
              </a:rPr>
              <a:t>GPU clusters (H100/L20), tensor units, liquid-cooled racks, optical transponders</a:t>
            </a:r>
            <a:endParaRPr lang="en-US" sz="1100" dirty="0"/>
          </a:p>
          <a:p>
            <a:pPr indent="0" marL="0">
              <a:lnSpc>
                <a:spcPts val="1300"/>
              </a:lnSpc>
              <a:spcAft>
                <a:spcPts val="200"/>
              </a:spcAft>
              <a:buNone/>
            </a:pPr>
            <a:r>
              <a:rPr lang="en-US" sz="1100" b="1" dirty="0">
                <a:solidFill>
                  <a:srgbClr val="E8C847"/>
                </a:solidFill>
              </a:rPr>
              <a:t>US$ 150M</a:t>
            </a:r>
            <a:endParaRPr lang="en-US" sz="1100" dirty="0"/>
          </a:p>
        </p:txBody>
      </p:sp>
      <p:sp>
        <p:nvSpPr>
          <p:cNvPr id="8" name="Shape 6"/>
          <p:cNvSpPr/>
          <p:nvPr/>
        </p:nvSpPr>
        <p:spPr>
          <a:xfrm>
            <a:off x="502920" y="2971800"/>
            <a:ext cx="5394960" cy="1005840"/>
          </a:xfrm>
          <a:prstGeom prst="rect">
            <a:avLst/>
          </a:prstGeom>
          <a:solidFill>
            <a:srgbClr val="F0F5F7"/>
          </a:solidFill>
          <a:ln w="9525">
            <a:solidFill>
              <a:srgbClr val="C8D5DC"/>
            </a:solidFill>
            <a:prstDash val="solid"/>
          </a:ln>
        </p:spPr>
      </p:sp>
      <p:sp>
        <p:nvSpPr>
          <p:cNvPr id="9" name="Text 7"/>
          <p:cNvSpPr/>
          <p:nvPr/>
        </p:nvSpPr>
        <p:spPr>
          <a:xfrm>
            <a:off x="731520" y="3063240"/>
            <a:ext cx="4937760" cy="822960"/>
          </a:xfrm>
          <a:prstGeom prst="rect">
            <a:avLst/>
          </a:prstGeom>
          <a:noFill/>
          <a:ln/>
        </p:spPr>
        <p:txBody>
          <a:bodyPr wrap="square" lIns="0" tIns="0" rIns="0" bIns="0" rtlCol="0" anchor="ctr"/>
          <a:lstStyle/>
          <a:p>
            <a:pPr indent="0" marL="0">
              <a:lnSpc>
                <a:spcPts val="1300"/>
              </a:lnSpc>
              <a:spcAft>
                <a:spcPts val="200"/>
              </a:spcAft>
              <a:buNone/>
            </a:pPr>
            <a:r>
              <a:rPr lang="en-US" sz="1100" b="1" dirty="0">
                <a:solidFill>
                  <a:srgbClr val="0A1F2E"/>
                </a:solidFill>
              </a:rPr>
              <a:t>Localized Model Ingestion</a:t>
            </a:r>
            <a:endParaRPr lang="en-US" sz="1100" dirty="0"/>
          </a:p>
          <a:p>
            <a:pPr indent="0" marL="0">
              <a:lnSpc>
                <a:spcPts val="1300"/>
              </a:lnSpc>
              <a:spcAft>
                <a:spcPts val="200"/>
              </a:spcAft>
              <a:buNone/>
            </a:pPr>
            <a:r>
              <a:rPr lang="en-US" sz="900" dirty="0">
                <a:solidFill>
                  <a:srgbClr val="5A6B7A"/>
                </a:solidFill>
              </a:rPr>
              <a:t>Hunyuan/Hy4 model weights, fine-tuning infrastructure, inference clusters</a:t>
            </a:r>
            <a:endParaRPr lang="en-US" sz="1100" dirty="0"/>
          </a:p>
          <a:p>
            <a:pPr indent="0" marL="0">
              <a:lnSpc>
                <a:spcPts val="1300"/>
              </a:lnSpc>
              <a:spcAft>
                <a:spcPts val="200"/>
              </a:spcAft>
              <a:buNone/>
            </a:pPr>
            <a:r>
              <a:rPr lang="en-US" sz="1100" b="1" dirty="0">
                <a:solidFill>
                  <a:srgbClr val="00B8A9"/>
                </a:solidFill>
              </a:rPr>
              <a:t>US$ 80M</a:t>
            </a:r>
            <a:endParaRPr lang="en-US" sz="1100" dirty="0"/>
          </a:p>
        </p:txBody>
      </p:sp>
      <p:sp>
        <p:nvSpPr>
          <p:cNvPr id="10" name="Shape 8"/>
          <p:cNvSpPr/>
          <p:nvPr/>
        </p:nvSpPr>
        <p:spPr>
          <a:xfrm>
            <a:off x="502920" y="4114800"/>
            <a:ext cx="5394960" cy="1005840"/>
          </a:xfrm>
          <a:prstGeom prst="rect">
            <a:avLst/>
          </a:prstGeom>
          <a:solidFill>
            <a:srgbClr val="F0F5F7"/>
          </a:solidFill>
          <a:ln w="9525">
            <a:solidFill>
              <a:srgbClr val="C8D5DC"/>
            </a:solidFill>
            <a:prstDash val="solid"/>
          </a:ln>
        </p:spPr>
      </p:sp>
      <p:sp>
        <p:nvSpPr>
          <p:cNvPr id="11" name="Text 9"/>
          <p:cNvSpPr/>
          <p:nvPr/>
        </p:nvSpPr>
        <p:spPr>
          <a:xfrm>
            <a:off x="731520" y="4206240"/>
            <a:ext cx="4937760" cy="822960"/>
          </a:xfrm>
          <a:prstGeom prst="rect">
            <a:avLst/>
          </a:prstGeom>
          <a:noFill/>
          <a:ln/>
        </p:spPr>
        <p:txBody>
          <a:bodyPr wrap="square" lIns="0" tIns="0" rIns="0" bIns="0" rtlCol="0" anchor="ctr"/>
          <a:lstStyle/>
          <a:p>
            <a:pPr indent="0" marL="0">
              <a:lnSpc>
                <a:spcPts val="1300"/>
              </a:lnSpc>
              <a:spcAft>
                <a:spcPts val="200"/>
              </a:spcAft>
              <a:buNone/>
            </a:pPr>
            <a:r>
              <a:rPr lang="en-US" sz="1100" b="1" dirty="0">
                <a:solidFill>
                  <a:srgbClr val="0A1F2E"/>
                </a:solidFill>
              </a:rPr>
              <a:t>Green Off-Grid Site Development</a:t>
            </a:r>
            <a:endParaRPr lang="en-US" sz="1100" dirty="0"/>
          </a:p>
          <a:p>
            <a:pPr indent="0" marL="0">
              <a:lnSpc>
                <a:spcPts val="1300"/>
              </a:lnSpc>
              <a:spcAft>
                <a:spcPts val="200"/>
              </a:spcAft>
              <a:buNone/>
            </a:pPr>
            <a:r>
              <a:rPr lang="en-US" sz="900" dirty="0">
                <a:solidFill>
                  <a:srgbClr val="5A6B7A"/>
                </a:solidFill>
              </a:rPr>
              <a:t>Solar plant expansion, satellite connectivity, ZPE construction</a:t>
            </a:r>
            <a:endParaRPr lang="en-US" sz="1100" dirty="0"/>
          </a:p>
          <a:p>
            <a:pPr indent="0" marL="0">
              <a:lnSpc>
                <a:spcPts val="1300"/>
              </a:lnSpc>
              <a:spcAft>
                <a:spcPts val="200"/>
              </a:spcAft>
              <a:buNone/>
            </a:pPr>
            <a:r>
              <a:rPr lang="en-US" sz="1100" b="1" dirty="0">
                <a:solidFill>
                  <a:srgbClr val="00B8A9"/>
                </a:solidFill>
              </a:rPr>
              <a:t>US$ 70M</a:t>
            </a:r>
            <a:endParaRPr lang="en-US" sz="1100" dirty="0"/>
          </a:p>
        </p:txBody>
      </p:sp>
      <p:sp>
        <p:nvSpPr>
          <p:cNvPr id="12" name="Shape 10"/>
          <p:cNvSpPr/>
          <p:nvPr/>
        </p:nvSpPr>
        <p:spPr>
          <a:xfrm>
            <a:off x="502920" y="5257800"/>
            <a:ext cx="5394960" cy="1005840"/>
          </a:xfrm>
          <a:prstGeom prst="rect">
            <a:avLst/>
          </a:prstGeom>
          <a:solidFill>
            <a:srgbClr val="F0F5F7"/>
          </a:solidFill>
          <a:ln w="9525">
            <a:solidFill>
              <a:srgbClr val="C8D5DC"/>
            </a:solidFill>
            <a:prstDash val="solid"/>
          </a:ln>
        </p:spPr>
      </p:sp>
      <p:sp>
        <p:nvSpPr>
          <p:cNvPr id="13" name="Text 11"/>
          <p:cNvSpPr/>
          <p:nvPr/>
        </p:nvSpPr>
        <p:spPr>
          <a:xfrm>
            <a:off x="731520" y="5349240"/>
            <a:ext cx="4937760" cy="822960"/>
          </a:xfrm>
          <a:prstGeom prst="rect">
            <a:avLst/>
          </a:prstGeom>
          <a:noFill/>
          <a:ln/>
        </p:spPr>
        <p:txBody>
          <a:bodyPr wrap="square" lIns="0" tIns="0" rIns="0" bIns="0" rtlCol="0" anchor="ctr"/>
          <a:lstStyle/>
          <a:p>
            <a:pPr indent="0" marL="0">
              <a:lnSpc>
                <a:spcPts val="1300"/>
              </a:lnSpc>
              <a:spcAft>
                <a:spcPts val="200"/>
              </a:spcAft>
              <a:buNone/>
            </a:pPr>
            <a:r>
              <a:rPr lang="en-US" sz="1100" b="1" dirty="0">
                <a:solidFill>
                  <a:srgbClr val="0A1F2E"/>
                </a:solidFill>
              </a:rPr>
              <a:t>Regulated AI Vertical Scaling</a:t>
            </a:r>
            <a:endParaRPr lang="en-US" sz="1100" dirty="0"/>
          </a:p>
          <a:p>
            <a:pPr indent="0" marL="0">
              <a:lnSpc>
                <a:spcPts val="1300"/>
              </a:lnSpc>
              <a:spcAft>
                <a:spcPts val="200"/>
              </a:spcAft>
              <a:buNone/>
            </a:pPr>
            <a:r>
              <a:rPr lang="en-US" sz="900" dirty="0">
                <a:solidFill>
                  <a:srgbClr val="5A6B7A"/>
                </a:solidFill>
              </a:rPr>
              <a:t>Production deployment across 4 verticals, compliance infrastructure, team</a:t>
            </a:r>
            <a:endParaRPr lang="en-US" sz="1100" dirty="0"/>
          </a:p>
          <a:p>
            <a:pPr indent="0" marL="0">
              <a:lnSpc>
                <a:spcPts val="1300"/>
              </a:lnSpc>
              <a:spcAft>
                <a:spcPts val="200"/>
              </a:spcAft>
              <a:buNone/>
            </a:pPr>
            <a:r>
              <a:rPr lang="en-US" sz="1100" b="1" dirty="0">
                <a:solidFill>
                  <a:srgbClr val="00B8A9"/>
                </a:solidFill>
              </a:rPr>
              <a:t>US$ 50M</a:t>
            </a:r>
            <a:endParaRPr lang="en-US" sz="1100" dirty="0"/>
          </a:p>
        </p:txBody>
      </p:sp>
      <p:sp>
        <p:nvSpPr>
          <p:cNvPr id="14" name="Text 12"/>
          <p:cNvSpPr/>
          <p:nvPr/>
        </p:nvSpPr>
        <p:spPr>
          <a:xfrm>
            <a:off x="6400800" y="1463040"/>
            <a:ext cx="5303520" cy="365760"/>
          </a:xfrm>
          <a:prstGeom prst="rect">
            <a:avLst/>
          </a:prstGeom>
          <a:noFill/>
          <a:ln/>
        </p:spPr>
        <p:txBody>
          <a:bodyPr wrap="square" lIns="0" tIns="0" rIns="0" bIns="0" rtlCol="0" anchor="ctr"/>
          <a:lstStyle/>
          <a:p>
            <a:pPr indent="0" marL="0">
              <a:buNone/>
            </a:pPr>
            <a:r>
              <a:rPr lang="en-US" sz="1300" b="1" dirty="0">
                <a:solidFill>
                  <a:srgbClr val="0A1F2E"/>
                </a:solidFill>
                <a:latin typeface="Helvetica Neue" pitchFamily="34" charset="0"/>
                <a:ea typeface="Helvetica Neue" pitchFamily="34" charset="-122"/>
                <a:cs typeface="Helvetica Neue" pitchFamily="34" charset="-120"/>
              </a:rPr>
              <a:t>Value Synergy</a:t>
            </a:r>
            <a:endParaRPr lang="en-US" sz="1300" dirty="0"/>
          </a:p>
        </p:txBody>
      </p:sp>
      <p:sp>
        <p:nvSpPr>
          <p:cNvPr id="15" name="Text 13"/>
          <p:cNvSpPr/>
          <p:nvPr/>
        </p:nvSpPr>
        <p:spPr>
          <a:xfrm>
            <a:off x="6400800" y="1828800"/>
            <a:ext cx="5303520" cy="4114800"/>
          </a:xfrm>
          <a:prstGeom prst="rect">
            <a:avLst/>
          </a:prstGeom>
          <a:noFill/>
          <a:ln/>
        </p:spPr>
        <p:txBody>
          <a:bodyPr wrap="square" lIns="0" tIns="0" rIns="0" bIns="0" rtlCol="0" anchor="ctr"/>
          <a:lstStyle/>
          <a:p>
            <a:pPr marL="127000" indent="-127000">
              <a:lnSpc>
                <a:spcPts val="1400"/>
              </a:lnSpc>
              <a:spcAft>
                <a:spcPts val="300"/>
              </a:spcAft>
              <a:buSzPct val="100000"/>
              <a:buChar char="▸"/>
            </a:pPr>
            <a:r>
              <a:rPr lang="en-US" b="1" dirty="0">
                <a:solidFill>
                  <a:srgbClr val="000000"/>
                </a:solidFill>
              </a:rPr>
              <a:t>Pre-engineered compliance frameworks</a:t>
            </a:r>
            <a:endParaRPr lang="en-US" dirty="0"/>
          </a:p>
          <a:p>
            <a:pPr indent="0" marL="0">
              <a:lnSpc>
                <a:spcPts val="1400"/>
              </a:lnSpc>
              <a:spcAft>
                <a:spcPts val="300"/>
              </a:spcAft>
              <a:buNone/>
            </a:pPr>
            <a:r>
              <a:rPr lang="en-US" sz="950" dirty="0">
                <a:solidFill>
                  <a:srgbClr val="5A6B7A"/>
                </a:solidFill>
              </a:rPr>
              <a:t>LGPD, CFM, BACEN, ANS compliance built into the architecture from day one — not bolted on</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0000"/>
                </a:solidFill>
              </a:rPr>
              <a:t>Localized deployment pipelines</a:t>
            </a:r>
            <a:endParaRPr lang="en-US" sz="950" dirty="0"/>
          </a:p>
          <a:p>
            <a:pPr indent="0" marL="0">
              <a:lnSpc>
                <a:spcPts val="1400"/>
              </a:lnSpc>
              <a:spcAft>
                <a:spcPts val="300"/>
              </a:spcAft>
              <a:buNone/>
            </a:pPr>
            <a:r>
              <a:rPr lang="en-US" sz="950" dirty="0">
                <a:solidFill>
                  <a:srgbClr val="5A6B7A"/>
                </a:solidFill>
              </a:rPr>
              <a:t>Production infrastructure already running — 77M+ decisions indexed, 8 medical portals live, identity and compliance stack operational</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0000"/>
                </a:solidFill>
              </a:rPr>
              <a:t>Established institutional networks</a:t>
            </a:r>
            <a:endParaRPr lang="en-US" sz="950" dirty="0"/>
          </a:p>
          <a:p>
            <a:pPr indent="0" marL="0">
              <a:lnSpc>
                <a:spcPts val="1400"/>
              </a:lnSpc>
              <a:spcAft>
                <a:spcPts val="300"/>
              </a:spcAft>
              <a:buNone/>
            </a:pPr>
            <a:r>
              <a:rPr lang="en-US" sz="950" dirty="0">
                <a:solidFill>
                  <a:srgbClr val="5A6B7A"/>
                </a:solidFill>
              </a:rPr>
              <a:t>Founder is a corporate attorney with 12 years in the Judiciary — direct access to tribunals, hospitals, and financial institutions</a:t>
            </a:r>
            <a:endParaRPr lang="en-US" sz="950" dirty="0"/>
          </a:p>
          <a:p>
            <a:pPr indent="0" marL="0">
              <a:lnSpc>
                <a:spcPts val="1400"/>
              </a:lnSpc>
              <a:spcAft>
                <a:spcPts val="300"/>
              </a:spcAft>
              <a:buNone/>
            </a:pPr>
            <a:r>
              <a:rPr lang="en-US" sz="400" dirty="0">
                <a:solidFill>
                  <a:srgbClr val="000000"/>
                </a:solidFill>
              </a:rPr>
              <a:t> </a:t>
            </a:r>
            <a:endParaRPr lang="en-US" sz="950" dirty="0"/>
          </a:p>
          <a:p>
            <a:pPr marL="127000" indent="-127000">
              <a:lnSpc>
                <a:spcPts val="1400"/>
              </a:lnSpc>
              <a:spcAft>
                <a:spcPts val="300"/>
              </a:spcAft>
              <a:buSzPct val="100000"/>
              <a:buChar char="▸"/>
            </a:pPr>
            <a:r>
              <a:rPr lang="en-US" sz="950" b="1" dirty="0">
                <a:solidFill>
                  <a:srgbClr val="000000"/>
                </a:solidFill>
              </a:rPr>
              <a:t>Sovereign land and premium domains</a:t>
            </a:r>
            <a:endParaRPr lang="en-US" sz="950" dirty="0"/>
          </a:p>
          <a:p>
            <a:pPr indent="0" marL="0">
              <a:lnSpc>
                <a:spcPts val="1400"/>
              </a:lnSpc>
              <a:spcAft>
                <a:spcPts val="300"/>
              </a:spcAft>
              <a:buNone/>
            </a:pPr>
            <a:r>
              <a:rPr lang="en-US" sz="950" dirty="0">
                <a:solidFill>
                  <a:srgbClr val="5A6B7A"/>
                </a:solidFill>
              </a:rPr>
              <a:t>hy.cloud as product domain · land in PB (solar + satellite) and CE (ZPE, subsea) — ready for construction</a:t>
            </a:r>
            <a:endParaRPr lang="en-US" sz="950" dirty="0"/>
          </a:p>
        </p:txBody>
      </p:sp>
      <p:sp>
        <p:nvSpPr>
          <p:cNvPr id="16" name="Text 14"/>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7" name="Text 15"/>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A1F2E"/>
                </a:solidFill>
                <a:latin typeface="Helvetica Neue" pitchFamily="34" charset="0"/>
                <a:ea typeface="Helvetica Neue" pitchFamily="34" charset="-122"/>
                <a:cs typeface="Helvetica Neue" pitchFamily="34" charset="-120"/>
              </a:rPr>
              <a:t>Revenue Projection</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5A6B7A"/>
                </a:solidFill>
                <a:latin typeface="Helvetica Neue" pitchFamily="34" charset="0"/>
                <a:ea typeface="Helvetica Neue" pitchFamily="34" charset="-122"/>
                <a:cs typeface="Helvetica Neue" pitchFamily="34" charset="-120"/>
              </a:rPr>
              <a:t>US$ 350M partnership → US$ 1.1B cumulative revenue (5 years) → US$ 3.8B enterprise value</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graphicFrame>
        <p:nvGraphicFramePr>
          <p:cNvPr id="5" name="Chart 0" descr=""/>
          <p:cNvGraphicFramePr/>
          <p:nvPr/>
        </p:nvGraphicFramePr>
        <p:xfrm>
          <a:off x="502920" y="1554480"/>
          <a:ext cx="530352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0" y="1554480"/>
          <a:ext cx="5303520" cy="914400"/>
        </p:xfrm>
        <a:graphic>
          <a:graphicData uri="http://schemas.openxmlformats.org/drawingml/2006/table">
            <a:tbl>
              <a:tblPr/>
              <a:tblGrid>
                <a:gridCol w="3931920"/>
                <a:gridCol w="1371600"/>
              </a:tblGrid>
              <a:tr h="347472">
                <a:tc>
                  <a:txBody>
                    <a:bodyPr/>
                    <a:lstStyle/>
                    <a:p>
                      <a:pPr algn="l" indent="0" marL="0">
                        <a:buNone/>
                      </a:pPr>
                      <a:r>
                        <a:rPr lang="en-US" sz="950" b="1" dirty="0">
                          <a:solidFill>
                            <a:srgbClr val="E8C847"/>
                          </a:solidFill>
                          <a:latin typeface="Helvetica Neue" pitchFamily="34" charset="0"/>
                          <a:ea typeface="Helvetica Neue" pitchFamily="34" charset="-122"/>
                          <a:cs typeface="Helvetica Neue" pitchFamily="34" charset="-120"/>
                        </a:rPr>
                        <a:t>Revenue Stream (Year 5)</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c>
                  <a:txBody>
                    <a:bodyPr/>
                    <a:lstStyle/>
                    <a:p>
                      <a:pPr algn="r" indent="0" marL="0">
                        <a:buNone/>
                      </a:pPr>
                      <a:r>
                        <a:rPr lang="en-US" sz="950" b="1" dirty="0">
                          <a:solidFill>
                            <a:srgbClr val="E8C847"/>
                          </a:solidFill>
                          <a:latin typeface="Helvetica Neue" pitchFamily="34" charset="0"/>
                          <a:ea typeface="Helvetica Neue" pitchFamily="34" charset="-122"/>
                          <a:cs typeface="Helvetica Neue" pitchFamily="34" charset="-120"/>
                        </a:rPr>
                        <a:t>US$M/yr</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r>
              <a:tr h="347472">
                <a:tc>
                  <a:txBody>
                    <a:bodyPr/>
                    <a:lstStyle/>
                    <a:p>
                      <a:pPr algn="l" indent="0" marL="0">
                        <a:buNone/>
                      </a:pPr>
                      <a:r>
                        <a:rPr lang="en-US" sz="950" dirty="0">
                          <a:solidFill>
                            <a:srgbClr val="1A2332"/>
                          </a:solidFill>
                          <a:latin typeface="Helvetica Neue" pitchFamily="34" charset="0"/>
                          <a:ea typeface="Helvetica Neue" pitchFamily="34" charset="-122"/>
                          <a:cs typeface="Helvetica Neue" pitchFamily="34" charset="-120"/>
                        </a:rPr>
                        <a:t>Brazil (4 verticals SaaS + API)</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332"/>
                          </a:solidFill>
                          <a:latin typeface="Helvetica Neue" pitchFamily="34" charset="0"/>
                          <a:ea typeface="Helvetica Neue" pitchFamily="34" charset="-122"/>
                          <a:cs typeface="Helvetica Neue" pitchFamily="34" charset="-120"/>
                        </a:rPr>
                        <a:t>180</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r>
              <a:tr h="347472">
                <a:tc>
                  <a:txBody>
                    <a:bodyPr/>
                    <a:lstStyle/>
                    <a:p>
                      <a:pPr algn="l" indent="0" marL="0">
                        <a:buNone/>
                      </a:pPr>
                      <a:r>
                        <a:rPr lang="en-US" sz="950" dirty="0">
                          <a:solidFill>
                            <a:srgbClr val="1A2332"/>
                          </a:solidFill>
                          <a:latin typeface="Helvetica Neue" pitchFamily="34" charset="0"/>
                          <a:ea typeface="Helvetica Neue" pitchFamily="34" charset="-122"/>
                          <a:cs typeface="Helvetica Neue" pitchFamily="34" charset="-120"/>
                        </a:rPr>
                        <a:t>Latin America (Tencent edge services)</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c>
                  <a:txBody>
                    <a:bodyPr/>
                    <a:lstStyle/>
                    <a:p>
                      <a:pPr algn="r" indent="0" marL="0">
                        <a:buNone/>
                      </a:pPr>
                      <a:r>
                        <a:rPr lang="en-US" sz="950" dirty="0">
                          <a:solidFill>
                            <a:srgbClr val="1A2332"/>
                          </a:solidFill>
                          <a:latin typeface="Helvetica Neue" pitchFamily="34" charset="0"/>
                          <a:ea typeface="Helvetica Neue" pitchFamily="34" charset="-122"/>
                          <a:cs typeface="Helvetica Neue" pitchFamily="34" charset="-120"/>
                        </a:rPr>
                        <a:t>120</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r>
              <a:tr h="347472">
                <a:tc>
                  <a:txBody>
                    <a:bodyPr/>
                    <a:lstStyle/>
                    <a:p>
                      <a:pPr algn="l" indent="0" marL="0">
                        <a:buNone/>
                      </a:pPr>
                      <a:r>
                        <a:rPr lang="en-US" sz="950" dirty="0">
                          <a:solidFill>
                            <a:srgbClr val="1A2332"/>
                          </a:solidFill>
                          <a:latin typeface="Helvetica Neue" pitchFamily="34" charset="0"/>
                          <a:ea typeface="Helvetica Neue" pitchFamily="34" charset="-122"/>
                          <a:cs typeface="Helvetica Neue" pitchFamily="34" charset="-120"/>
                        </a:rPr>
                        <a:t>Compute-as-a-Service (GPU cloud)</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332"/>
                          </a:solidFill>
                          <a:latin typeface="Helvetica Neue" pitchFamily="34" charset="0"/>
                          <a:ea typeface="Helvetica Neue" pitchFamily="34" charset="-122"/>
                          <a:cs typeface="Helvetica Neue" pitchFamily="34" charset="-120"/>
                        </a:rPr>
                        <a:t>80</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r>
              <a:tr h="347472">
                <a:tc>
                  <a:txBody>
                    <a:bodyPr/>
                    <a:lstStyle/>
                    <a:p>
                      <a:pPr algn="l" indent="0" marL="0">
                        <a:buNone/>
                      </a:pPr>
                      <a:r>
                        <a:rPr lang="en-US" sz="950" dirty="0">
                          <a:solidFill>
                            <a:srgbClr val="1A2332"/>
                          </a:solidFill>
                          <a:latin typeface="Helvetica Neue" pitchFamily="34" charset="0"/>
                          <a:ea typeface="Helvetica Neue" pitchFamily="34" charset="-122"/>
                          <a:cs typeface="Helvetica Neue" pitchFamily="34" charset="-120"/>
                        </a:rPr>
                        <a:t>Sovereign Cloud (hy.cloud API)</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c>
                  <a:txBody>
                    <a:bodyPr/>
                    <a:lstStyle/>
                    <a:p>
                      <a:pPr algn="r" indent="0" marL="0">
                        <a:buNone/>
                      </a:pPr>
                      <a:r>
                        <a:rPr lang="en-US" sz="950" dirty="0">
                          <a:solidFill>
                            <a:srgbClr val="1A2332"/>
                          </a:solidFill>
                          <a:latin typeface="Helvetica Neue" pitchFamily="34" charset="0"/>
                          <a:ea typeface="Helvetica Neue" pitchFamily="34" charset="-122"/>
                          <a:cs typeface="Helvetica Neue" pitchFamily="34" charset="-120"/>
                        </a:rPr>
                        <a:t>60</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0F5F7"/>
                    </a:solidFill>
                  </a:tcPr>
                </a:tc>
              </a:tr>
              <a:tr h="347472">
                <a:tc>
                  <a:txBody>
                    <a:bodyPr/>
                    <a:lstStyle/>
                    <a:p>
                      <a:pPr algn="l" indent="0" marL="0">
                        <a:buNone/>
                      </a:pPr>
                      <a:r>
                        <a:rPr lang="en-US" sz="950" dirty="0">
                          <a:solidFill>
                            <a:srgbClr val="1A2332"/>
                          </a:solidFill>
                          <a:latin typeface="Helvetica Neue" pitchFamily="34" charset="0"/>
                          <a:ea typeface="Helvetica Neue" pitchFamily="34" charset="-122"/>
                          <a:cs typeface="Helvetica Neue" pitchFamily="34" charset="-120"/>
                        </a:rPr>
                        <a:t>Colocation (ZPE CE)</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332"/>
                          </a:solidFill>
                          <a:latin typeface="Helvetica Neue" pitchFamily="34" charset="0"/>
                          <a:ea typeface="Helvetica Neue" pitchFamily="34" charset="-122"/>
                          <a:cs typeface="Helvetica Neue" pitchFamily="34" charset="-120"/>
                        </a:rPr>
                        <a:t>40</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D4A843"/>
                          </a:solidFill>
                          <a:latin typeface="Helvetica Neue" pitchFamily="34" charset="0"/>
                          <a:ea typeface="Helvetica Neue" pitchFamily="34" charset="-122"/>
                          <a:cs typeface="Helvetica Neue" pitchFamily="34" charset="-120"/>
                        </a:rPr>
                        <a:t>TOTAL</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c>
                  <a:txBody>
                    <a:bodyPr/>
                    <a:lstStyle/>
                    <a:p>
                      <a:pPr algn="r" indent="0" marL="0">
                        <a:buNone/>
                      </a:pPr>
                      <a:r>
                        <a:rPr lang="en-US" sz="950" b="1" dirty="0">
                          <a:solidFill>
                            <a:srgbClr val="D4A843"/>
                          </a:solidFill>
                          <a:latin typeface="Helvetica Neue" pitchFamily="34" charset="0"/>
                          <a:ea typeface="Helvetica Neue" pitchFamily="34" charset="-122"/>
                          <a:cs typeface="Helvetica Neue" pitchFamily="34" charset="-120"/>
                        </a:rPr>
                        <a:t>480</a:t>
                      </a:r>
                      <a:endParaRPr lang="en-US" sz="950" dirty="0">
                        <a:latin typeface="Helvetica Neue" charset="0"/>
                        <a:ea typeface="Helvetica Neue" charset="0"/>
                        <a:cs typeface="Helvetica Neue" charset="0"/>
                      </a:endParaRPr>
                    </a:p>
                  </a:txBody>
                  <a:tcPr marL="91440" marR="91440" marT="45720" marB="45720" anchor="ctr">
                    <a:lnL w="6350" cap="flat" cmpd="sng" algn="ctr">
                      <a:solidFill>
                        <a:srgbClr val="C8D5DC"/>
                      </a:solidFill>
                      <a:prstDash val="solid"/>
                      <a:round/>
                      <a:headEnd type="none" w="med" len="med"/>
                      <a:tailEnd type="none" w="med" len="med"/>
                    </a:lnL>
                    <a:lnR w="6350" cap="flat" cmpd="sng" algn="ctr">
                      <a:solidFill>
                        <a:srgbClr val="C8D5DC"/>
                      </a:solidFill>
                      <a:prstDash val="solid"/>
                      <a:round/>
                      <a:headEnd type="none" w="med" len="med"/>
                      <a:tailEnd type="none" w="med" len="med"/>
                    </a:lnR>
                    <a:lnT w="6350" cap="flat" cmpd="sng" algn="ctr">
                      <a:solidFill>
                        <a:srgbClr val="C8D5DC"/>
                      </a:solidFill>
                      <a:prstDash val="solid"/>
                      <a:round/>
                      <a:headEnd type="none" w="med" len="med"/>
                      <a:tailEnd type="none" w="med" len="med"/>
                    </a:lnT>
                    <a:lnB w="6350" cap="flat" cmpd="sng" algn="ctr">
                      <a:solidFill>
                        <a:srgbClr val="C8D5DC"/>
                      </a:solidFill>
                      <a:prstDash val="solid"/>
                      <a:round/>
                      <a:headEnd type="none" w="med" len="med"/>
                      <a:tailEnd type="none" w="med" len="med"/>
                    </a:lnB>
                    <a:solidFill>
                      <a:srgbClr val="0A1F2E"/>
                    </a:solidFill>
                  </a:tcPr>
                </a:tc>
              </a:tr>
            </a:tbl>
          </a:graphicData>
        </a:graphic>
      </p:graphicFrame>
      <p:sp>
        <p:nvSpPr>
          <p:cNvPr id="7" name="Shape 3"/>
          <p:cNvSpPr/>
          <p:nvPr/>
        </p:nvSpPr>
        <p:spPr>
          <a:xfrm>
            <a:off x="502920" y="5029200"/>
            <a:ext cx="11183112" cy="1371600"/>
          </a:xfrm>
          <a:prstGeom prst="rect">
            <a:avLst/>
          </a:prstGeom>
          <a:solidFill>
            <a:srgbClr val="0A1F2E"/>
          </a:solidFill>
          <a:ln w="25400">
            <a:solidFill>
              <a:srgbClr val="D4A843"/>
            </a:solidFill>
            <a:prstDash val="solid"/>
          </a:ln>
        </p:spPr>
      </p:sp>
      <p:sp>
        <p:nvSpPr>
          <p:cNvPr id="8" name="Text 4"/>
          <p:cNvSpPr/>
          <p:nvPr/>
        </p:nvSpPr>
        <p:spPr>
          <a:xfrm>
            <a:off x="960120" y="5166360"/>
            <a:ext cx="10268712" cy="1097280"/>
          </a:xfrm>
          <a:prstGeom prst="rect">
            <a:avLst/>
          </a:prstGeom>
          <a:noFill/>
          <a:ln/>
        </p:spPr>
        <p:txBody>
          <a:bodyPr wrap="square" lIns="0" tIns="0" rIns="0" bIns="0" rtlCol="0" anchor="ctr"/>
          <a:lstStyle/>
          <a:p>
            <a:pPr algn="ctr" indent="0" marL="0">
              <a:lnSpc>
                <a:spcPts val="1600"/>
              </a:lnSpc>
              <a:buNone/>
            </a:pPr>
            <a:r>
              <a:rPr lang="en-US" sz="1400" b="1" dirty="0">
                <a:solidFill>
                  <a:srgbClr val="E8C847"/>
                </a:solidFill>
              </a:rPr>
              <a:t>US$ 350M Investment → US$ 1.1B Revenue (5 years) → US$ 3.8B Enterprise Value at Exit</a:t>
            </a:r>
            <a:endParaRPr lang="en-US" sz="1400" dirty="0"/>
          </a:p>
          <a:p>
            <a:pPr algn="ctr" indent="0" marL="0">
              <a:lnSpc>
                <a:spcPts val="1600"/>
              </a:lnSpc>
              <a:buNone/>
            </a:pPr>
            <a:r>
              <a:rPr lang="en-US" sz="1100" dirty="0">
                <a:solidFill>
                  <a:srgbClr val="B0C8D8"/>
                </a:solidFill>
              </a:rPr>
              <a:t>Direct ROI: 3.1×  ·  Enterprise Value Multiple: 10.9×  ·  Year 5 Run-Rate: US$ 480M/year</a:t>
            </a:r>
            <a:endParaRPr lang="en-US" sz="1400" dirty="0"/>
          </a:p>
          <a:p>
            <a:pPr algn="ctr" indent="0" marL="0">
              <a:lnSpc>
                <a:spcPts val="1600"/>
              </a:lnSpc>
              <a:buNone/>
            </a:pPr>
            <a:r>
              <a:rPr lang="en-US" sz="900" i="1" dirty="0">
                <a:solidFill>
                  <a:srgbClr val="6B9BB0"/>
                </a:solidFill>
              </a:rPr>
              <a:t>Excluding: data center assets, Hunyuan fine-tuned model IP, domain portfolio, recurring revenue beyond Year 5</a:t>
            </a:r>
            <a:endParaRPr lang="en-US" sz="1400" dirty="0"/>
          </a:p>
        </p:txBody>
      </p:sp>
      <p:sp>
        <p:nvSpPr>
          <p:cNvPr id="9" name="Text 5"/>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5A6B7A"/>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0" name="Text 6"/>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5A6B7A"/>
                </a:solidFill>
                <a:latin typeface="Helvetica Neue" pitchFamily="34" charset="0"/>
                <a:ea typeface="Helvetica Neue" pitchFamily="34" charset="-122"/>
                <a:cs typeface="Helvetica Neue"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F2E"/>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0B8A9"/>
                </a:solidFill>
                <a:latin typeface="Helvetica Neue" pitchFamily="34" charset="0"/>
                <a:ea typeface="Helvetica Neue" pitchFamily="34" charset="-122"/>
                <a:cs typeface="Helvetica Neue" pitchFamily="34" charset="-120"/>
              </a:rPr>
              <a:t>Alliance Proposal — What We Ask, What We Give</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8FC0D0"/>
                </a:solidFill>
                <a:latin typeface="Helvetica Neue" pitchFamily="34" charset="0"/>
                <a:ea typeface="Helvetica Neue" pitchFamily="34" charset="-122"/>
                <a:cs typeface="Helvetica Neue" pitchFamily="34" charset="-120"/>
              </a:rPr>
              <a:t>A partnership of equals, anchored in shared vision for sovereign AI</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Shape 3"/>
          <p:cNvSpPr/>
          <p:nvPr/>
        </p:nvSpPr>
        <p:spPr>
          <a:xfrm>
            <a:off x="502920" y="1554480"/>
            <a:ext cx="5303520" cy="3840480"/>
          </a:xfrm>
          <a:prstGeom prst="rect">
            <a:avLst/>
          </a:prstGeom>
          <a:solidFill>
            <a:srgbClr val="0D2839"/>
          </a:solidFill>
          <a:ln w="19050">
            <a:solidFill>
              <a:srgbClr val="D4A843"/>
            </a:solidFill>
            <a:prstDash val="solid"/>
          </a:ln>
        </p:spPr>
      </p:sp>
      <p:sp>
        <p:nvSpPr>
          <p:cNvPr id="6" name="Text 4"/>
          <p:cNvSpPr/>
          <p:nvPr/>
        </p:nvSpPr>
        <p:spPr>
          <a:xfrm>
            <a:off x="777240" y="1737360"/>
            <a:ext cx="4754880" cy="365760"/>
          </a:xfrm>
          <a:prstGeom prst="rect">
            <a:avLst/>
          </a:prstGeom>
          <a:noFill/>
          <a:ln/>
        </p:spPr>
        <p:txBody>
          <a:bodyPr wrap="square" lIns="0" tIns="0" rIns="0" bIns="0" rtlCol="0" anchor="ctr"/>
          <a:lstStyle/>
          <a:p>
            <a:pPr indent="0" marL="0">
              <a:buNone/>
            </a:pPr>
            <a:r>
              <a:rPr lang="en-US" sz="1400" b="1" spc="200" kern="0" dirty="0">
                <a:solidFill>
                  <a:srgbClr val="E8C847"/>
                </a:solidFill>
                <a:latin typeface="Helvetica Neue" pitchFamily="34" charset="0"/>
                <a:ea typeface="Helvetica Neue" pitchFamily="34" charset="-122"/>
                <a:cs typeface="Helvetica Neue" pitchFamily="34" charset="-120"/>
              </a:rPr>
              <a:t>TENCENT CLOUD CONTRIBUTES</a:t>
            </a:r>
            <a:endParaRPr lang="en-US" sz="1400" dirty="0"/>
          </a:p>
        </p:txBody>
      </p:sp>
      <p:sp>
        <p:nvSpPr>
          <p:cNvPr id="7" name="Text 5"/>
          <p:cNvSpPr/>
          <p:nvPr/>
        </p:nvSpPr>
        <p:spPr>
          <a:xfrm>
            <a:off x="777240" y="2103120"/>
            <a:ext cx="4754880" cy="3108960"/>
          </a:xfrm>
          <a:prstGeom prst="rect">
            <a:avLst/>
          </a:prstGeom>
          <a:noFill/>
          <a:ln/>
        </p:spPr>
        <p:txBody>
          <a:bodyPr wrap="square" lIns="0" tIns="0" rIns="0" bIns="0" rtlCol="0" anchor="ctr"/>
          <a:lstStyle/>
          <a:p>
            <a:pPr marL="127000" indent="-127000">
              <a:lnSpc>
                <a:spcPts val="1400"/>
              </a:lnSpc>
              <a:spcAft>
                <a:spcPts val="400"/>
              </a:spcAft>
              <a:buSzPct val="100000"/>
              <a:buChar char="▸"/>
            </a:pPr>
            <a:r>
              <a:rPr lang="en-US" b="1" dirty="0">
                <a:solidFill>
                  <a:srgbClr val="E8C847"/>
                </a:solidFill>
              </a:rPr>
              <a:t>US$ 350M capital intake</a:t>
            </a:r>
            <a:endParaRPr lang="en-US" dirty="0"/>
          </a:p>
          <a:p>
            <a:pPr indent="0" marL="0">
              <a:lnSpc>
                <a:spcPts val="1400"/>
              </a:lnSpc>
              <a:spcAft>
                <a:spcPts val="400"/>
              </a:spcAft>
              <a:buNone/>
            </a:pPr>
            <a:r>
              <a:rPr lang="en-US" sz="900" dirty="0">
                <a:solidFill>
                  <a:srgbClr val="8FC0D0"/>
                </a:solidFill>
              </a:rPr>
              <a:t>Anchoring, scaling, and co-owning the sovereign ecosystem</a:t>
            </a:r>
            <a:endParaRPr lang="en-US" sz="900" dirty="0"/>
          </a:p>
          <a:p>
            <a:pPr indent="0" marL="0">
              <a:lnSpc>
                <a:spcPts val="1400"/>
              </a:lnSpc>
              <a:spcAft>
                <a:spcPts val="400"/>
              </a:spcAft>
              <a:buNone/>
            </a:pPr>
            <a:r>
              <a:rPr lang="en-US" sz="400" dirty="0">
                <a:solidFill>
                  <a:srgbClr val="000000"/>
                </a:solidFill>
              </a:rPr>
              <a:t> </a:t>
            </a:r>
            <a:endParaRPr lang="en-US" sz="900" dirty="0"/>
          </a:p>
          <a:p>
            <a:pPr marL="127000" indent="-127000">
              <a:lnSpc>
                <a:spcPts val="1400"/>
              </a:lnSpc>
              <a:spcAft>
                <a:spcPts val="400"/>
              </a:spcAft>
              <a:buSzPct val="100000"/>
              <a:buChar char="▸"/>
            </a:pPr>
            <a:r>
              <a:rPr lang="en-US" sz="900" b="1" dirty="0">
                <a:solidFill>
                  <a:srgbClr val="FFFFFF"/>
                </a:solidFill>
              </a:rPr>
              <a:t>Hunyuan / Hy4 model family</a:t>
            </a:r>
            <a:endParaRPr lang="en-US" sz="900" dirty="0"/>
          </a:p>
          <a:p>
            <a:pPr indent="0" marL="0">
              <a:lnSpc>
                <a:spcPts val="1400"/>
              </a:lnSpc>
              <a:spcAft>
                <a:spcPts val="400"/>
              </a:spcAft>
              <a:buNone/>
            </a:pPr>
            <a:r>
              <a:rPr lang="en-US" sz="900" dirty="0">
                <a:solidFill>
                  <a:srgbClr val="8FC0D0"/>
                </a:solidFill>
              </a:rPr>
              <a:t>Base weights + deployment rights for sovereign infrastructure in LATAM</a:t>
            </a:r>
            <a:endParaRPr lang="en-US" sz="900" dirty="0"/>
          </a:p>
          <a:p>
            <a:pPr indent="0" marL="0">
              <a:lnSpc>
                <a:spcPts val="1400"/>
              </a:lnSpc>
              <a:spcAft>
                <a:spcPts val="400"/>
              </a:spcAft>
              <a:buNone/>
            </a:pPr>
            <a:r>
              <a:rPr lang="en-US" sz="400" dirty="0">
                <a:solidFill>
                  <a:srgbClr val="000000"/>
                </a:solidFill>
              </a:rPr>
              <a:t> </a:t>
            </a:r>
            <a:endParaRPr lang="en-US" sz="900" dirty="0"/>
          </a:p>
          <a:p>
            <a:pPr marL="127000" indent="-127000">
              <a:lnSpc>
                <a:spcPts val="1400"/>
              </a:lnSpc>
              <a:spcAft>
                <a:spcPts val="400"/>
              </a:spcAft>
              <a:buSzPct val="100000"/>
              <a:buChar char="▸"/>
            </a:pPr>
            <a:r>
              <a:rPr lang="en-US" sz="900" b="1" dirty="0">
                <a:solidFill>
                  <a:srgbClr val="FFFFFF"/>
                </a:solidFill>
              </a:rPr>
              <a:t>Global network integration</a:t>
            </a:r>
            <a:endParaRPr lang="en-US" sz="900" dirty="0"/>
          </a:p>
          <a:p>
            <a:pPr indent="0" marL="0">
              <a:lnSpc>
                <a:spcPts val="1400"/>
              </a:lnSpc>
              <a:spcAft>
                <a:spcPts val="400"/>
              </a:spcAft>
              <a:buNone/>
            </a:pPr>
            <a:r>
              <a:rPr lang="en-US" sz="900" dirty="0">
                <a:solidFill>
                  <a:srgbClr val="8FC0D0"/>
                </a:solidFill>
              </a:rPr>
              <a:t>AS36351 BGP peering + subsea cable integration at ZPE Caucaia</a:t>
            </a:r>
            <a:endParaRPr lang="en-US" sz="900" dirty="0"/>
          </a:p>
          <a:p>
            <a:pPr indent="0" marL="0">
              <a:lnSpc>
                <a:spcPts val="1400"/>
              </a:lnSpc>
              <a:spcAft>
                <a:spcPts val="400"/>
              </a:spcAft>
              <a:buNone/>
            </a:pPr>
            <a:r>
              <a:rPr lang="en-US" sz="400" dirty="0">
                <a:solidFill>
                  <a:srgbClr val="000000"/>
                </a:solidFill>
              </a:rPr>
              <a:t> </a:t>
            </a:r>
            <a:endParaRPr lang="en-US" sz="900" dirty="0"/>
          </a:p>
          <a:p>
            <a:pPr marL="127000" indent="-127000">
              <a:lnSpc>
                <a:spcPts val="1400"/>
              </a:lnSpc>
              <a:spcAft>
                <a:spcPts val="400"/>
              </a:spcAft>
              <a:buSzPct val="100000"/>
              <a:buChar char="▸"/>
            </a:pPr>
            <a:r>
              <a:rPr lang="en-US" sz="900" b="1" dirty="0">
                <a:solidFill>
                  <a:srgbClr val="FFFFFF"/>
                </a:solidFill>
              </a:rPr>
              <a:t>Enterprise hardware pipeline</a:t>
            </a:r>
            <a:endParaRPr lang="en-US" sz="900" dirty="0"/>
          </a:p>
        </p:txBody>
      </p:sp>
      <p:sp>
        <p:nvSpPr>
          <p:cNvPr id="8" name="Shape 6"/>
          <p:cNvSpPr/>
          <p:nvPr/>
        </p:nvSpPr>
        <p:spPr>
          <a:xfrm>
            <a:off x="6400800" y="1554480"/>
            <a:ext cx="5303520" cy="3840480"/>
          </a:xfrm>
          <a:prstGeom prst="rect">
            <a:avLst/>
          </a:prstGeom>
          <a:solidFill>
            <a:srgbClr val="0D2839"/>
          </a:solidFill>
          <a:ln w="12700">
            <a:solidFill>
              <a:srgbClr val="00B8A9"/>
            </a:solidFill>
            <a:prstDash val="solid"/>
          </a:ln>
        </p:spPr>
      </p:sp>
      <p:sp>
        <p:nvSpPr>
          <p:cNvPr id="9" name="Text 7"/>
          <p:cNvSpPr/>
          <p:nvPr/>
        </p:nvSpPr>
        <p:spPr>
          <a:xfrm>
            <a:off x="6675120" y="1737360"/>
            <a:ext cx="4754880" cy="365760"/>
          </a:xfrm>
          <a:prstGeom prst="rect">
            <a:avLst/>
          </a:prstGeom>
          <a:noFill/>
          <a:ln/>
        </p:spPr>
        <p:txBody>
          <a:bodyPr wrap="square" lIns="0" tIns="0" rIns="0" bIns="0" rtlCol="0" anchor="ctr"/>
          <a:lstStyle/>
          <a:p>
            <a:pPr indent="0" marL="0">
              <a:buNone/>
            </a:pPr>
            <a:r>
              <a:rPr lang="en-US" sz="1400" b="1" spc="200" kern="0" dirty="0">
                <a:solidFill>
                  <a:srgbClr val="00B8A9"/>
                </a:solidFill>
                <a:latin typeface="Helvetica Neue" pitchFamily="34" charset="0"/>
                <a:ea typeface="Helvetica Neue" pitchFamily="34" charset="-122"/>
                <a:cs typeface="Helvetica Neue" pitchFamily="34" charset="-120"/>
              </a:rPr>
              <a:t>BEANS TECH CONTRIBUTES</a:t>
            </a:r>
            <a:endParaRPr lang="en-US" sz="1400" dirty="0"/>
          </a:p>
        </p:txBody>
      </p:sp>
      <p:sp>
        <p:nvSpPr>
          <p:cNvPr id="10" name="Text 8"/>
          <p:cNvSpPr/>
          <p:nvPr/>
        </p:nvSpPr>
        <p:spPr>
          <a:xfrm>
            <a:off x="6675120" y="2103120"/>
            <a:ext cx="4754880" cy="3108960"/>
          </a:xfrm>
          <a:prstGeom prst="rect">
            <a:avLst/>
          </a:prstGeom>
          <a:noFill/>
          <a:ln/>
        </p:spPr>
        <p:txBody>
          <a:bodyPr wrap="square" lIns="0" tIns="0" rIns="0" bIns="0" rtlCol="0" anchor="ctr"/>
          <a:lstStyle/>
          <a:p>
            <a:pPr marL="127000" indent="-127000">
              <a:lnSpc>
                <a:spcPts val="1300"/>
              </a:lnSpc>
              <a:spcAft>
                <a:spcPts val="200"/>
              </a:spcAft>
              <a:buSzPct val="100000"/>
              <a:buChar char="▸"/>
            </a:pPr>
            <a:r>
              <a:rPr lang="en-US" b="1" dirty="0">
                <a:solidFill>
                  <a:srgbClr val="00B8A9"/>
                </a:solidFill>
              </a:rPr>
              <a:t>4 regulated verticals in production</a:t>
            </a:r>
            <a:endParaRPr lang="en-US" dirty="0"/>
          </a:p>
          <a:p>
            <a:pPr indent="0" marL="0">
              <a:lnSpc>
                <a:spcPts val="1300"/>
              </a:lnSpc>
              <a:spcAft>
                <a:spcPts val="200"/>
              </a:spcAft>
              <a:buNone/>
            </a:pPr>
            <a:r>
              <a:rPr lang="en-US" sz="900" dirty="0">
                <a:solidFill>
                  <a:srgbClr val="8FC0D0"/>
                </a:solidFill>
              </a:rPr>
              <a:t>Legal (77M+ decisions), Compliance, Healthcare, Real Estate — all live and auditable</a:t>
            </a:r>
            <a:endParaRPr lang="en-US" sz="900" dirty="0"/>
          </a:p>
          <a:p>
            <a:pPr indent="0" marL="0">
              <a:lnSpc>
                <a:spcPts val="1300"/>
              </a:lnSpc>
              <a:spcAft>
                <a:spcPts val="200"/>
              </a:spcAft>
              <a:buNone/>
            </a:pPr>
            <a:r>
              <a:rPr lang="en-US" sz="400" dirty="0">
                <a:solidFill>
                  <a:srgbClr val="000000"/>
                </a:solidFill>
              </a:rPr>
              <a:t> </a:t>
            </a:r>
            <a:endParaRPr lang="en-US" sz="900" dirty="0"/>
          </a:p>
          <a:p>
            <a:pPr marL="127000" indent="-127000">
              <a:lnSpc>
                <a:spcPts val="1300"/>
              </a:lnSpc>
              <a:spcAft>
                <a:spcPts val="200"/>
              </a:spcAft>
              <a:buSzPct val="100000"/>
              <a:buChar char="▸"/>
            </a:pPr>
            <a:r>
              <a:rPr lang="en-US" sz="900" b="1" dirty="0">
                <a:solidFill>
                  <a:srgbClr val="00B8A9"/>
                </a:solidFill>
              </a:rPr>
              <a:t>Sovereign infrastructure sites</a:t>
            </a:r>
            <a:endParaRPr lang="en-US" sz="900" dirty="0"/>
          </a:p>
          <a:p>
            <a:pPr indent="0" marL="0">
              <a:lnSpc>
                <a:spcPts val="1300"/>
              </a:lnSpc>
              <a:spcAft>
                <a:spcPts val="200"/>
              </a:spcAft>
              <a:buNone/>
            </a:pPr>
            <a:r>
              <a:rPr lang="en-US" sz="900" dirty="0">
                <a:solidFill>
                  <a:srgbClr val="8FC0D0"/>
                </a:solidFill>
              </a:rPr>
              <a:t>ZPE Caucaia (subsea, tax-free) + Santa Terezinha (solar, off-grid) — land owned, projects ready</a:t>
            </a:r>
            <a:endParaRPr lang="en-US" sz="900" dirty="0"/>
          </a:p>
          <a:p>
            <a:pPr indent="0" marL="0">
              <a:lnSpc>
                <a:spcPts val="1300"/>
              </a:lnSpc>
              <a:spcAft>
                <a:spcPts val="200"/>
              </a:spcAft>
              <a:buNone/>
            </a:pPr>
            <a:r>
              <a:rPr lang="en-US" sz="400" dirty="0">
                <a:solidFill>
                  <a:srgbClr val="000000"/>
                </a:solidFill>
              </a:rPr>
              <a:t> </a:t>
            </a:r>
            <a:endParaRPr lang="en-US" sz="900" dirty="0"/>
          </a:p>
          <a:p>
            <a:pPr marL="127000" indent="-127000">
              <a:lnSpc>
                <a:spcPts val="1300"/>
              </a:lnSpc>
              <a:spcAft>
                <a:spcPts val="200"/>
              </a:spcAft>
              <a:buSzPct val="100000"/>
              <a:buChar char="▸"/>
            </a:pPr>
            <a:r>
              <a:rPr lang="en-US" sz="900" b="1" dirty="0">
                <a:solidFill>
                  <a:srgbClr val="00B8A9"/>
                </a:solidFill>
              </a:rPr>
              <a:t>hy.cloud premium domain</a:t>
            </a:r>
            <a:endParaRPr lang="en-US" sz="900" dirty="0"/>
          </a:p>
          <a:p>
            <a:pPr indent="0" marL="0">
              <a:lnSpc>
                <a:spcPts val="1300"/>
              </a:lnSpc>
              <a:spcAft>
                <a:spcPts val="200"/>
              </a:spcAft>
              <a:buNone/>
            </a:pPr>
            <a:r>
              <a:rPr lang="en-US" sz="900" dirty="0">
                <a:solidFill>
                  <a:srgbClr val="8FC0D0"/>
                </a:solidFill>
              </a:rPr>
              <a:t>Product domain for the sovereign cloud, positioned and ready</a:t>
            </a:r>
            <a:endParaRPr lang="en-US" sz="900" dirty="0"/>
          </a:p>
          <a:p>
            <a:pPr indent="0" marL="0">
              <a:lnSpc>
                <a:spcPts val="1300"/>
              </a:lnSpc>
              <a:spcAft>
                <a:spcPts val="200"/>
              </a:spcAft>
              <a:buNone/>
            </a:pPr>
            <a:r>
              <a:rPr lang="en-US" sz="400" dirty="0">
                <a:solidFill>
                  <a:srgbClr val="000000"/>
                </a:solidFill>
              </a:rPr>
              <a:t> </a:t>
            </a:r>
            <a:endParaRPr lang="en-US" sz="900" dirty="0"/>
          </a:p>
          <a:p>
            <a:pPr marL="127000" indent="-127000">
              <a:lnSpc>
                <a:spcPts val="1300"/>
              </a:lnSpc>
              <a:spcAft>
                <a:spcPts val="200"/>
              </a:spcAft>
              <a:buSzPct val="100000"/>
              <a:buChar char="▸"/>
            </a:pPr>
            <a:r>
              <a:rPr lang="en-US" sz="900" b="1" dirty="0">
                <a:solidFill>
                  <a:srgbClr val="00B8A9"/>
                </a:solidFill>
              </a:rPr>
              <a:t>Regulatory expertise + institutional networks</a:t>
            </a:r>
            <a:endParaRPr lang="en-US" sz="900" dirty="0"/>
          </a:p>
          <a:p>
            <a:pPr indent="0" marL="0">
              <a:lnSpc>
                <a:spcPts val="1300"/>
              </a:lnSpc>
              <a:spcAft>
                <a:spcPts val="200"/>
              </a:spcAft>
              <a:buNone/>
            </a:pPr>
            <a:r>
              <a:rPr lang="en-US" sz="900" dirty="0">
                <a:solidFill>
                  <a:srgbClr val="8FC0D0"/>
                </a:solidFill>
              </a:rPr>
              <a:t>Founder attorney, 12 years Judiciary, postgraduate in Cloud + Data Protection</a:t>
            </a:r>
            <a:endParaRPr lang="en-US" sz="900" dirty="0"/>
          </a:p>
          <a:p>
            <a:pPr indent="0" marL="0">
              <a:lnSpc>
                <a:spcPts val="1300"/>
              </a:lnSpc>
              <a:spcAft>
                <a:spcPts val="200"/>
              </a:spcAft>
              <a:buNone/>
            </a:pPr>
            <a:r>
              <a:rPr lang="en-US" sz="400" dirty="0">
                <a:solidFill>
                  <a:srgbClr val="000000"/>
                </a:solidFill>
              </a:rPr>
              <a:t> </a:t>
            </a:r>
            <a:endParaRPr lang="en-US" sz="900" dirty="0"/>
          </a:p>
          <a:p>
            <a:pPr marL="127000" indent="-127000">
              <a:lnSpc>
                <a:spcPts val="1300"/>
              </a:lnSpc>
              <a:spcAft>
                <a:spcPts val="200"/>
              </a:spcAft>
              <a:buSzPct val="100000"/>
              <a:buChar char="▸"/>
            </a:pPr>
            <a:r>
              <a:rPr lang="en-US" sz="900" b="1" dirty="0">
                <a:solidFill>
                  <a:srgbClr val="00B8A9"/>
                </a:solidFill>
              </a:rPr>
              <a:t>Compliance frameworks + deployment pipelines</a:t>
            </a:r>
            <a:endParaRPr lang="en-US" sz="900" dirty="0"/>
          </a:p>
        </p:txBody>
      </p:sp>
      <p:sp>
        <p:nvSpPr>
          <p:cNvPr id="11" name="Shape 9"/>
          <p:cNvSpPr/>
          <p:nvPr/>
        </p:nvSpPr>
        <p:spPr>
          <a:xfrm>
            <a:off x="502920" y="5577840"/>
            <a:ext cx="11183112" cy="731520"/>
          </a:xfrm>
          <a:prstGeom prst="rect">
            <a:avLst/>
          </a:prstGeom>
          <a:solidFill>
            <a:srgbClr val="0D2839"/>
          </a:solidFill>
          <a:ln w="12700">
            <a:solidFill>
              <a:srgbClr val="D4A843"/>
            </a:solidFill>
            <a:prstDash val="solid"/>
          </a:ln>
        </p:spPr>
      </p:sp>
      <p:sp>
        <p:nvSpPr>
          <p:cNvPr id="12" name="Text 10"/>
          <p:cNvSpPr/>
          <p:nvPr/>
        </p:nvSpPr>
        <p:spPr>
          <a:xfrm>
            <a:off x="777240" y="5669280"/>
            <a:ext cx="10634472" cy="548640"/>
          </a:xfrm>
          <a:prstGeom prst="rect">
            <a:avLst/>
          </a:prstGeom>
          <a:noFill/>
          <a:ln/>
        </p:spPr>
        <p:txBody>
          <a:bodyPr wrap="square" lIns="0" tIns="0" rIns="0" bIns="0" rtlCol="0" anchor="ctr"/>
          <a:lstStyle/>
          <a:p>
            <a:pPr indent="0" marL="0">
              <a:lnSpc>
                <a:spcPts val="1300"/>
              </a:lnSpc>
              <a:buNone/>
            </a:pPr>
            <a:r>
              <a:rPr lang="en-US" sz="1000" b="1" dirty="0">
                <a:solidFill>
                  <a:srgbClr val="E8C847"/>
                </a:solidFill>
              </a:rPr>
              <a:t>On the US$ 350M: </a:t>
            </a:r>
            <a:pPr indent="0" marL="0">
              <a:lnSpc>
                <a:spcPts val="1300"/>
              </a:lnSpc>
              <a:buNone/>
            </a:pPr>
            <a:r>
              <a:rPr lang="en-US" sz="950" dirty="0">
                <a:solidFill>
                  <a:srgbClr val="B0C8D8"/>
                </a:solidFill>
              </a:rPr>
              <a:t>This is the value we place on this alliance — and on building it together with Tencent Cloud specifically. We are choosing Tencent as much as Tencent would be choosing us. The combination of our sovereign infrastructure, regulated AI verticals, and Hunyuan's compute architecture is worth more than the sum of its parts.</a:t>
            </a:r>
            <a:endParaRPr lang="en-US" sz="1000" dirty="0"/>
          </a:p>
        </p:txBody>
      </p:sp>
      <p:sp>
        <p:nvSpPr>
          <p:cNvPr id="13" name="Text 11"/>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6B9BB0"/>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14" name="Text 12"/>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6B9BB0"/>
                </a:solidFill>
                <a:latin typeface="Helvetica Neue" pitchFamily="34" charset="0"/>
                <a:ea typeface="Helvetica Neue" pitchFamily="34" charset="-122"/>
                <a:cs typeface="Helvetica Neue"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2E"/>
        </a:solidFill>
      </p:bgPr>
    </p:bg>
    <p:spTree>
      <p:nvGrpSpPr>
        <p:cNvPr id="1" name=""/>
        <p:cNvGrpSpPr/>
        <p:nvPr/>
      </p:nvGrpSpPr>
      <p:grpSpPr>
        <a:xfrm>
          <a:off x="0" y="0"/>
          <a:ext cx="0" cy="0"/>
          <a:chOff x="0" y="0"/>
          <a:chExt cx="0" cy="0"/>
        </a:xfrm>
      </p:grpSpPr>
      <p:sp>
        <p:nvSpPr>
          <p:cNvPr id="2" name="Text 0"/>
          <p:cNvSpPr/>
          <p:nvPr/>
        </p:nvSpPr>
        <p:spPr>
          <a:xfrm>
            <a:off x="502920" y="320040"/>
            <a:ext cx="11183112" cy="640080"/>
          </a:xfrm>
          <a:prstGeom prst="rect">
            <a:avLst/>
          </a:prstGeom>
          <a:noFill/>
          <a:ln/>
        </p:spPr>
        <p:txBody>
          <a:bodyPr wrap="square" lIns="0" tIns="0" rIns="0" bIns="0" rtlCol="0" anchor="ctr"/>
          <a:lstStyle/>
          <a:p>
            <a:pPr indent="0" marL="0">
              <a:buNone/>
            </a:pPr>
            <a:r>
              <a:rPr lang="en-US" sz="2800" b="1" dirty="0">
                <a:solidFill>
                  <a:srgbClr val="00B8A9"/>
                </a:solidFill>
                <a:latin typeface="Helvetica Neue" pitchFamily="34" charset="0"/>
                <a:ea typeface="Helvetica Neue" pitchFamily="34" charset="-122"/>
                <a:cs typeface="Helvetica Neue" pitchFamily="34" charset="-120"/>
              </a:rPr>
              <a:t>Next Steps</a:t>
            </a:r>
            <a:endParaRPr lang="en-US" sz="2800" dirty="0"/>
          </a:p>
        </p:txBody>
      </p:sp>
      <p:sp>
        <p:nvSpPr>
          <p:cNvPr id="3" name="Text 1"/>
          <p:cNvSpPr/>
          <p:nvPr/>
        </p:nvSpPr>
        <p:spPr>
          <a:xfrm>
            <a:off x="502920" y="914400"/>
            <a:ext cx="11183112" cy="365760"/>
          </a:xfrm>
          <a:prstGeom prst="rect">
            <a:avLst/>
          </a:prstGeom>
          <a:noFill/>
          <a:ln/>
        </p:spPr>
        <p:txBody>
          <a:bodyPr wrap="square" lIns="0" tIns="0" rIns="0" bIns="0" rtlCol="0" anchor="ctr"/>
          <a:lstStyle/>
          <a:p>
            <a:pPr indent="0" marL="0">
              <a:buNone/>
            </a:pPr>
            <a:r>
              <a:rPr lang="en-US" sz="1300" dirty="0">
                <a:solidFill>
                  <a:srgbClr val="8FC0D0"/>
                </a:solidFill>
                <a:latin typeface="Helvetica Neue" pitchFamily="34" charset="0"/>
                <a:ea typeface="Helvetica Neue" pitchFamily="34" charset="-122"/>
                <a:cs typeface="Helvetica Neue" pitchFamily="34" charset="-120"/>
              </a:rPr>
              <a:t>From executive brief to sovereign deployment</a:t>
            </a:r>
            <a:endParaRPr lang="en-US" sz="1300" dirty="0"/>
          </a:p>
        </p:txBody>
      </p:sp>
      <p:sp>
        <p:nvSpPr>
          <p:cNvPr id="4" name="Shape 2"/>
          <p:cNvSpPr/>
          <p:nvPr/>
        </p:nvSpPr>
        <p:spPr>
          <a:xfrm>
            <a:off x="502920" y="1298448"/>
            <a:ext cx="2194560" cy="0"/>
          </a:xfrm>
          <a:prstGeom prst="line">
            <a:avLst/>
          </a:prstGeom>
          <a:noFill/>
          <a:ln w="38100">
            <a:solidFill>
              <a:srgbClr val="D4A843"/>
            </a:solidFill>
            <a:prstDash val="solid"/>
          </a:ln>
        </p:spPr>
      </p:sp>
      <p:sp>
        <p:nvSpPr>
          <p:cNvPr id="5" name="Shape 3"/>
          <p:cNvSpPr/>
          <p:nvPr/>
        </p:nvSpPr>
        <p:spPr>
          <a:xfrm>
            <a:off x="502920" y="1645920"/>
            <a:ext cx="2560320" cy="1645920"/>
          </a:xfrm>
          <a:prstGeom prst="rect">
            <a:avLst/>
          </a:prstGeom>
          <a:solidFill>
            <a:srgbClr val="0D2839"/>
          </a:solidFill>
          <a:ln w="9525">
            <a:solidFill>
              <a:srgbClr val="00B8A9"/>
            </a:solidFill>
            <a:prstDash val="solid"/>
          </a:ln>
        </p:spPr>
      </p:sp>
      <p:sp>
        <p:nvSpPr>
          <p:cNvPr id="6" name="Text 4"/>
          <p:cNvSpPr/>
          <p:nvPr/>
        </p:nvSpPr>
        <p:spPr>
          <a:xfrm>
            <a:off x="685800" y="1783080"/>
            <a:ext cx="2194560" cy="1371600"/>
          </a:xfrm>
          <a:prstGeom prst="rect">
            <a:avLst/>
          </a:prstGeom>
          <a:noFill/>
          <a:ln/>
        </p:spPr>
        <p:txBody>
          <a:bodyPr wrap="square" lIns="0" tIns="0" rIns="0" bIns="0" rtlCol="0" anchor="ctr"/>
          <a:lstStyle/>
          <a:p>
            <a:pPr indent="0" marL="0">
              <a:lnSpc>
                <a:spcPts val="1300"/>
              </a:lnSpc>
              <a:spcAft>
                <a:spcPts val="400"/>
              </a:spcAft>
              <a:buNone/>
            </a:pPr>
            <a:r>
              <a:rPr lang="en-US" sz="900" b="1" spc="200" kern="0" dirty="0">
                <a:solidFill>
                  <a:srgbClr val="00B8A9"/>
                </a:solidFill>
              </a:rPr>
              <a:t>Step 1</a:t>
            </a:r>
            <a:endParaRPr lang="en-US" sz="900" dirty="0"/>
          </a:p>
          <a:p>
            <a:pPr indent="0" marL="0">
              <a:lnSpc>
                <a:spcPts val="1300"/>
              </a:lnSpc>
              <a:spcAft>
                <a:spcPts val="400"/>
              </a:spcAft>
              <a:buNone/>
            </a:pPr>
            <a:r>
              <a:rPr lang="en-US" sz="1200" b="1" dirty="0">
                <a:solidFill>
                  <a:srgbClr val="FFFFFF"/>
                </a:solidFill>
              </a:rPr>
              <a:t>Executive Brief (45 min)</a:t>
            </a:r>
            <a:endParaRPr lang="en-US" sz="900" dirty="0"/>
          </a:p>
          <a:p>
            <a:pPr indent="0" marL="0">
              <a:lnSpc>
                <a:spcPts val="1300"/>
              </a:lnSpc>
              <a:spcAft>
                <a:spcPts val="400"/>
              </a:spcAft>
              <a:buNone/>
            </a:pPr>
            <a:r>
              <a:rPr lang="en-US" sz="900" dirty="0">
                <a:solidFill>
                  <a:srgbClr val="B0C8D8"/>
                </a:solidFill>
              </a:rPr>
              <a:t>Live presentation: hy.cloud model, 4 verticals, technical architecture note, latency benchmarks</a:t>
            </a:r>
            <a:endParaRPr lang="en-US" sz="900" dirty="0"/>
          </a:p>
        </p:txBody>
      </p:sp>
      <p:sp>
        <p:nvSpPr>
          <p:cNvPr id="7" name="Text 5"/>
          <p:cNvSpPr/>
          <p:nvPr/>
        </p:nvSpPr>
        <p:spPr>
          <a:xfrm>
            <a:off x="3017520" y="2194560"/>
            <a:ext cx="365760" cy="457200"/>
          </a:xfrm>
          <a:prstGeom prst="rect">
            <a:avLst/>
          </a:prstGeom>
          <a:noFill/>
          <a:ln/>
        </p:spPr>
        <p:txBody>
          <a:bodyPr wrap="square" lIns="0" tIns="0" rIns="0" bIns="0" rtlCol="0" anchor="ctr"/>
          <a:lstStyle/>
          <a:p>
            <a:pPr algn="ctr" indent="0" marL="0">
              <a:buNone/>
            </a:pPr>
            <a:r>
              <a:rPr lang="en-US" sz="2000" dirty="0">
                <a:solidFill>
                  <a:srgbClr val="00B8A9"/>
                </a:solidFill>
              </a:rPr>
              <a:t>→</a:t>
            </a:r>
            <a:endParaRPr lang="en-US" sz="2000" dirty="0"/>
          </a:p>
        </p:txBody>
      </p:sp>
      <p:sp>
        <p:nvSpPr>
          <p:cNvPr id="8" name="Shape 6"/>
          <p:cNvSpPr/>
          <p:nvPr/>
        </p:nvSpPr>
        <p:spPr>
          <a:xfrm>
            <a:off x="3337560" y="1645920"/>
            <a:ext cx="2560320" cy="1645920"/>
          </a:xfrm>
          <a:prstGeom prst="rect">
            <a:avLst/>
          </a:prstGeom>
          <a:solidFill>
            <a:srgbClr val="0D2839"/>
          </a:solidFill>
          <a:ln w="9525">
            <a:solidFill>
              <a:srgbClr val="00B8A9"/>
            </a:solidFill>
            <a:prstDash val="solid"/>
          </a:ln>
        </p:spPr>
      </p:sp>
      <p:sp>
        <p:nvSpPr>
          <p:cNvPr id="9" name="Text 7"/>
          <p:cNvSpPr/>
          <p:nvPr/>
        </p:nvSpPr>
        <p:spPr>
          <a:xfrm>
            <a:off x="3520440" y="1783080"/>
            <a:ext cx="2194560" cy="1371600"/>
          </a:xfrm>
          <a:prstGeom prst="rect">
            <a:avLst/>
          </a:prstGeom>
          <a:noFill/>
          <a:ln/>
        </p:spPr>
        <p:txBody>
          <a:bodyPr wrap="square" lIns="0" tIns="0" rIns="0" bIns="0" rtlCol="0" anchor="ctr"/>
          <a:lstStyle/>
          <a:p>
            <a:pPr indent="0" marL="0">
              <a:lnSpc>
                <a:spcPts val="1300"/>
              </a:lnSpc>
              <a:spcAft>
                <a:spcPts val="400"/>
              </a:spcAft>
              <a:buNone/>
            </a:pPr>
            <a:r>
              <a:rPr lang="en-US" sz="900" b="1" spc="200" kern="0" dirty="0">
                <a:solidFill>
                  <a:srgbClr val="00B8A9"/>
                </a:solidFill>
              </a:rPr>
              <a:t>Step 2</a:t>
            </a:r>
            <a:endParaRPr lang="en-US" sz="900" dirty="0"/>
          </a:p>
          <a:p>
            <a:pPr indent="0" marL="0">
              <a:lnSpc>
                <a:spcPts val="1300"/>
              </a:lnSpc>
              <a:spcAft>
                <a:spcPts val="400"/>
              </a:spcAft>
              <a:buNone/>
            </a:pPr>
            <a:r>
              <a:rPr lang="en-US" sz="1200" b="1" dirty="0">
                <a:solidFill>
                  <a:srgbClr val="FFFFFF"/>
                </a:solidFill>
              </a:rPr>
              <a:t>Technical Due Diligence</a:t>
            </a:r>
            <a:endParaRPr lang="en-US" sz="900" dirty="0"/>
          </a:p>
          <a:p>
            <a:pPr indent="0" marL="0">
              <a:lnSpc>
                <a:spcPts val="1300"/>
              </a:lnSpc>
              <a:spcAft>
                <a:spcPts val="400"/>
              </a:spcAft>
              <a:buNone/>
            </a:pPr>
            <a:r>
              <a:rPr lang="en-US" sz="900" dirty="0">
                <a:solidFill>
                  <a:srgbClr val="B0C8D8"/>
                </a:solidFill>
              </a:rPr>
              <a:t>Access to infrastructure, benchmark results, compliance frameworks, site visits (CE and PB)</a:t>
            </a:r>
            <a:endParaRPr lang="en-US" sz="900" dirty="0"/>
          </a:p>
        </p:txBody>
      </p:sp>
      <p:sp>
        <p:nvSpPr>
          <p:cNvPr id="10" name="Text 8"/>
          <p:cNvSpPr/>
          <p:nvPr/>
        </p:nvSpPr>
        <p:spPr>
          <a:xfrm>
            <a:off x="5852160" y="2194560"/>
            <a:ext cx="365760" cy="457200"/>
          </a:xfrm>
          <a:prstGeom prst="rect">
            <a:avLst/>
          </a:prstGeom>
          <a:noFill/>
          <a:ln/>
        </p:spPr>
        <p:txBody>
          <a:bodyPr wrap="square" lIns="0" tIns="0" rIns="0" bIns="0" rtlCol="0" anchor="ctr"/>
          <a:lstStyle/>
          <a:p>
            <a:pPr algn="ctr" indent="0" marL="0">
              <a:buNone/>
            </a:pPr>
            <a:r>
              <a:rPr lang="en-US" sz="2000" dirty="0">
                <a:solidFill>
                  <a:srgbClr val="00B8A9"/>
                </a:solidFill>
              </a:rPr>
              <a:t>→</a:t>
            </a:r>
            <a:endParaRPr lang="en-US" sz="2000" dirty="0"/>
          </a:p>
        </p:txBody>
      </p:sp>
      <p:sp>
        <p:nvSpPr>
          <p:cNvPr id="11" name="Shape 9"/>
          <p:cNvSpPr/>
          <p:nvPr/>
        </p:nvSpPr>
        <p:spPr>
          <a:xfrm>
            <a:off x="6172200" y="1645920"/>
            <a:ext cx="2560320" cy="1645920"/>
          </a:xfrm>
          <a:prstGeom prst="rect">
            <a:avLst/>
          </a:prstGeom>
          <a:solidFill>
            <a:srgbClr val="0D2839"/>
          </a:solidFill>
          <a:ln w="9525">
            <a:solidFill>
              <a:srgbClr val="00B8A9"/>
            </a:solidFill>
            <a:prstDash val="solid"/>
          </a:ln>
        </p:spPr>
      </p:sp>
      <p:sp>
        <p:nvSpPr>
          <p:cNvPr id="12" name="Text 10"/>
          <p:cNvSpPr/>
          <p:nvPr/>
        </p:nvSpPr>
        <p:spPr>
          <a:xfrm>
            <a:off x="6355080" y="1783080"/>
            <a:ext cx="2194560" cy="1371600"/>
          </a:xfrm>
          <a:prstGeom prst="rect">
            <a:avLst/>
          </a:prstGeom>
          <a:noFill/>
          <a:ln/>
        </p:spPr>
        <p:txBody>
          <a:bodyPr wrap="square" lIns="0" tIns="0" rIns="0" bIns="0" rtlCol="0" anchor="ctr"/>
          <a:lstStyle/>
          <a:p>
            <a:pPr indent="0" marL="0">
              <a:lnSpc>
                <a:spcPts val="1300"/>
              </a:lnSpc>
              <a:spcAft>
                <a:spcPts val="400"/>
              </a:spcAft>
              <a:buNone/>
            </a:pPr>
            <a:r>
              <a:rPr lang="en-US" sz="900" b="1" spc="200" kern="0" dirty="0">
                <a:solidFill>
                  <a:srgbClr val="00B8A9"/>
                </a:solidFill>
              </a:rPr>
              <a:t>Step 3</a:t>
            </a:r>
            <a:endParaRPr lang="en-US" sz="900" dirty="0"/>
          </a:p>
          <a:p>
            <a:pPr indent="0" marL="0">
              <a:lnSpc>
                <a:spcPts val="1300"/>
              </a:lnSpc>
              <a:spcAft>
                <a:spcPts val="400"/>
              </a:spcAft>
              <a:buNone/>
            </a:pPr>
            <a:r>
              <a:rPr lang="en-US" sz="1200" b="1" dirty="0">
                <a:solidFill>
                  <a:srgbClr val="FFFFFF"/>
                </a:solidFill>
              </a:rPr>
              <a:t>Letter of Intent</a:t>
            </a:r>
            <a:endParaRPr lang="en-US" sz="900" dirty="0"/>
          </a:p>
          <a:p>
            <a:pPr indent="0" marL="0">
              <a:lnSpc>
                <a:spcPts val="1300"/>
              </a:lnSpc>
              <a:spcAft>
                <a:spcPts val="400"/>
              </a:spcAft>
              <a:buNone/>
            </a:pPr>
            <a:r>
              <a:rPr lang="en-US" sz="900" dirty="0">
                <a:solidFill>
                  <a:srgbClr val="B0C8D8"/>
                </a:solidFill>
              </a:rPr>
              <a:t>Capital structure, milestone schedule, governance framework, Hunyuan licensing terms</a:t>
            </a:r>
            <a:endParaRPr lang="en-US" sz="900" dirty="0"/>
          </a:p>
        </p:txBody>
      </p:sp>
      <p:sp>
        <p:nvSpPr>
          <p:cNvPr id="13" name="Text 11"/>
          <p:cNvSpPr/>
          <p:nvPr/>
        </p:nvSpPr>
        <p:spPr>
          <a:xfrm>
            <a:off x="8686800" y="2194560"/>
            <a:ext cx="365760" cy="457200"/>
          </a:xfrm>
          <a:prstGeom prst="rect">
            <a:avLst/>
          </a:prstGeom>
          <a:noFill/>
          <a:ln/>
        </p:spPr>
        <p:txBody>
          <a:bodyPr wrap="square" lIns="0" tIns="0" rIns="0" bIns="0" rtlCol="0" anchor="ctr"/>
          <a:lstStyle/>
          <a:p>
            <a:pPr algn="ctr" indent="0" marL="0">
              <a:buNone/>
            </a:pPr>
            <a:r>
              <a:rPr lang="en-US" sz="2000" dirty="0">
                <a:solidFill>
                  <a:srgbClr val="00B8A9"/>
                </a:solidFill>
              </a:rPr>
              <a:t>→</a:t>
            </a:r>
            <a:endParaRPr lang="en-US" sz="2000" dirty="0"/>
          </a:p>
        </p:txBody>
      </p:sp>
      <p:sp>
        <p:nvSpPr>
          <p:cNvPr id="14" name="Shape 12"/>
          <p:cNvSpPr/>
          <p:nvPr/>
        </p:nvSpPr>
        <p:spPr>
          <a:xfrm>
            <a:off x="9006840" y="1645920"/>
            <a:ext cx="2560320" cy="1645920"/>
          </a:xfrm>
          <a:prstGeom prst="rect">
            <a:avLst/>
          </a:prstGeom>
          <a:solidFill>
            <a:srgbClr val="0D2839"/>
          </a:solidFill>
          <a:ln w="9525">
            <a:solidFill>
              <a:srgbClr val="00B8A9"/>
            </a:solidFill>
            <a:prstDash val="solid"/>
          </a:ln>
        </p:spPr>
      </p:sp>
      <p:sp>
        <p:nvSpPr>
          <p:cNvPr id="15" name="Text 13"/>
          <p:cNvSpPr/>
          <p:nvPr/>
        </p:nvSpPr>
        <p:spPr>
          <a:xfrm>
            <a:off x="9189720" y="1783080"/>
            <a:ext cx="2194560" cy="1371600"/>
          </a:xfrm>
          <a:prstGeom prst="rect">
            <a:avLst/>
          </a:prstGeom>
          <a:noFill/>
          <a:ln/>
        </p:spPr>
        <p:txBody>
          <a:bodyPr wrap="square" lIns="0" tIns="0" rIns="0" bIns="0" rtlCol="0" anchor="ctr"/>
          <a:lstStyle/>
          <a:p>
            <a:pPr indent="0" marL="0">
              <a:lnSpc>
                <a:spcPts val="1300"/>
              </a:lnSpc>
              <a:spcAft>
                <a:spcPts val="400"/>
              </a:spcAft>
              <a:buNone/>
            </a:pPr>
            <a:r>
              <a:rPr lang="en-US" sz="900" b="1" spc="200" kern="0" dirty="0">
                <a:solidFill>
                  <a:srgbClr val="00B8A9"/>
                </a:solidFill>
              </a:rPr>
              <a:t>Step 4</a:t>
            </a:r>
            <a:endParaRPr lang="en-US" sz="900" dirty="0"/>
          </a:p>
          <a:p>
            <a:pPr indent="0" marL="0">
              <a:lnSpc>
                <a:spcPts val="1300"/>
              </a:lnSpc>
              <a:spcAft>
                <a:spcPts val="400"/>
              </a:spcAft>
              <a:buNone/>
            </a:pPr>
            <a:r>
              <a:rPr lang="en-US" sz="1200" b="1" dirty="0">
                <a:solidFill>
                  <a:srgbClr val="FFFFFF"/>
                </a:solidFill>
              </a:rPr>
              <a:t>Sovereign Deployment</a:t>
            </a:r>
            <a:endParaRPr lang="en-US" sz="900" dirty="0"/>
          </a:p>
          <a:p>
            <a:pPr indent="0" marL="0">
              <a:lnSpc>
                <a:spcPts val="1300"/>
              </a:lnSpc>
              <a:spcAft>
                <a:spcPts val="400"/>
              </a:spcAft>
              <a:buNone/>
            </a:pPr>
            <a:r>
              <a:rPr lang="en-US" sz="900" dirty="0">
                <a:solidFill>
                  <a:srgbClr val="B0C8D8"/>
                </a:solidFill>
              </a:rPr>
              <a:t>ZPE Caucaia construction + Hunyuan cluster deployment within 90 days of agreement</a:t>
            </a:r>
            <a:endParaRPr lang="en-US" sz="900" dirty="0"/>
          </a:p>
        </p:txBody>
      </p:sp>
      <p:sp>
        <p:nvSpPr>
          <p:cNvPr id="16" name="Shape 14"/>
          <p:cNvSpPr/>
          <p:nvPr/>
        </p:nvSpPr>
        <p:spPr>
          <a:xfrm>
            <a:off x="502920" y="3840480"/>
            <a:ext cx="11183112" cy="1828800"/>
          </a:xfrm>
          <a:prstGeom prst="rect">
            <a:avLst/>
          </a:prstGeom>
          <a:solidFill>
            <a:srgbClr val="0D2839"/>
          </a:solidFill>
          <a:ln w="31750">
            <a:solidFill>
              <a:srgbClr val="D4A843"/>
            </a:solidFill>
            <a:prstDash val="solid"/>
          </a:ln>
        </p:spPr>
      </p:sp>
      <p:sp>
        <p:nvSpPr>
          <p:cNvPr id="17" name="Text 15"/>
          <p:cNvSpPr/>
          <p:nvPr/>
        </p:nvSpPr>
        <p:spPr>
          <a:xfrm>
            <a:off x="1417320" y="4023360"/>
            <a:ext cx="9354312" cy="1463040"/>
          </a:xfrm>
          <a:prstGeom prst="rect">
            <a:avLst/>
          </a:prstGeom>
          <a:noFill/>
          <a:ln/>
        </p:spPr>
        <p:txBody>
          <a:bodyPr wrap="square" lIns="0" tIns="0" rIns="0" bIns="0" rtlCol="0" anchor="ctr"/>
          <a:lstStyle/>
          <a:p>
            <a:pPr algn="ctr" indent="0" marL="0">
              <a:lnSpc>
                <a:spcPts val="2000"/>
              </a:lnSpc>
              <a:buNone/>
            </a:pPr>
            <a:r>
              <a:rPr lang="en-US" sz="3600" b="1" dirty="0">
                <a:solidFill>
                  <a:srgbClr val="E8C847"/>
                </a:solidFill>
                <a:latin typeface="Helvetica Neue" pitchFamily="34" charset="0"/>
                <a:ea typeface="Helvetica Neue" pitchFamily="34" charset="-122"/>
                <a:cs typeface="Helvetica Neue" pitchFamily="34" charset="-120"/>
              </a:rPr>
              <a:t>US$ 350,000,000</a:t>
            </a:r>
            <a:endParaRPr lang="en-US" sz="3600" dirty="0"/>
          </a:p>
          <a:p>
            <a:pPr algn="ctr" indent="0" marL="0">
              <a:lnSpc>
                <a:spcPts val="2000"/>
              </a:lnSpc>
              <a:buNone/>
            </a:pPr>
            <a:r>
              <a:rPr lang="en-US" sz="1300" spc="300" kern="0" dirty="0">
                <a:solidFill>
                  <a:srgbClr val="8FC0D0"/>
                </a:solidFill>
                <a:latin typeface="Helvetica Neue" pitchFamily="34" charset="0"/>
                <a:ea typeface="Helvetica Neue" pitchFamily="34" charset="-122"/>
                <a:cs typeface="Helvetica Neue" pitchFamily="34" charset="-120"/>
              </a:rPr>
              <a:t>Initial Capital Intake</a:t>
            </a:r>
            <a:endParaRPr lang="en-US" sz="3600" dirty="0"/>
          </a:p>
          <a:p>
            <a:pPr indent="0" marL="0">
              <a:lnSpc>
                <a:spcPts val="2000"/>
              </a:lnSpc>
              <a:buNone/>
            </a:pPr>
            <a:r>
              <a:rPr lang="en-US" sz="600" dirty="0">
                <a:solidFill>
                  <a:srgbClr val="000000"/>
                </a:solidFill>
              </a:rPr>
              <a:t> </a:t>
            </a:r>
            <a:endParaRPr lang="en-US" sz="3600" dirty="0"/>
          </a:p>
          <a:p>
            <a:pPr algn="ctr" indent="0" marL="0">
              <a:lnSpc>
                <a:spcPts val="2000"/>
              </a:lnSpc>
              <a:buNone/>
            </a:pPr>
            <a:r>
              <a:rPr lang="en-US" sz="1200" i="1" dirty="0">
                <a:solidFill>
                  <a:srgbClr val="FFFFFF"/>
                </a:solidFill>
                <a:latin typeface="Georgia" pitchFamily="34" charset="0"/>
                <a:ea typeface="Georgia" pitchFamily="34" charset="-122"/>
                <a:cs typeface="Georgia" pitchFamily="34" charset="-120"/>
              </a:rPr>
              <a:t>US$ 1.1B revenue (5yr) · US$ 3.8B enterprise value at exit · 10.9× return</a:t>
            </a:r>
            <a:endParaRPr lang="en-US" sz="3600" dirty="0"/>
          </a:p>
        </p:txBody>
      </p:sp>
      <p:sp>
        <p:nvSpPr>
          <p:cNvPr id="18" name="Text 16"/>
          <p:cNvSpPr/>
          <p:nvPr/>
        </p:nvSpPr>
        <p:spPr>
          <a:xfrm>
            <a:off x="502920" y="5943600"/>
            <a:ext cx="11183112" cy="548640"/>
          </a:xfrm>
          <a:prstGeom prst="rect">
            <a:avLst/>
          </a:prstGeom>
          <a:noFill/>
          <a:ln/>
        </p:spPr>
        <p:txBody>
          <a:bodyPr wrap="square" lIns="0" tIns="0" rIns="0" bIns="0" rtlCol="0" anchor="ctr"/>
          <a:lstStyle/>
          <a:p>
            <a:pPr algn="ctr" indent="0" marL="0">
              <a:lnSpc>
                <a:spcPts val="1400"/>
              </a:lnSpc>
              <a:buNone/>
            </a:pPr>
            <a:r>
              <a:rPr lang="en-US" sz="1000" dirty="0">
                <a:solidFill>
                  <a:srgbClr val="6B9BB0"/>
                </a:solidFill>
                <a:latin typeface="Helvetica Neue" pitchFamily="34" charset="0"/>
                <a:ea typeface="Helvetica Neue" pitchFamily="34" charset="-122"/>
                <a:cs typeface="Helvetica Neue" pitchFamily="34" charset="-120"/>
              </a:rPr>
              <a:t>Matheus Ximenes Feijão Guimarães · Founder, Beans Tech</a:t>
            </a:r>
            <a:endParaRPr lang="en-US" sz="1000" dirty="0"/>
          </a:p>
          <a:p>
            <a:pPr algn="ctr" indent="0" marL="0">
              <a:lnSpc>
                <a:spcPts val="1400"/>
              </a:lnSpc>
              <a:buNone/>
            </a:pPr>
            <a:r>
              <a:rPr lang="en-US" sz="1000" dirty="0">
                <a:solidFill>
                  <a:srgbClr val="6B9BB0"/>
                </a:solidFill>
                <a:latin typeface="Helvetica Neue" pitchFamily="34" charset="0"/>
                <a:ea typeface="Helvetica Neue" pitchFamily="34" charset="-122"/>
                <a:cs typeface="Helvetica Neue" pitchFamily="34" charset="-120"/>
              </a:rPr>
              <a:t>hy.cloud | brasileiro.tech</a:t>
            </a:r>
            <a:endParaRPr lang="en-US" sz="1000" dirty="0"/>
          </a:p>
          <a:p>
            <a:pPr algn="ctr" indent="0" marL="0">
              <a:lnSpc>
                <a:spcPts val="1400"/>
              </a:lnSpc>
              <a:buNone/>
            </a:pPr>
            <a:r>
              <a:rPr lang="en-US" sz="1000" dirty="0">
                <a:solidFill>
                  <a:srgbClr val="6B9BB0"/>
                </a:solidFill>
                <a:latin typeface="Helvetica Neue" pitchFamily="34" charset="0"/>
                <a:ea typeface="Helvetica Neue" pitchFamily="34" charset="-122"/>
                <a:cs typeface="Helvetica Neue" pitchFamily="34" charset="-120"/>
              </a:rPr>
              <a:t>contato@feijaojustech.com.br · beanstech.com.br</a:t>
            </a:r>
            <a:endParaRPr lang="en-US" sz="1000" dirty="0"/>
          </a:p>
        </p:txBody>
      </p:sp>
      <p:sp>
        <p:nvSpPr>
          <p:cNvPr id="19" name="Text 17"/>
          <p:cNvSpPr/>
          <p:nvPr/>
        </p:nvSpPr>
        <p:spPr>
          <a:xfrm>
            <a:off x="502920" y="6510528"/>
            <a:ext cx="5486400" cy="256032"/>
          </a:xfrm>
          <a:prstGeom prst="rect">
            <a:avLst/>
          </a:prstGeom>
          <a:noFill/>
          <a:ln/>
        </p:spPr>
        <p:txBody>
          <a:bodyPr wrap="square" lIns="0" tIns="0" rIns="0" bIns="0" rtlCol="0" anchor="ctr"/>
          <a:lstStyle/>
          <a:p>
            <a:pPr indent="0" marL="0">
              <a:buNone/>
            </a:pPr>
            <a:r>
              <a:rPr lang="en-US" sz="800" dirty="0">
                <a:solidFill>
                  <a:srgbClr val="6B9BB0"/>
                </a:solidFill>
                <a:latin typeface="Helvetica Neue" pitchFamily="34" charset="0"/>
                <a:ea typeface="Helvetica Neue" pitchFamily="34" charset="-122"/>
                <a:cs typeface="Helvetica Neue" pitchFamily="34" charset="-120"/>
              </a:rPr>
              <a:t>BeansTech × Tencent Cloud — Confidential</a:t>
            </a:r>
            <a:endParaRPr lang="en-US" sz="800" dirty="0"/>
          </a:p>
        </p:txBody>
      </p:sp>
      <p:sp>
        <p:nvSpPr>
          <p:cNvPr id="20" name="Text 18"/>
          <p:cNvSpPr/>
          <p:nvPr/>
        </p:nvSpPr>
        <p:spPr>
          <a:xfrm>
            <a:off x="11228832" y="6510528"/>
            <a:ext cx="457200" cy="256032"/>
          </a:xfrm>
          <a:prstGeom prst="rect">
            <a:avLst/>
          </a:prstGeom>
          <a:noFill/>
          <a:ln/>
        </p:spPr>
        <p:txBody>
          <a:bodyPr wrap="square" lIns="0" tIns="0" rIns="0" bIns="0" rtlCol="0" anchor="ctr"/>
          <a:lstStyle/>
          <a:p>
            <a:pPr algn="r" indent="0" marL="0">
              <a:buNone/>
            </a:pPr>
            <a:r>
              <a:rPr lang="en-US" sz="800" dirty="0">
                <a:solidFill>
                  <a:srgbClr val="6B9BB0"/>
                </a:solidFill>
                <a:latin typeface="Helvetica Neue" pitchFamily="34" charset="0"/>
                <a:ea typeface="Helvetica Neue" pitchFamily="34" charset="-122"/>
                <a:cs typeface="Helvetica Neue" pitchFamily="34" charset="-120"/>
              </a:rPr>
              <a:t>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BeansTech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BeansTech × Tencent Cloud — Sovereign AI Ecosystem for LATAM</dc:title>
  <dc:subject>PptxGenJS Presentation</dc:subject>
  <dc:creator>BeansTech</dc:creator>
  <cp:lastModifiedBy>BeansTech</cp:lastModifiedBy>
  <cp:revision>1</cp:revision>
  <dcterms:created xsi:type="dcterms:W3CDTF">2026-09-18T13:50:53Z</dcterms:created>
  <dcterms:modified xsi:type="dcterms:W3CDTF">2026-09-18T13:50:53Z</dcterms:modified>
</cp:coreProperties>
</file>