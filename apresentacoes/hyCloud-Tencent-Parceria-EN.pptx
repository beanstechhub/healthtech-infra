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style2.xml" ContentType="application/vnd.ms-office.chartstyle+xml"/>
  <Override PartName="/ppt/charts/chart2.xml" ContentType="application/vnd.openxmlformats-officedocument.drawingml.chart+xml"/>
  <Override PartName="/ppt/charts/colors2.xml" ContentType="application/vnd.ms-office.chartcolorstyle+xml"/>
  <Override PartName="/ppt/slides/slide12.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88825" cy="6858000"/>
  <p:notesSz cx="6858000" cy="12188825"/>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col"/>
        <c:grouping val="clustered"/>
        <c:varyColors val="0"/>
        <c:ser>
          <c:idx val="0"/>
          <c:order val="0"/>
          <c:tx>
            <c:strRef>
              <c:f>label 0</c:f>
              <c:strCache>
                <c:ptCount val="1"/>
                <c:pt idx="0">
                  <c:v>Traditional (inland multi-hop)</c:v>
                </c:pt>
              </c:strCache>
            </c:strRef>
          </c:tx>
          <c:spPr>
            <a:solidFill>
              <a:srgbClr val="2E6FAF"/>
            </a:solidFill>
            <a:ln w="0">
              <a:noFill/>
            </a:ln>
          </c:spPr>
          <c:invertIfNegative val="0"/>
          <c:dLbls>
            <c:numFmt formatCode="0&quot;ms&quot;" sourceLinked="0"/>
            <c:txPr>
              <a:bodyPr wrap="square"/>
              <a:lstStyle/>
              <a:p>
                <a:pPr>
                  <a:defRPr sz="1200" b="0" u="none" strike="noStrike">
                    <a:solidFill>
                      <a:srgbClr val="0A1F2E"/>
                    </a:solidFill>
                    <a:uFillTx/>
                    <a:latin typeface="Helvetica Neue"/>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US East</c:v>
                </c:pt>
                <c:pt idx="1">
                  <c:v>Europe</c:v>
                </c:pt>
                <c:pt idx="2">
                  <c:v>Intra-LATAM</c:v>
                </c:pt>
              </c:strCache>
            </c:strRef>
          </c:cat>
          <c:val>
            <c:numRef>
              <c:f>0</c:f>
              <c:numCache>
                <c:formatCode>General</c:formatCode>
                <c:ptCount val="3"/>
                <c:pt idx="0">
                  <c:v>122</c:v>
                </c:pt>
                <c:pt idx="1">
                  <c:v>145</c:v>
                </c:pt>
                <c:pt idx="2">
                  <c:v>60</c:v>
                </c:pt>
              </c:numCache>
            </c:numRef>
          </c:val>
        </c:ser>
        <c:ser>
          <c:idx val="1"/>
          <c:order val="1"/>
          <c:tx>
            <c:strRef>
              <c:f>label 1</c:f>
              <c:strCache>
                <c:ptCount val="1"/>
                <c:pt idx="0">
                  <c:v>ZPE Caucaia (direct subsea)</c:v>
                </c:pt>
              </c:strCache>
            </c:strRef>
          </c:tx>
          <c:spPr>
            <a:solidFill>
              <a:srgbClr val="00B8A9"/>
            </a:solidFill>
            <a:ln w="0">
              <a:noFill/>
            </a:ln>
          </c:spPr>
          <c:invertIfNegative val="0"/>
          <c:dLbls>
            <c:numFmt formatCode="0&quot;ms&quot;" sourceLinked="0"/>
            <c:txPr>
              <a:bodyPr wrap="square"/>
              <a:lstStyle/>
              <a:p>
                <a:pPr>
                  <a:defRPr sz="1200" b="0" u="none" strike="noStrike">
                    <a:solidFill>
                      <a:srgbClr val="0A1F2E"/>
                    </a:solidFill>
                    <a:uFillTx/>
                    <a:latin typeface="Helvetica Neue"/>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US East</c:v>
                </c:pt>
                <c:pt idx="1">
                  <c:v>Europe</c:v>
                </c:pt>
                <c:pt idx="2">
                  <c:v>Intra-LATAM</c:v>
                </c:pt>
              </c:strCache>
            </c:strRef>
          </c:cat>
          <c:val>
            <c:numRef>
              <c:f>1</c:f>
              <c:numCache>
                <c:formatCode>General</c:formatCode>
                <c:ptCount val="3"/>
                <c:pt idx="0">
                  <c:v>62</c:v>
                </c:pt>
                <c:pt idx="1">
                  <c:v>61</c:v>
                </c:pt>
                <c:pt idx="2">
                  <c:v>21</c:v>
                </c:pt>
              </c:numCache>
            </c:numRef>
          </c:val>
        </c:ser>
        <c:gapWidth val="60"/>
        <c:overlap val="0"/>
        <c:axId val="16907073"/>
        <c:axId val="16669056"/>
      </c:barChart>
      <c:catAx>
        <c:axId val="16907073"/>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5A6B7A"/>
                </a:solidFill>
                <a:uFillTx/>
                <a:latin typeface="Helvetica Neue"/>
              </a:defRPr>
            </a:pPr>
          </a:p>
        </c:txPr>
        <c:crossAx val="16669056"/>
        <c:crosses val="autoZero"/>
        <c:auto val="1"/>
        <c:lblAlgn val="ctr"/>
        <c:lblOffset val="100"/>
        <c:noMultiLvlLbl val="0"/>
      </c:catAx>
      <c:valAx>
        <c:axId val="16669056"/>
        <c:scaling>
          <c:orientation val="minMax"/>
        </c:scaling>
        <c:delete val="0"/>
        <c:axPos val="l"/>
        <c:majorGridlines>
          <c:spPr>
            <a:ln w="6480">
              <a:solidFill>
                <a:srgbClr val="C8D5DC"/>
              </a:solidFill>
              <a:round/>
            </a:ln>
          </c:spPr>
        </c:majorGridlines>
        <c:title>
          <c:tx>
            <c:rich>
              <a:bodyPr rot="-5400000"/>
              <a:lstStyle/>
              <a:p>
                <a:pPr>
                  <a:defRPr sz="1300" b="0" u="none" strike="noStrike">
                    <a:solidFill>
                      <a:srgbClr val="000000"/>
                    </a:solidFill>
                    <a:uFillTx/>
                    <a:latin typeface="Arial"/>
                  </a:defRPr>
                </a:pPr>
                <a:r>
                  <a:rPr sz="900" b="0" u="none" strike="noStrike">
                    <a:solidFill>
                      <a:srgbClr val="5A6B7A"/>
                    </a:solidFill>
                    <a:uFillTx/>
                    <a:latin typeface="Arial"/>
                  </a:rPr>
                  <a:t>Round-trip latency (ms)</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sz="1200" b="0" u="none" strike="noStrike">
                <a:solidFill>
                  <a:srgbClr val="5A6B7A"/>
                </a:solidFill>
                <a:uFillTx/>
                <a:latin typeface="Helvetica Neue"/>
              </a:defRPr>
            </a:pPr>
          </a:p>
        </c:txPr>
        <c:crossAx val="16907073"/>
        <c:crosses val="autoZero"/>
        <c:crossBetween val="between"/>
      </c:valAx>
      <c:spPr>
        <a:noFill/>
        <a:ln w="0">
          <a:noFill/>
        </a:ln>
      </c:spPr>
    </c:plotArea>
    <c:legend>
      <c:legendPos val="b"/>
      <c:overlay val="0"/>
      <c:spPr>
        <a:noFill/>
        <a:ln w="0">
          <a:noFill/>
        </a:ln>
      </c:spPr>
      <c:txPr>
        <a:bodyPr/>
        <a:lstStyle/>
        <a:p>
          <a:pPr>
            <a:defRPr sz="1000" b="0" u="none" strike="noStrike">
              <a:solidFill>
                <a:srgbClr val="5A6B7A"/>
              </a:solidFill>
              <a:uFillTx/>
              <a:latin typeface="Helvetica Neue"/>
            </a:defRPr>
          </a:pPr>
        </a:p>
      </c:txPr>
    </c:legend>
    <c:plotVisOnly val="1"/>
    <c:dispBlanksAs val="span"/>
  </c:chart>
  <c:spPr>
    <a:solidFill>
      <a:srgbClr val="FFFFFF"/>
    </a:solid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col"/>
        <c:grouping val="clustered"/>
        <c:varyColors val="0"/>
        <c:ser>
          <c:idx val="0"/>
          <c:order val="0"/>
          <c:tx>
            <c:strRef>
              <c:f>label 0</c:f>
              <c:strCache>
                <c:ptCount val="1"/>
                <c:pt idx="0">
                  <c:v>Annual Revenue (US$M)</c:v>
                </c:pt>
              </c:strCache>
            </c:strRef>
          </c:tx>
          <c:spPr>
            <a:solidFill>
              <a:srgbClr val="00B8A9"/>
            </a:solidFill>
            <a:ln w="0">
              <a:noFill/>
            </a:ln>
          </c:spPr>
          <c:invertIfNegative val="0"/>
          <c:dLbls>
            <c:numFmt formatCode="\$#,##0\M" sourceLinked="0"/>
            <c:txPr>
              <a:bodyPr wrap="square"/>
              <a:lstStyle/>
              <a:p>
                <a:pPr>
                  <a:defRPr sz="1200" b="0" u="none" strike="noStrike">
                    <a:solidFill>
                      <a:srgbClr val="0A1F2E"/>
                    </a:solidFill>
                    <a:uFillTx/>
                    <a:latin typeface="Helvetica Neue"/>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Year 1</c:v>
                </c:pt>
                <c:pt idx="1">
                  <c:v>Year 2</c:v>
                </c:pt>
                <c:pt idx="2">
                  <c:v>Year 3</c:v>
                </c:pt>
                <c:pt idx="3">
                  <c:v>Year 4</c:v>
                </c:pt>
                <c:pt idx="4">
                  <c:v>Year 5</c:v>
                </c:pt>
              </c:strCache>
            </c:strRef>
          </c:cat>
          <c:val>
            <c:numRef>
              <c:f>0</c:f>
              <c:numCache>
                <c:formatCode>General</c:formatCode>
                <c:ptCount val="5"/>
                <c:pt idx="0">
                  <c:v>18</c:v>
                </c:pt>
                <c:pt idx="1">
                  <c:v>72</c:v>
                </c:pt>
                <c:pt idx="2">
                  <c:v>160</c:v>
                </c:pt>
                <c:pt idx="3">
                  <c:v>310</c:v>
                </c:pt>
                <c:pt idx="4">
                  <c:v>480</c:v>
                </c:pt>
              </c:numCache>
            </c:numRef>
          </c:val>
        </c:ser>
        <c:gapWidth val="150"/>
        <c:overlap val="0"/>
        <c:axId val="35381505"/>
        <c:axId val="91841455"/>
      </c:barChart>
      <c:catAx>
        <c:axId val="35381505"/>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200" b="0" u="none" strike="noStrike">
                <a:solidFill>
                  <a:srgbClr val="5A6B7A"/>
                </a:solidFill>
                <a:uFillTx/>
                <a:latin typeface="Helvetica Neue"/>
              </a:defRPr>
            </a:pPr>
          </a:p>
        </c:txPr>
        <c:crossAx val="91841455"/>
        <c:crosses val="autoZero"/>
        <c:auto val="1"/>
        <c:lblAlgn val="ctr"/>
        <c:lblOffset val="100"/>
        <c:noMultiLvlLbl val="0"/>
      </c:catAx>
      <c:valAx>
        <c:axId val="91841455"/>
        <c:scaling>
          <c:orientation val="minMax"/>
        </c:scaling>
        <c:delete val="0"/>
        <c:axPos val="l"/>
        <c:majorGridlines>
          <c:spPr>
            <a:ln w="6480">
              <a:solidFill>
                <a:srgbClr val="C8D5DC"/>
              </a:solidFill>
              <a:round/>
            </a:ln>
          </c:spPr>
        </c:majorGridlines>
        <c:title>
          <c:tx>
            <c:rich>
              <a:bodyPr rot="-5400000"/>
              <a:lstStyle/>
              <a:p>
                <a:pPr>
                  <a:defRPr sz="1300" b="0" u="none" strike="noStrike">
                    <a:solidFill>
                      <a:srgbClr val="000000"/>
                    </a:solidFill>
                    <a:uFillTx/>
                    <a:latin typeface="Arial"/>
                  </a:defRPr>
                </a:pPr>
                <a:r>
                  <a:rPr sz="900" b="0" u="none" strike="noStrike">
                    <a:solidFill>
                      <a:srgbClr val="5A6B7A"/>
                    </a:solidFill>
                    <a:uFillTx/>
                    <a:latin typeface="Arial"/>
                  </a:rPr>
                  <a:t>Revenue (US$ millions)</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sz="1200" b="0" u="none" strike="noStrike">
                <a:solidFill>
                  <a:srgbClr val="5A6B7A"/>
                </a:solidFill>
                <a:uFillTx/>
                <a:latin typeface="Helvetica Neue"/>
              </a:defRPr>
            </a:pPr>
          </a:p>
        </c:txPr>
        <c:crossAx val="35381505"/>
        <c:crosses val="autoZero"/>
        <c:crossBetween val="between"/>
      </c:valAx>
      <c:spPr>
        <a:noFill/>
        <a:ln w="0">
          <a:noFill/>
        </a:ln>
      </c:spPr>
    </c:plotArea>
    <c:plotVisOnly val="1"/>
    <c:dispBlanksAs val="span"/>
  </c:chart>
  <c:spPr>
    <a:solidFill>
      <a:srgbClr val="FFFFFF"/>
    </a:solid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colors2.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pt-BR" sz="1800" b="0" u="none" strike="noStrike">
                <a:solidFill>
                  <a:schemeClr val="dk1"/>
                </a:solidFill>
                <a:effectLst/>
                <a:uFillTx/>
                <a:latin typeface="Calibri"/>
              </a:rPr>
              <a:t>Clique para mover o slide</a:t>
            </a:r>
            <a:endParaRPr lang="pt-BR"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pt-BR" sz="2000" b="0" u="none" strike="noStrike">
                <a:solidFill>
                  <a:srgbClr val="000000"/>
                </a:solidFill>
                <a:effectLst/>
                <a:uFillTx/>
                <a:latin typeface="Arial"/>
              </a:rPr>
              <a:t>Clique para editar o formato de notas</a:t>
            </a:r>
            <a:endParaRPr lang="pt-BR"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pt-BR" sz="1400" b="0" u="none" strike="noStrike">
                <a:solidFill>
                  <a:srgbClr val="000000"/>
                </a:solidFill>
                <a:effectLst/>
                <a:uFillTx/>
                <a:latin typeface="Times New Roman"/>
              </a:rPr>
              <a:t> </a:t>
            </a:r>
            <a:endParaRPr lang="pt-BR"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pt-BR" sz="1400" b="0" u="none" strike="noStrike">
                <a:solidFill>
                  <a:srgbClr val="000000"/>
                </a:solidFill>
                <a:effectLst/>
                <a:uFillTx/>
                <a:latin typeface="Times New Roman"/>
              </a:defRPr>
            </a:lvl1pPr>
          </a:lstStyle>
          <a:p>
            <a:pPr indent="0" algn="r">
              <a:buNone/>
            </a:pPr>
            <a:r>
              <a:rPr lang="pt-BR" sz="1400" b="0" u="none" strike="noStrike">
                <a:solidFill>
                  <a:srgbClr val="000000"/>
                </a:solidFill>
                <a:effectLst/>
                <a:uFillTx/>
                <a:latin typeface="Times New Roman"/>
              </a:rPr>
              <a:t> </a:t>
            </a:r>
            <a:endParaRPr lang="pt-BR"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pt-BR" sz="1400" b="0" u="none" strike="noStrike">
                <a:solidFill>
                  <a:srgbClr val="000000"/>
                </a:solidFill>
                <a:effectLst/>
                <a:uFillTx/>
                <a:latin typeface="Times New Roman"/>
              </a:defRPr>
            </a:lvl1pPr>
          </a:lstStyle>
          <a:p>
            <a:pPr indent="0" algn="l">
              <a:buNone/>
            </a:pPr>
            <a:r>
              <a:rPr lang="pt-BR" sz="1400" b="0" u="none" strike="noStrike">
                <a:solidFill>
                  <a:srgbClr val="000000"/>
                </a:solidFill>
                <a:effectLst/>
                <a:uFillTx/>
                <a:latin typeface="Times New Roman"/>
              </a:rPr>
              <a:t> </a:t>
            </a:r>
            <a:endParaRPr lang="pt-BR"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pt-BR" sz="1400" b="0" u="none" strike="noStrike">
                <a:solidFill>
                  <a:srgbClr val="000000"/>
                </a:solidFill>
                <a:effectLst/>
                <a:uFillTx/>
                <a:latin typeface="Times New Roman"/>
              </a:defRPr>
            </a:lvl1pPr>
          </a:lstStyle>
          <a:p>
            <a:pPr indent="0" algn="r">
              <a:buNone/>
            </a:pPr>
            <a:fld id="{A1CE2F51-33BD-483D-ABC5-87AE735FA80B}" type="slidenum">
              <a:rPr lang="pt-BR" sz="1400" b="0" u="none" strike="noStrike">
                <a:solidFill>
                  <a:srgbClr val="000000"/>
                </a:solidFill>
                <a:effectLst/>
                <a:uFillTx/>
                <a:latin typeface="Times New Roman"/>
              </a:rPr>
              <a:t>1</a:t>
            </a:fld>
            <a:endParaRPr lang="pt-B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sldImg"/>
          </p:nvPr>
        </p:nvSpPr>
        <p:spPr>
          <a:xfrm>
            <a:off x="685800" y="1143000"/>
            <a:ext cx="5486040" cy="3085920"/>
          </a:xfrm>
          <a:prstGeom prst="rect">
            <a:avLst/>
          </a:prstGeom>
          <a:ln w="0">
            <a:noFill/>
          </a:ln>
        </p:spPr>
      </p:sp>
      <p:sp>
        <p:nvSpPr>
          <p:cNvPr id="1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194"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EB614CE-728F-45D1-AB76-C6146F1B21C8}"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sldImg"/>
          </p:nvPr>
        </p:nvSpPr>
        <p:spPr>
          <a:xfrm>
            <a:off x="685800" y="1143000"/>
            <a:ext cx="5486040" cy="3085920"/>
          </a:xfrm>
          <a:prstGeom prst="rect">
            <a:avLst/>
          </a:prstGeom>
          <a:ln w="0">
            <a:noFill/>
          </a:ln>
        </p:spPr>
      </p:sp>
      <p:sp>
        <p:nvSpPr>
          <p:cNvPr id="1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197"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2ECB5D-AB37-4B73-87E7-3F9087AEB7C4}"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sldImg"/>
          </p:nvPr>
        </p:nvSpPr>
        <p:spPr>
          <a:xfrm>
            <a:off x="685800" y="1143000"/>
            <a:ext cx="5486040" cy="3085920"/>
          </a:xfrm>
          <a:prstGeom prst="rect">
            <a:avLst/>
          </a:prstGeom>
          <a:ln w="0">
            <a:noFill/>
          </a:ln>
        </p:spPr>
      </p:sp>
      <p:sp>
        <p:nvSpPr>
          <p:cNvPr id="1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00"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B5DFD1-38C2-4F7D-BABC-4205DE56A6E2}"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sldImg"/>
          </p:nvPr>
        </p:nvSpPr>
        <p:spPr>
          <a:xfrm>
            <a:off x="685800" y="1143000"/>
            <a:ext cx="5486040" cy="3085920"/>
          </a:xfrm>
          <a:prstGeom prst="rect">
            <a:avLst/>
          </a:prstGeom>
          <a:ln w="0">
            <a:noFill/>
          </a:ln>
        </p:spPr>
      </p:sp>
      <p:sp>
        <p:nvSpPr>
          <p:cNvPr id="2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03"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5B6F043-E137-4C48-B2FE-73FB0CFFA114}"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sldImg"/>
          </p:nvPr>
        </p:nvSpPr>
        <p:spPr>
          <a:xfrm>
            <a:off x="685800" y="1143000"/>
            <a:ext cx="5486040" cy="3085920"/>
          </a:xfrm>
          <a:prstGeom prst="rect">
            <a:avLst/>
          </a:prstGeom>
          <a:ln w="0">
            <a:noFill/>
          </a:ln>
        </p:spPr>
      </p:sp>
      <p:sp>
        <p:nvSpPr>
          <p:cNvPr id="2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06"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2BDC512-9CF7-426F-A4C3-725C4F2DE338}"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PlaceHolder 1"/>
          <p:cNvSpPr>
            <a:spLocks noGrp="1"/>
          </p:cNvSpPr>
          <p:nvPr>
            <p:ph type="sldImg"/>
          </p:nvPr>
        </p:nvSpPr>
        <p:spPr>
          <a:xfrm>
            <a:off x="685800" y="1143000"/>
            <a:ext cx="5486040" cy="3085920"/>
          </a:xfrm>
          <a:prstGeom prst="rect">
            <a:avLst/>
          </a:prstGeom>
          <a:ln w="0">
            <a:noFill/>
          </a:ln>
        </p:spPr>
      </p:sp>
      <p:sp>
        <p:nvSpPr>
          <p:cNvPr id="2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09"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4D2DFA4-B64C-40CC-A132-ED784EAFD4B2}"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sldImg"/>
          </p:nvPr>
        </p:nvSpPr>
        <p:spPr>
          <a:xfrm>
            <a:off x="685800" y="1143000"/>
            <a:ext cx="5486040" cy="3085920"/>
          </a:xfrm>
          <a:prstGeom prst="rect">
            <a:avLst/>
          </a:prstGeom>
          <a:ln w="0">
            <a:noFill/>
          </a:ln>
        </p:spPr>
      </p:sp>
      <p:sp>
        <p:nvSpPr>
          <p:cNvPr id="2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12"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51AB229-F5FE-4E59-8765-D4ED392984A6}"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sldImg"/>
          </p:nvPr>
        </p:nvSpPr>
        <p:spPr>
          <a:xfrm>
            <a:off x="685800" y="1143000"/>
            <a:ext cx="5486040" cy="3085920"/>
          </a:xfrm>
          <a:prstGeom prst="rect">
            <a:avLst/>
          </a:prstGeom>
          <a:ln w="0">
            <a:noFill/>
          </a:ln>
        </p:spPr>
      </p:sp>
      <p:sp>
        <p:nvSpPr>
          <p:cNvPr id="2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15"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0350C9E-E84E-4360-8B26-831FE91AB267}"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sldImg"/>
          </p:nvPr>
        </p:nvSpPr>
        <p:spPr>
          <a:xfrm>
            <a:off x="685800" y="1143000"/>
            <a:ext cx="5486040" cy="3085920"/>
          </a:xfrm>
          <a:prstGeom prst="rect">
            <a:avLst/>
          </a:prstGeom>
          <a:ln w="0">
            <a:noFill/>
          </a:ln>
        </p:spPr>
      </p:sp>
      <p:sp>
        <p:nvSpPr>
          <p:cNvPr id="2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18"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6D0F55D-2C12-4189-A0E2-2E387278C7CA}"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sldImg"/>
          </p:nvPr>
        </p:nvSpPr>
        <p:spPr>
          <a:xfrm>
            <a:off x="685800" y="1143000"/>
            <a:ext cx="5486040" cy="3085920"/>
          </a:xfrm>
          <a:prstGeom prst="rect">
            <a:avLst/>
          </a:prstGeom>
          <a:ln w="0">
            <a:noFill/>
          </a:ln>
        </p:spPr>
      </p:sp>
      <p:sp>
        <p:nvSpPr>
          <p:cNvPr id="2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21"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AC68A88-6390-4E33-8865-6067C1662FB9}" type="slidenum">
              <a:rPr lang="en-US" sz="1200" b="0" u="none" strike="noStrike">
                <a:solidFill>
                  <a:schemeClr val="dk1"/>
                </a:solidFill>
                <a:effectLst/>
                <a:uFillTx/>
                <a:latin typeface="+mn-lt"/>
                <a:ea typeface="+mn-ea"/>
              </a:rPr>
              <a:t>1</a:t>
            </a:fld>
            <a:endParaRPr lang="pt-BR"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sldImg"/>
          </p:nvPr>
        </p:nvSpPr>
        <p:spPr>
          <a:xfrm>
            <a:off x="685800" y="1143000"/>
            <a:ext cx="5486040" cy="3085920"/>
          </a:xfrm>
          <a:prstGeom prst="rect">
            <a:avLst/>
          </a:prstGeom>
          <a:ln w="0">
            <a:noFill/>
          </a:ln>
        </p:spPr>
      </p:sp>
      <p:sp>
        <p:nvSpPr>
          <p:cNvPr id="2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24"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1469A88-8A98-412F-8004-2E0BB55CB23D}" type="slidenum">
              <a:rPr lang="en-US" sz="1200" b="0" u="none" strike="noStrike">
                <a:solidFill>
                  <a:schemeClr val="dk1"/>
                </a:solidFill>
                <a:effectLst/>
                <a:uFillTx/>
                <a:latin typeface="+mn-lt"/>
                <a:ea typeface="+mn-ea"/>
              </a:rPr>
              <a:t>&lt;número&gt;</a:t>
            </a:fld>
            <a:endParaRPr lang="pt-BR"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sldImg"/>
          </p:nvPr>
        </p:nvSpPr>
        <p:spPr>
          <a:xfrm>
            <a:off x="685800" y="1143000"/>
            <a:ext cx="5486040" cy="3085920"/>
          </a:xfrm>
          <a:prstGeom prst="rect">
            <a:avLst/>
          </a:prstGeom>
          <a:ln w="0">
            <a:noFill/>
          </a:ln>
        </p:spPr>
      </p:sp>
      <p:sp>
        <p:nvSpPr>
          <p:cNvPr id="2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27"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B935713-C005-4133-9CD7-3ED92CB25234}" type="slidenum">
              <a:rPr lang="en-US" sz="1200" b="0" u="none" strike="noStrike">
                <a:solidFill>
                  <a:schemeClr val="dk1"/>
                </a:solidFill>
                <a:effectLst/>
                <a:uFillTx/>
                <a:latin typeface="+mn-lt"/>
                <a:ea typeface="+mn-ea"/>
              </a:rPr>
              <a:t>&lt;número&gt;</a:t>
            </a:fld>
            <a:endParaRPr lang="pt-BR"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sldImg"/>
          </p:nvPr>
        </p:nvSpPr>
        <p:spPr>
          <a:xfrm>
            <a:off x="685800" y="1143000"/>
            <a:ext cx="5486040" cy="3085920"/>
          </a:xfrm>
          <a:prstGeom prst="rect">
            <a:avLst/>
          </a:prstGeom>
          <a:ln w="0">
            <a:noFill/>
          </a:ln>
        </p:spPr>
      </p:sp>
      <p:sp>
        <p:nvSpPr>
          <p:cNvPr id="2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endParaRPr lang="pt-BR" sz="1800" b="0" u="none" strike="noStrike">
              <a:solidFill>
                <a:srgbClr val="000000"/>
              </a:solidFill>
              <a:effectLst/>
              <a:uFillTx/>
              <a:latin typeface="Arial"/>
            </a:endParaRPr>
          </a:p>
        </p:txBody>
      </p:sp>
      <p:sp>
        <p:nvSpPr>
          <p:cNvPr id="230"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88A5AB0-8661-4745-B0E1-D3AACA3851C3}" type="slidenum">
              <a:rPr lang="en-US" sz="1200" b="0" u="none" strike="noStrike">
                <a:solidFill>
                  <a:schemeClr val="dk1"/>
                </a:solidFill>
                <a:effectLst/>
                <a:uFillTx/>
                <a:latin typeface="+mn-lt"/>
                <a:ea typeface="+mn-ea"/>
              </a:rPr>
              <a:t>&lt;número&gt;</a:t>
            </a:fld>
            <a:endParaRPr lang="pt-B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120" y="273600"/>
            <a:ext cx="10969560" cy="1144800"/>
          </a:xfrm>
          <a:prstGeom prst="rect">
            <a:avLst/>
          </a:prstGeom>
          <a:noFill/>
          <a:ln w="0">
            <a:noFill/>
          </a:ln>
        </p:spPr>
        <p:txBody>
          <a:bodyPr lIns="0" tIns="0" rIns="0" bIns="0" anchor="ctr">
            <a:noAutofit/>
          </a:bodyPr>
          <a:lstStyle>
            <a:lvl1pPr indent="0" algn="l">
              <a:buNone/>
              <a:defRPr lang="pt-BR" sz="1800" b="0" u="none" strike="noStrike">
                <a:solidFill>
                  <a:schemeClr val="dk1"/>
                </a:solidFill>
                <a:effectLst/>
                <a:uFillTx/>
                <a:latin typeface="Calibri"/>
              </a:defRPr>
            </a:lvl1pPr>
          </a:lstStyle>
          <a:p>
            <a:pPr indent="0" algn="l">
              <a:buNone/>
            </a:pPr>
            <a:r>
              <a:rPr lang="pt-BR" sz="1800" b="0" u="none" strike="noStrike">
                <a:solidFill>
                  <a:schemeClr val="dk1"/>
                </a:solidFill>
                <a:effectLst/>
                <a:uFillTx/>
                <a:latin typeface="Calibri"/>
              </a:rPr>
              <a:t>Clique para editar o formato do texto do título</a:t>
            </a:r>
            <a:endParaRPr lang="pt-BR" sz="1800" b="0" u="none" strike="noStrike">
              <a:solidFill>
                <a:schemeClr val="dk1"/>
              </a:solidFill>
              <a:effectLst/>
              <a:uFillTx/>
              <a:latin typeface="Calibri"/>
            </a:endParaRPr>
          </a:p>
        </p:txBody>
      </p:sp>
      <p:sp>
        <p:nvSpPr>
          <p:cNvPr id="3" name="PlaceHolder 2"/>
          <p:cNvSpPr>
            <a:spLocks noGrp="1"/>
          </p:cNvSpPr>
          <p:nvPr>
            <p:ph type="body"/>
          </p:nvPr>
        </p:nvSpPr>
        <p:spPr>
          <a:xfrm>
            <a:off x="609120" y="1604520"/>
            <a:ext cx="1096956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pt-BR"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pt-BR"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pt-BR"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pt-BR"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pt-BR"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pt-BR"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pt-BR"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pt-BR" sz="3200" b="0" u="none" strike="noStrike">
                <a:solidFill>
                  <a:schemeClr val="dk1"/>
                </a:solidFill>
                <a:effectLst/>
                <a:uFillTx/>
                <a:latin typeface="Calibri"/>
              </a:rPr>
              <a:t>Clique para editar o formato de texto dos tópicos</a:t>
            </a:r>
            <a:endParaRPr lang="pt-BR"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pt-BR" sz="2400" b="0" u="none" strike="noStrike">
                <a:solidFill>
                  <a:schemeClr val="dk1"/>
                </a:solidFill>
                <a:effectLst/>
                <a:uFillTx/>
                <a:latin typeface="Calibri"/>
              </a:rPr>
              <a:t>2.º nível de tópicos</a:t>
            </a:r>
            <a:endParaRPr lang="pt-BR"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pt-BR" sz="2000" b="0" u="none" strike="noStrike">
                <a:solidFill>
                  <a:schemeClr val="dk1"/>
                </a:solidFill>
                <a:effectLst/>
                <a:uFillTx/>
                <a:latin typeface="Calibri"/>
              </a:rPr>
              <a:t>3.º nível de tópicos</a:t>
            </a:r>
            <a:endParaRPr lang="pt-BR"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pt-BR" sz="2000" b="0" u="none" strike="noStrike">
                <a:solidFill>
                  <a:schemeClr val="dk1"/>
                </a:solidFill>
                <a:effectLst/>
                <a:uFillTx/>
                <a:latin typeface="Calibri"/>
              </a:rPr>
              <a:t>4.º nível de tópicos</a:t>
            </a:r>
            <a:endParaRPr lang="pt-BR"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pt-BR" sz="2000" b="0" u="none" strike="noStrike">
                <a:solidFill>
                  <a:schemeClr val="dk1"/>
                </a:solidFill>
                <a:effectLst/>
                <a:uFillTx/>
                <a:latin typeface="Calibri"/>
              </a:rPr>
              <a:t>5.º nível de tópicos</a:t>
            </a:r>
            <a:endParaRPr lang="pt-BR"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pt-BR" sz="2000" b="0" u="none" strike="noStrike">
                <a:solidFill>
                  <a:schemeClr val="dk1"/>
                </a:solidFill>
                <a:effectLst/>
                <a:uFillTx/>
                <a:latin typeface="Calibri"/>
              </a:rPr>
              <a:t>6.º nível de tópicos</a:t>
            </a:r>
            <a:endParaRPr lang="pt-BR"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pt-BR" sz="2000" b="0" u="none" strike="noStrike">
                <a:solidFill>
                  <a:schemeClr val="dk1"/>
                </a:solidFill>
                <a:effectLst/>
                <a:uFillTx/>
                <a:latin typeface="Calibri"/>
              </a:rPr>
              <a:t>7.º nível de tópicos</a:t>
            </a:r>
            <a:endParaRPr lang="pt-BR"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F2E"/>
        </a:solidFill>
      </p:bgPr>
    </p:bg>
    <p:spTree>
      <p:nvGrpSpPr>
        <p:cNvPr id="1" name=""/>
        <p:cNvGrpSpPr/>
        <p:nvPr/>
      </p:nvGrpSpPr>
      <p:grpSpPr>
        <a:xfrm>
          <a:off x="0" y="0"/>
          <a:ext cx="0" cy="0"/>
          <a:chOff x="0" y="0"/>
          <a:chExt cx="0" cy="0"/>
        </a:xfrm>
      </p:grpSpPr>
      <p:sp>
        <p:nvSpPr>
          <p:cNvPr id="10" name="Shape 0"/>
          <p:cNvSpPr/>
          <p:nvPr/>
        </p:nvSpPr>
        <p:spPr>
          <a:xfrm>
            <a:off x="0" y="0"/>
            <a:ext cx="12188520" cy="6857640"/>
          </a:xfrm>
          <a:prstGeom prst="rect">
            <a:avLst/>
          </a:prstGeom>
          <a:solidFill>
            <a:srgbClr val="0A1F2E"/>
          </a:solidFill>
          <a:ln w="12700">
            <a:solidFill>
              <a:srgbClr val="0A1F2E"/>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1" name="Shape 1"/>
          <p:cNvSpPr/>
          <p:nvPr/>
        </p:nvSpPr>
        <p:spPr>
          <a:xfrm>
            <a:off x="9811440" y="457200"/>
            <a:ext cx="1645560" cy="1645560"/>
          </a:xfrm>
          <a:prstGeom prst="ellipse">
            <a:avLst/>
          </a:prstGeom>
          <a:noFill/>
          <a:ln w="254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2" name="Shape 2"/>
          <p:cNvSpPr/>
          <p:nvPr/>
        </p:nvSpPr>
        <p:spPr>
          <a:xfrm>
            <a:off x="10085760" y="731520"/>
            <a:ext cx="1096920" cy="1096920"/>
          </a:xfrm>
          <a:prstGeom prst="ellipse">
            <a:avLst/>
          </a:prstGeom>
          <a:no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3" name="Text 3"/>
          <p:cNvSpPr/>
          <p:nvPr/>
        </p:nvSpPr>
        <p:spPr>
          <a:xfrm>
            <a:off x="10085760" y="731520"/>
            <a:ext cx="1096920" cy="1096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00B8A9"/>
                </a:solidFill>
                <a:effectLst/>
                <a:uFillTx/>
                <a:latin typeface="Helvetica Neue"/>
                <a:ea typeface="Helvetica Neue"/>
              </a:rPr>
              <a:t>hy</a:t>
            </a:r>
            <a:endParaRPr lang="pt-BR" sz="3600" b="0" u="none" strike="noStrike">
              <a:solidFill>
                <a:srgbClr val="FFFFFF"/>
              </a:solidFill>
              <a:effectLst/>
              <a:uFillTx/>
              <a:latin typeface="Arial"/>
            </a:endParaRPr>
          </a:p>
        </p:txBody>
      </p:sp>
      <p:sp>
        <p:nvSpPr>
          <p:cNvPr id="14" name="Text 4"/>
          <p:cNvSpPr/>
          <p:nvPr/>
        </p:nvSpPr>
        <p:spPr>
          <a:xfrm>
            <a:off x="502920" y="1463040"/>
            <a:ext cx="7314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pc="400" strike="noStrike">
                <a:solidFill>
                  <a:srgbClr val="00B8A9"/>
                </a:solidFill>
                <a:effectLst/>
                <a:uFillTx/>
                <a:latin typeface="Helvetica Neue"/>
                <a:ea typeface="Helvetica Neue"/>
              </a:rPr>
              <a:t>BEANSTECH  ×  TENCENT CLOUD</a:t>
            </a:r>
            <a:endParaRPr lang="pt-BR" sz="1600" b="0" u="none" strike="noStrike">
              <a:solidFill>
                <a:srgbClr val="FFFFFF"/>
              </a:solidFill>
              <a:effectLst/>
              <a:uFillTx/>
              <a:latin typeface="Arial"/>
            </a:endParaRPr>
          </a:p>
        </p:txBody>
      </p:sp>
      <p:sp>
        <p:nvSpPr>
          <p:cNvPr id="15" name="Text 5"/>
          <p:cNvSpPr/>
          <p:nvPr/>
        </p:nvSpPr>
        <p:spPr>
          <a:xfrm>
            <a:off x="502920" y="2011680"/>
            <a:ext cx="8686440" cy="2011320"/>
          </a:xfrm>
          <a:prstGeom prst="rect">
            <a:avLst/>
          </a:prstGeom>
          <a:noFill/>
          <a:ln w="0">
            <a:noFill/>
          </a:ln>
        </p:spPr>
        <p:style>
          <a:lnRef idx="0"/>
          <a:fillRef idx="0"/>
          <a:effectRef idx="0"/>
          <a:fontRef idx="minor"/>
        </p:style>
        <p:txBody>
          <a:bodyPr lIns="0" tIns="0" rIns="0" bIns="0" anchor="ctr">
            <a:noAutofit/>
          </a:bodyPr>
          <a:p>
            <a:pPr defTabSz="914400">
              <a:lnSpc>
                <a:spcPts val="5000"/>
              </a:lnSpc>
              <a:tabLst>
                <a:tab pos="0" algn="l"/>
              </a:tabLst>
            </a:pPr>
            <a:r>
              <a:rPr lang="en-US" sz="4400" b="1" u="none" strike="noStrike">
                <a:solidFill>
                  <a:srgbClr val="FFFFFF"/>
                </a:solidFill>
                <a:effectLst/>
                <a:uFillTx/>
                <a:latin typeface="Helvetica Neue"/>
                <a:ea typeface="Helvetica Neue"/>
              </a:rPr>
              <a:t>Sovereign AI Ecosystem</a:t>
            </a:r>
            <a:endParaRPr lang="pt-BR" sz="4400" b="0" u="none" strike="noStrike">
              <a:solidFill>
                <a:srgbClr val="FFFFFF"/>
              </a:solidFill>
              <a:effectLst/>
              <a:uFillTx/>
              <a:latin typeface="Arial"/>
            </a:endParaRPr>
          </a:p>
          <a:p>
            <a:pPr defTabSz="914400">
              <a:lnSpc>
                <a:spcPts val="5000"/>
              </a:lnSpc>
              <a:tabLst>
                <a:tab pos="0" algn="l"/>
              </a:tabLst>
            </a:pPr>
            <a:r>
              <a:rPr lang="en-US" sz="4400" b="1" u="none" strike="noStrike">
                <a:solidFill>
                  <a:srgbClr val="FFFFFF"/>
                </a:solidFill>
                <a:effectLst/>
                <a:uFillTx/>
                <a:latin typeface="Helvetica Neue"/>
                <a:ea typeface="Helvetica Neue"/>
              </a:rPr>
              <a:t>&amp; LATAM Latency Optimization</a:t>
            </a:r>
            <a:endParaRPr lang="pt-BR" sz="4400" b="0" u="none" strike="noStrike">
              <a:solidFill>
                <a:srgbClr val="FFFFFF"/>
              </a:solidFill>
              <a:effectLst/>
              <a:uFillTx/>
              <a:latin typeface="Arial"/>
            </a:endParaRPr>
          </a:p>
        </p:txBody>
      </p:sp>
      <p:sp>
        <p:nvSpPr>
          <p:cNvPr id="16" name="Text 6"/>
          <p:cNvSpPr/>
          <p:nvPr/>
        </p:nvSpPr>
        <p:spPr>
          <a:xfrm>
            <a:off x="502920" y="4023360"/>
            <a:ext cx="8229240" cy="1096920"/>
          </a:xfrm>
          <a:prstGeom prst="rect">
            <a:avLst/>
          </a:prstGeom>
          <a:noFill/>
          <a:ln w="0">
            <a:noFill/>
          </a:ln>
        </p:spPr>
        <p:style>
          <a:lnRef idx="0"/>
          <a:fillRef idx="0"/>
          <a:effectRef idx="0"/>
          <a:fontRef idx="minor"/>
        </p:style>
        <p:txBody>
          <a:bodyPr lIns="0" tIns="0" rIns="0" bIns="0" anchor="ctr">
            <a:noAutofit/>
          </a:bodyPr>
          <a:p>
            <a:pPr defTabSz="914400">
              <a:lnSpc>
                <a:spcPts val="1800"/>
              </a:lnSpc>
              <a:tabLst>
                <a:tab pos="0" algn="l"/>
              </a:tabLst>
            </a:pPr>
            <a:r>
              <a:rPr lang="en-US" sz="1300" b="0" u="none" strike="noStrike">
                <a:solidFill>
                  <a:srgbClr val="B0C8D8"/>
                </a:solidFill>
                <a:effectLst/>
                <a:uFillTx/>
                <a:latin typeface="Georgia"/>
                <a:ea typeface="Georgia"/>
              </a:rPr>
              <a:t>The world's largest sovereign, carbon-free cloud ecosystem — merging Beans Tech's regulated AI verticals with hy.cloud's autonomous infrastructure blueprint and Tencent's Hunyuan compute architecture.</a:t>
            </a:r>
            <a:endParaRPr lang="pt-BR" sz="1300" b="0" u="none" strike="noStrike">
              <a:solidFill>
                <a:srgbClr val="FFFFFF"/>
              </a:solidFill>
              <a:effectLst/>
              <a:uFillTx/>
              <a:latin typeface="Arial"/>
            </a:endParaRPr>
          </a:p>
        </p:txBody>
      </p:sp>
      <p:sp>
        <p:nvSpPr>
          <p:cNvPr id="17" name="Shape 7"/>
          <p:cNvSpPr/>
          <p:nvPr/>
        </p:nvSpPr>
        <p:spPr>
          <a:xfrm>
            <a:off x="502920" y="5212080"/>
            <a:ext cx="2743200" cy="360"/>
          </a:xfrm>
          <a:prstGeom prst="line">
            <a:avLst/>
          </a:prstGeom>
          <a:ln w="254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FFFFFF"/>
              </a:solidFill>
              <a:effectLst/>
              <a:uFillTx/>
              <a:latin typeface="Arial"/>
            </a:endParaRPr>
          </a:p>
        </p:txBody>
      </p:sp>
      <p:sp>
        <p:nvSpPr>
          <p:cNvPr id="18" name="Text 8"/>
          <p:cNvSpPr/>
          <p:nvPr/>
        </p:nvSpPr>
        <p:spPr>
          <a:xfrm>
            <a:off x="502920" y="5394960"/>
            <a:ext cx="54860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E8C847"/>
                </a:solidFill>
                <a:effectLst/>
                <a:uFillTx/>
                <a:latin typeface="Helvetica Neue"/>
                <a:ea typeface="Helvetica Neue"/>
              </a:rPr>
              <a:t>US$ 350,000,000</a:t>
            </a:r>
            <a:endParaRPr lang="pt-BR" sz="26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8FC0D0"/>
                </a:solidFill>
                <a:effectLst/>
                <a:uFillTx/>
                <a:latin typeface="Helvetica Neue"/>
                <a:ea typeface="Helvetica Neue"/>
              </a:rPr>
              <a:t>Initial Capital Intake</a:t>
            </a:r>
            <a:endParaRPr lang="pt-BR" sz="1100" b="0" u="none" strike="noStrike">
              <a:solidFill>
                <a:srgbClr val="FFFFFF"/>
              </a:solidFill>
              <a:effectLst/>
              <a:uFillTx/>
              <a:latin typeface="Arial"/>
            </a:endParaRPr>
          </a:p>
        </p:txBody>
      </p:sp>
      <p:sp>
        <p:nvSpPr>
          <p:cNvPr id="19" name="Text 9"/>
          <p:cNvSpPr/>
          <p:nvPr/>
        </p:nvSpPr>
        <p:spPr>
          <a:xfrm>
            <a:off x="7571160" y="5394960"/>
            <a:ext cx="4114440" cy="822600"/>
          </a:xfrm>
          <a:prstGeom prst="rect">
            <a:avLst/>
          </a:prstGeom>
          <a:noFill/>
          <a:ln w="0">
            <a:noFill/>
          </a:ln>
        </p:spPr>
        <p:style>
          <a:lnRef idx="0"/>
          <a:fillRef idx="0"/>
          <a:effectRef idx="0"/>
          <a:fontRef idx="minor"/>
        </p:style>
        <p:txBody>
          <a:bodyPr lIns="0" tIns="0" rIns="0" bIns="0" anchor="ctr">
            <a:noAutofit/>
          </a:bodyPr>
          <a:p>
            <a:pPr algn="r" defTabSz="914400">
              <a:lnSpc>
                <a:spcPts val="1400"/>
              </a:lnSpc>
              <a:tabLst>
                <a:tab pos="0" algn="l"/>
              </a:tabLst>
            </a:pPr>
            <a:r>
              <a:rPr lang="en-US" sz="900" b="0" u="none" strike="noStrike">
                <a:solidFill>
                  <a:srgbClr val="6B9BB0"/>
                </a:solidFill>
                <a:effectLst/>
                <a:uFillTx/>
                <a:latin typeface="Helvetica Neue"/>
                <a:ea typeface="Helvetica Neue"/>
              </a:rPr>
              <a:t>Matheus Ximenes · Founder &amp; CEO</a:t>
            </a:r>
            <a:endParaRPr lang="pt-BR" sz="900" b="0" u="none" strike="noStrike">
              <a:solidFill>
                <a:srgbClr val="FFFFFF"/>
              </a:solidFill>
              <a:effectLst/>
              <a:uFillTx/>
              <a:latin typeface="Arial"/>
            </a:endParaRPr>
          </a:p>
          <a:p>
            <a:pPr algn="r" defTabSz="914400">
              <a:lnSpc>
                <a:spcPts val="1400"/>
              </a:lnSpc>
              <a:tabLst>
                <a:tab pos="0" algn="l"/>
              </a:tabLst>
            </a:pPr>
            <a:r>
              <a:rPr lang="en-US" sz="900" b="0" u="none" strike="noStrike">
                <a:solidFill>
                  <a:srgbClr val="6B9BB0"/>
                </a:solidFill>
                <a:effectLst/>
                <a:uFillTx/>
                <a:latin typeface="Helvetica Neue"/>
                <a:ea typeface="Helvetica Neue"/>
              </a:rPr>
              <a:t>Attorney · Postgraduate in Cloud Computing &amp; Data Protection</a:t>
            </a:r>
            <a:endParaRPr lang="pt-BR" sz="900" b="0" u="none" strike="noStrike">
              <a:solidFill>
                <a:srgbClr val="FFFFFF"/>
              </a:solidFill>
              <a:effectLst/>
              <a:uFillTx/>
              <a:latin typeface="Arial"/>
            </a:endParaRPr>
          </a:p>
          <a:p>
            <a:pPr algn="r" defTabSz="914400">
              <a:lnSpc>
                <a:spcPts val="1400"/>
              </a:lnSpc>
              <a:tabLst>
                <a:tab pos="0" algn="l"/>
              </a:tabLst>
            </a:pPr>
            <a:r>
              <a:rPr lang="en-US" sz="900" b="0" u="none" strike="noStrike">
                <a:solidFill>
                  <a:srgbClr val="6B9BB0"/>
                </a:solidFill>
                <a:effectLst/>
                <a:uFillTx/>
                <a:latin typeface="Helvetica Neue"/>
                <a:ea typeface="Helvetica Neue"/>
              </a:rPr>
              <a:t>September 2026 · São Paulo, Brazil</a:t>
            </a:r>
            <a:endParaRPr lang="pt-BR" sz="900" b="0" u="none" strike="noStrike">
              <a:solidFill>
                <a:srgbClr val="FFFFFF"/>
              </a:solidFill>
              <a:effectLst/>
              <a:uFillTx/>
              <a:latin typeface="Arial"/>
            </a:endParaRPr>
          </a:p>
        </p:txBody>
      </p:sp>
      <p:sp>
        <p:nvSpPr>
          <p:cNvPr id="20" name="Text 10"/>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6B9BB0"/>
                </a:solidFill>
                <a:effectLst/>
                <a:uFillTx/>
                <a:latin typeface="Helvetica Neue"/>
                <a:ea typeface="Helvetica Neue"/>
              </a:rPr>
              <a:t>BeansTech × Tencent Cloud — Confidential</a:t>
            </a:r>
            <a:endParaRPr lang="pt-BR" sz="800" b="0" u="none" strike="noStrike">
              <a:solidFill>
                <a:srgbClr val="FFFFFF"/>
              </a:solidFill>
              <a:effectLst/>
              <a:uFillTx/>
              <a:latin typeface="Arial"/>
            </a:endParaRPr>
          </a:p>
        </p:txBody>
      </p:sp>
      <p:sp>
        <p:nvSpPr>
          <p:cNvPr id="21" name="Text 11"/>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6B9BB0"/>
                </a:solidFill>
                <a:effectLst/>
                <a:uFillTx/>
                <a:latin typeface="Helvetica Neue"/>
                <a:ea typeface="Helvetica Neue"/>
              </a:rPr>
              <a:t>1</a:t>
            </a:r>
            <a:endParaRPr lang="pt-BR"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Executive Summary</a:t>
            </a:r>
            <a:endParaRPr lang="pt-BR" sz="2800" b="0" u="none" strike="noStrike">
              <a:solidFill>
                <a:srgbClr val="000000"/>
              </a:solidFill>
              <a:effectLst/>
              <a:uFillTx/>
              <a:latin typeface="Arial"/>
            </a:endParaRPr>
          </a:p>
        </p:txBody>
      </p:sp>
      <p:sp>
        <p:nvSpPr>
          <p:cNvPr id="23"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A production-ready sovereign AI platform with immediate market penetration into regulated sectors</a:t>
            </a:r>
            <a:endParaRPr lang="pt-BR" sz="1300" b="0" u="none" strike="noStrike">
              <a:solidFill>
                <a:srgbClr val="000000"/>
              </a:solidFill>
              <a:effectLst/>
              <a:uFillTx/>
              <a:latin typeface="Arial"/>
            </a:endParaRPr>
          </a:p>
        </p:txBody>
      </p:sp>
      <p:sp>
        <p:nvSpPr>
          <p:cNvPr id="24"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sp>
        <p:nvSpPr>
          <p:cNvPr id="25" name="Shape 3"/>
          <p:cNvSpPr/>
          <p:nvPr/>
        </p:nvSpPr>
        <p:spPr>
          <a:xfrm>
            <a:off x="502920" y="1554480"/>
            <a:ext cx="2011320" cy="11883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26" name="Text 4"/>
          <p:cNvSpPr/>
          <p:nvPr/>
        </p:nvSpPr>
        <p:spPr>
          <a:xfrm>
            <a:off x="502920" y="1627560"/>
            <a:ext cx="20113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A1F2E"/>
                </a:solidFill>
                <a:effectLst/>
                <a:uFillTx/>
                <a:latin typeface="Helvetica Neue"/>
                <a:ea typeface="Helvetica Neue"/>
              </a:rPr>
              <a:t>US$ 350M</a:t>
            </a:r>
            <a:endParaRPr lang="pt-BR" sz="2200" b="0" u="none" strike="noStrike">
              <a:solidFill>
                <a:srgbClr val="000000"/>
              </a:solidFill>
              <a:effectLst/>
              <a:uFillTx/>
              <a:latin typeface="Arial"/>
            </a:endParaRPr>
          </a:p>
        </p:txBody>
      </p:sp>
      <p:sp>
        <p:nvSpPr>
          <p:cNvPr id="27" name="Text 5"/>
          <p:cNvSpPr/>
          <p:nvPr/>
        </p:nvSpPr>
        <p:spPr>
          <a:xfrm>
            <a:off x="502920" y="2176200"/>
            <a:ext cx="20113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50" b="0" u="none" spc="99" strike="noStrike">
                <a:solidFill>
                  <a:srgbClr val="5A6B7A"/>
                </a:solidFill>
                <a:effectLst/>
                <a:uFillTx/>
                <a:latin typeface="Helvetica Neue"/>
                <a:ea typeface="Helvetica Neue"/>
              </a:rPr>
              <a:t>Capital Intake</a:t>
            </a:r>
            <a:endParaRPr lang="pt-BR" sz="850" b="0" u="none" strike="noStrike">
              <a:solidFill>
                <a:srgbClr val="000000"/>
              </a:solidFill>
              <a:effectLst/>
              <a:uFillTx/>
              <a:latin typeface="Arial"/>
            </a:endParaRPr>
          </a:p>
        </p:txBody>
      </p:sp>
      <p:sp>
        <p:nvSpPr>
          <p:cNvPr id="28" name="Shape 6"/>
          <p:cNvSpPr/>
          <p:nvPr/>
        </p:nvSpPr>
        <p:spPr>
          <a:xfrm>
            <a:off x="2715840" y="1554480"/>
            <a:ext cx="2011320" cy="11883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29" name="Text 7"/>
          <p:cNvSpPr/>
          <p:nvPr/>
        </p:nvSpPr>
        <p:spPr>
          <a:xfrm>
            <a:off x="2715840" y="1627560"/>
            <a:ext cx="20113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A1F2E"/>
                </a:solidFill>
                <a:effectLst/>
                <a:uFillTx/>
                <a:latin typeface="Helvetica Neue"/>
                <a:ea typeface="Helvetica Neue"/>
              </a:rPr>
              <a:t>4</a:t>
            </a:r>
            <a:endParaRPr lang="pt-BR" sz="2200" b="0" u="none" strike="noStrike">
              <a:solidFill>
                <a:srgbClr val="000000"/>
              </a:solidFill>
              <a:effectLst/>
              <a:uFillTx/>
              <a:latin typeface="Arial"/>
            </a:endParaRPr>
          </a:p>
        </p:txBody>
      </p:sp>
      <p:sp>
        <p:nvSpPr>
          <p:cNvPr id="30" name="Text 8"/>
          <p:cNvSpPr/>
          <p:nvPr/>
        </p:nvSpPr>
        <p:spPr>
          <a:xfrm>
            <a:off x="2715840" y="2176200"/>
            <a:ext cx="20113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50" b="0" u="none" spc="99" strike="noStrike">
                <a:solidFill>
                  <a:srgbClr val="5A6B7A"/>
                </a:solidFill>
                <a:effectLst/>
                <a:uFillTx/>
                <a:latin typeface="Helvetica Neue"/>
                <a:ea typeface="Helvetica Neue"/>
              </a:rPr>
              <a:t>AI Verticals (Regulated)</a:t>
            </a:r>
            <a:endParaRPr lang="pt-BR" sz="850" b="0" u="none" strike="noStrike">
              <a:solidFill>
                <a:srgbClr val="000000"/>
              </a:solidFill>
              <a:effectLst/>
              <a:uFillTx/>
              <a:latin typeface="Arial"/>
            </a:endParaRPr>
          </a:p>
        </p:txBody>
      </p:sp>
      <p:sp>
        <p:nvSpPr>
          <p:cNvPr id="31" name="Shape 9"/>
          <p:cNvSpPr/>
          <p:nvPr/>
        </p:nvSpPr>
        <p:spPr>
          <a:xfrm>
            <a:off x="4928760" y="1554480"/>
            <a:ext cx="2011320" cy="11883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32" name="Text 10"/>
          <p:cNvSpPr/>
          <p:nvPr/>
        </p:nvSpPr>
        <p:spPr>
          <a:xfrm>
            <a:off x="4928760" y="1627560"/>
            <a:ext cx="20113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A1F2E"/>
                </a:solidFill>
                <a:effectLst/>
                <a:uFillTx/>
                <a:latin typeface="Helvetica Neue"/>
                <a:ea typeface="Helvetica Neue"/>
              </a:rPr>
              <a:t>2</a:t>
            </a:r>
            <a:endParaRPr lang="pt-BR" sz="2200" b="0" u="none" strike="noStrike">
              <a:solidFill>
                <a:srgbClr val="000000"/>
              </a:solidFill>
              <a:effectLst/>
              <a:uFillTx/>
              <a:latin typeface="Arial"/>
            </a:endParaRPr>
          </a:p>
        </p:txBody>
      </p:sp>
      <p:sp>
        <p:nvSpPr>
          <p:cNvPr id="33" name="Text 11"/>
          <p:cNvSpPr/>
          <p:nvPr/>
        </p:nvSpPr>
        <p:spPr>
          <a:xfrm>
            <a:off x="4928760" y="2176200"/>
            <a:ext cx="20113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50" b="0" u="none" spc="99" strike="noStrike">
                <a:solidFill>
                  <a:srgbClr val="5A6B7A"/>
                </a:solidFill>
                <a:effectLst/>
                <a:uFillTx/>
                <a:latin typeface="Helvetica Neue"/>
                <a:ea typeface="Helvetica Neue"/>
              </a:rPr>
              <a:t>Data Centers (Dual-Hub)</a:t>
            </a:r>
            <a:endParaRPr lang="pt-BR" sz="850" b="0" u="none" strike="noStrike">
              <a:solidFill>
                <a:srgbClr val="000000"/>
              </a:solidFill>
              <a:effectLst/>
              <a:uFillTx/>
              <a:latin typeface="Arial"/>
            </a:endParaRPr>
          </a:p>
        </p:txBody>
      </p:sp>
      <p:sp>
        <p:nvSpPr>
          <p:cNvPr id="34" name="Shape 12"/>
          <p:cNvSpPr/>
          <p:nvPr/>
        </p:nvSpPr>
        <p:spPr>
          <a:xfrm>
            <a:off x="7141320" y="1554480"/>
            <a:ext cx="2011320" cy="11883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35" name="Text 13"/>
          <p:cNvSpPr/>
          <p:nvPr/>
        </p:nvSpPr>
        <p:spPr>
          <a:xfrm>
            <a:off x="7141320" y="1627560"/>
            <a:ext cx="20113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A1F2E"/>
                </a:solidFill>
                <a:effectLst/>
                <a:uFillTx/>
                <a:latin typeface="Helvetica Neue"/>
                <a:ea typeface="Helvetica Neue"/>
              </a:rPr>
              <a:t>650M</a:t>
            </a:r>
            <a:endParaRPr lang="pt-BR" sz="2200" b="0" u="none" strike="noStrike">
              <a:solidFill>
                <a:srgbClr val="000000"/>
              </a:solidFill>
              <a:effectLst/>
              <a:uFillTx/>
              <a:latin typeface="Arial"/>
            </a:endParaRPr>
          </a:p>
        </p:txBody>
      </p:sp>
      <p:sp>
        <p:nvSpPr>
          <p:cNvPr id="36" name="Text 14"/>
          <p:cNvSpPr/>
          <p:nvPr/>
        </p:nvSpPr>
        <p:spPr>
          <a:xfrm>
            <a:off x="7141320" y="2176200"/>
            <a:ext cx="20113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50" b="0" u="none" spc="99" strike="noStrike">
                <a:solidFill>
                  <a:srgbClr val="5A6B7A"/>
                </a:solidFill>
                <a:effectLst/>
                <a:uFillTx/>
                <a:latin typeface="Helvetica Neue"/>
                <a:ea typeface="Helvetica Neue"/>
              </a:rPr>
              <a:t>LATAM Population</a:t>
            </a:r>
            <a:endParaRPr lang="pt-BR" sz="850" b="0" u="none" strike="noStrike">
              <a:solidFill>
                <a:srgbClr val="000000"/>
              </a:solidFill>
              <a:effectLst/>
              <a:uFillTx/>
              <a:latin typeface="Arial"/>
            </a:endParaRPr>
          </a:p>
        </p:txBody>
      </p:sp>
      <p:sp>
        <p:nvSpPr>
          <p:cNvPr id="37" name="Shape 15"/>
          <p:cNvSpPr/>
          <p:nvPr/>
        </p:nvSpPr>
        <p:spPr>
          <a:xfrm>
            <a:off x="9354240" y="1554480"/>
            <a:ext cx="2011320" cy="11883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38" name="Text 16"/>
          <p:cNvSpPr/>
          <p:nvPr/>
        </p:nvSpPr>
        <p:spPr>
          <a:xfrm>
            <a:off x="9354240" y="1627560"/>
            <a:ext cx="2011320" cy="548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A1F2E"/>
                </a:solidFill>
                <a:effectLst/>
                <a:uFillTx/>
                <a:latin typeface="Helvetica Neue"/>
                <a:ea typeface="Helvetica Neue"/>
              </a:rPr>
              <a:t>77M+</a:t>
            </a:r>
            <a:endParaRPr lang="pt-BR" sz="2200" b="0" u="none" strike="noStrike">
              <a:solidFill>
                <a:srgbClr val="000000"/>
              </a:solidFill>
              <a:effectLst/>
              <a:uFillTx/>
              <a:latin typeface="Arial"/>
            </a:endParaRPr>
          </a:p>
        </p:txBody>
      </p:sp>
      <p:sp>
        <p:nvSpPr>
          <p:cNvPr id="39" name="Text 17"/>
          <p:cNvSpPr/>
          <p:nvPr/>
        </p:nvSpPr>
        <p:spPr>
          <a:xfrm>
            <a:off x="9354240" y="2176200"/>
            <a:ext cx="201132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50" b="0" u="none" spc="99" strike="noStrike">
                <a:solidFill>
                  <a:srgbClr val="5A6B7A"/>
                </a:solidFill>
                <a:effectLst/>
                <a:uFillTx/>
                <a:latin typeface="Helvetica Neue"/>
                <a:ea typeface="Helvetica Neue"/>
              </a:rPr>
              <a:t>Court Decisions Indexed</a:t>
            </a:r>
            <a:endParaRPr lang="pt-BR" sz="850" b="0" u="none" strike="noStrike">
              <a:solidFill>
                <a:srgbClr val="000000"/>
              </a:solidFill>
              <a:effectLst/>
              <a:uFillTx/>
              <a:latin typeface="Arial"/>
            </a:endParaRPr>
          </a:p>
        </p:txBody>
      </p:sp>
      <p:sp>
        <p:nvSpPr>
          <p:cNvPr id="40" name="Shape 18"/>
          <p:cNvSpPr/>
          <p:nvPr/>
        </p:nvSpPr>
        <p:spPr>
          <a:xfrm>
            <a:off x="502920" y="3017520"/>
            <a:ext cx="11182680" cy="1371240"/>
          </a:xfrm>
          <a:prstGeom prst="rect">
            <a:avLst/>
          </a:prstGeom>
          <a:solidFill>
            <a:srgbClr val="0A1F2E"/>
          </a:solidFill>
          <a:ln w="12700">
            <a:solidFill>
              <a:srgbClr val="0A1F2E"/>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41" name="Text 19"/>
          <p:cNvSpPr/>
          <p:nvPr/>
        </p:nvSpPr>
        <p:spPr>
          <a:xfrm>
            <a:off x="777240" y="3200400"/>
            <a:ext cx="10634040" cy="1005480"/>
          </a:xfrm>
          <a:prstGeom prst="rect">
            <a:avLst/>
          </a:prstGeom>
          <a:noFill/>
          <a:ln w="0">
            <a:noFill/>
          </a:ln>
        </p:spPr>
        <p:style>
          <a:lnRef idx="0"/>
          <a:fillRef idx="0"/>
          <a:effectRef idx="0"/>
          <a:fontRef idx="minor"/>
        </p:style>
        <p:txBody>
          <a:bodyPr lIns="0" tIns="0" rIns="0" bIns="0" anchor="ctr">
            <a:noAutofit/>
          </a:bodyPr>
          <a:p>
            <a:pPr defTabSz="914400">
              <a:lnSpc>
                <a:spcPts val="1599"/>
              </a:lnSpc>
              <a:tabLst>
                <a:tab pos="0" algn="l"/>
              </a:tabLst>
            </a:pPr>
            <a:r>
              <a:rPr lang="en-US" sz="1500" b="1" u="none" strike="noStrike">
                <a:solidFill>
                  <a:srgbClr val="00B8A9"/>
                </a:solidFill>
                <a:effectLst/>
                <a:uFillTx/>
                <a:latin typeface="Calibri"/>
              </a:rPr>
              <a:t>The foundation already exists — and it is sovereign.</a:t>
            </a:r>
            <a:endParaRPr lang="pt-BR" sz="1500" b="0" u="none" strike="noStrike">
              <a:solidFill>
                <a:srgbClr val="000000"/>
              </a:solidFill>
              <a:effectLst/>
              <a:uFillTx/>
              <a:latin typeface="Arial"/>
            </a:endParaRPr>
          </a:p>
          <a:p>
            <a:pPr defTabSz="914400">
              <a:lnSpc>
                <a:spcPts val="1599"/>
              </a:lnSpc>
              <a:tabLst>
                <a:tab pos="0" algn="l"/>
              </a:tabLst>
            </a:pPr>
            <a:r>
              <a:rPr lang="en-US" sz="1150" b="0" u="none" strike="noStrike">
                <a:solidFill>
                  <a:srgbClr val="B0C8D8"/>
                </a:solidFill>
                <a:effectLst/>
                <a:uFillTx/>
                <a:latin typeface="Calibri"/>
              </a:rPr>
              <a:t>Beans Tech operates production-ready AI verticals across 4 regulated sectors (Legal, Compliance, Healthcare, Real Estate) with 77M+ court decisions indexed, sovereign identity and compliance infrastructure, and secured land for two data centers — one carbon-free with solar autonomy, one adjacent to international submarine cable landing stations.</a:t>
            </a:r>
            <a:endParaRPr lang="pt-BR" sz="1150" b="0" u="none" strike="noStrike">
              <a:solidFill>
                <a:srgbClr val="000000"/>
              </a:solidFill>
              <a:effectLst/>
              <a:uFillTx/>
              <a:latin typeface="Arial"/>
            </a:endParaRPr>
          </a:p>
        </p:txBody>
      </p:sp>
      <p:sp>
        <p:nvSpPr>
          <p:cNvPr id="42" name="Text 20"/>
          <p:cNvSpPr/>
          <p:nvPr/>
        </p:nvSpPr>
        <p:spPr>
          <a:xfrm>
            <a:off x="502920" y="457200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E6FAF"/>
                </a:solidFill>
                <a:effectLst/>
                <a:uFillTx/>
                <a:latin typeface="Helvetica Neue"/>
                <a:ea typeface="Helvetica Neue"/>
              </a:rPr>
              <a:t>What Tencent Cloud Gains</a:t>
            </a:r>
            <a:endParaRPr lang="pt-BR" sz="1400" b="0" u="none" strike="noStrike">
              <a:solidFill>
                <a:srgbClr val="000000"/>
              </a:solidFill>
              <a:effectLst/>
              <a:uFillTx/>
              <a:latin typeface="Arial"/>
            </a:endParaRPr>
          </a:p>
        </p:txBody>
      </p:sp>
      <p:sp>
        <p:nvSpPr>
          <p:cNvPr id="43" name="Text 21"/>
          <p:cNvSpPr/>
          <p:nvPr/>
        </p:nvSpPr>
        <p:spPr>
          <a:xfrm>
            <a:off x="502920" y="4937760"/>
            <a:ext cx="5303160" cy="1554120"/>
          </a:xfrm>
          <a:prstGeom prst="rect">
            <a:avLst/>
          </a:prstGeom>
          <a:noFill/>
          <a:ln w="0">
            <a:noFill/>
          </a:ln>
        </p:spPr>
        <p:style>
          <a:lnRef idx="0"/>
          <a:fillRef idx="0"/>
          <a:effectRef idx="0"/>
          <a:fontRef idx="minor"/>
        </p:style>
        <p:txBody>
          <a:bodyPr lIns="0" tIns="0" rIns="0" bIns="0" anchor="ctr">
            <a:noAutofit/>
          </a:bodyPr>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Sovereign presence in LATAM — first major cloud with AI in a tax-free ZPE zone</a:t>
            </a:r>
            <a:endParaRPr lang="pt-BR" sz="1050" b="0" u="none" strike="noStrike">
              <a:solidFill>
                <a:srgbClr val="000000"/>
              </a:solidFill>
              <a:effectLst/>
              <a:uFillTx/>
              <a:latin typeface="Arial"/>
            </a:endParaRPr>
          </a:p>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Network multiplier — direct subsea cable access reduces latency for all Tencent services in South America</a:t>
            </a:r>
            <a:endParaRPr lang="pt-BR" sz="1050" b="0" u="none" strike="noStrike">
              <a:solidFill>
                <a:srgbClr val="000000"/>
              </a:solidFill>
              <a:effectLst/>
              <a:uFillTx/>
              <a:latin typeface="Arial"/>
            </a:endParaRPr>
          </a:p>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Turnkey monetization — compute paired with production-ready regulated AI verticals</a:t>
            </a:r>
            <a:endParaRPr lang="pt-BR" sz="1050" b="0" u="none" strike="noStrike">
              <a:solidFill>
                <a:srgbClr val="000000"/>
              </a:solidFill>
              <a:effectLst/>
              <a:uFillTx/>
              <a:latin typeface="Arial"/>
            </a:endParaRPr>
          </a:p>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Hunyuan deployment — Hy4 model family embedded into regulated sector infrastructure</a:t>
            </a:r>
            <a:endParaRPr lang="pt-BR" sz="1050" b="0" u="none" strike="noStrike">
              <a:solidFill>
                <a:srgbClr val="000000"/>
              </a:solidFill>
              <a:effectLst/>
              <a:uFillTx/>
              <a:latin typeface="Arial"/>
            </a:endParaRPr>
          </a:p>
        </p:txBody>
      </p:sp>
      <p:sp>
        <p:nvSpPr>
          <p:cNvPr id="44" name="Text 22"/>
          <p:cNvSpPr/>
          <p:nvPr/>
        </p:nvSpPr>
        <p:spPr>
          <a:xfrm>
            <a:off x="6400800" y="457200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2E6FAF"/>
                </a:solidFill>
                <a:effectLst/>
                <a:uFillTx/>
                <a:latin typeface="Helvetica Neue"/>
                <a:ea typeface="Helvetica Neue"/>
              </a:rPr>
              <a:t>What Beans Tech Brings</a:t>
            </a:r>
            <a:endParaRPr lang="pt-BR" sz="1400" b="0" u="none" strike="noStrike">
              <a:solidFill>
                <a:srgbClr val="000000"/>
              </a:solidFill>
              <a:effectLst/>
              <a:uFillTx/>
              <a:latin typeface="Arial"/>
            </a:endParaRPr>
          </a:p>
        </p:txBody>
      </p:sp>
      <p:sp>
        <p:nvSpPr>
          <p:cNvPr id="45" name="Text 23"/>
          <p:cNvSpPr/>
          <p:nvPr/>
        </p:nvSpPr>
        <p:spPr>
          <a:xfrm>
            <a:off x="6400800" y="4937760"/>
            <a:ext cx="5303160" cy="1554120"/>
          </a:xfrm>
          <a:prstGeom prst="rect">
            <a:avLst/>
          </a:prstGeom>
          <a:noFill/>
          <a:ln w="0">
            <a:noFill/>
          </a:ln>
        </p:spPr>
        <p:style>
          <a:lnRef idx="0"/>
          <a:fillRef idx="0"/>
          <a:effectRef idx="0"/>
          <a:fontRef idx="minor"/>
        </p:style>
        <p:txBody>
          <a:bodyPr lIns="0" tIns="0" rIns="0" bIns="0" anchor="ctr">
            <a:noAutofit/>
          </a:bodyPr>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4 regulated verticals in production (Legal, Compliance, Health, Real Estate)</a:t>
            </a:r>
            <a:endParaRPr lang="pt-BR" sz="1050" b="0" u="none" strike="noStrike">
              <a:solidFill>
                <a:srgbClr val="000000"/>
              </a:solidFill>
              <a:effectLst/>
              <a:uFillTx/>
              <a:latin typeface="Arial"/>
            </a:endParaRPr>
          </a:p>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77M+ indexed court decisions (ragjur.ai) — the largest legal RAG in Brazil</a:t>
            </a:r>
            <a:endParaRPr lang="pt-BR" sz="1050" b="0" u="none" strike="noStrike">
              <a:solidFill>
                <a:srgbClr val="000000"/>
              </a:solidFill>
              <a:effectLst/>
              <a:uFillTx/>
              <a:latin typeface="Arial"/>
            </a:endParaRPr>
          </a:p>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Sovereign compliance infrastructure — LGPD, CFM, BACEN by design</a:t>
            </a:r>
            <a:endParaRPr lang="pt-BR" sz="1050" b="0" u="none" strike="noStrike">
              <a:solidFill>
                <a:srgbClr val="000000"/>
              </a:solidFill>
              <a:effectLst/>
              <a:uFillTx/>
              <a:latin typeface="Arial"/>
            </a:endParaRPr>
          </a:p>
          <a:p>
            <a:pPr marL="127080" indent="-127080" defTabSz="914400">
              <a:lnSpc>
                <a:spcPct val="100000"/>
              </a:lnSpc>
              <a:spcAft>
                <a:spcPts val="601"/>
              </a:spcAft>
              <a:buClr>
                <a:srgbClr val="1A2332"/>
              </a:buClr>
              <a:buFont typeface="Wingdings 3" charset="2"/>
              <a:buChar char=""/>
            </a:pPr>
            <a:r>
              <a:rPr lang="en-US" sz="1050" b="0" u="none" strike="noStrike">
                <a:solidFill>
                  <a:srgbClr val="1A2332"/>
                </a:solidFill>
                <a:effectLst/>
                <a:uFillTx/>
                <a:latin typeface="Helvetica Neue"/>
                <a:ea typeface="Helvetica Neue"/>
              </a:rPr>
              <a:t>Dual-hub data center sites: ZPE Caucaia (subsea) + Santa Terezinha (solar off-grid)</a:t>
            </a:r>
            <a:endParaRPr lang="pt-BR" sz="1050" b="0" u="none" strike="noStrike">
              <a:solidFill>
                <a:srgbClr val="000000"/>
              </a:solidFill>
              <a:effectLst/>
              <a:uFillTx/>
              <a:latin typeface="Arial"/>
            </a:endParaRPr>
          </a:p>
        </p:txBody>
      </p:sp>
      <p:sp>
        <p:nvSpPr>
          <p:cNvPr id="46" name="Text 24"/>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47" name="Text 25"/>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2</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The Core Market Friction</a:t>
            </a:r>
            <a:endParaRPr lang="pt-BR" sz="2800" b="0" u="none" strike="noStrike">
              <a:solidFill>
                <a:srgbClr val="000000"/>
              </a:solidFill>
              <a:effectLst/>
              <a:uFillTx/>
              <a:latin typeface="Arial"/>
            </a:endParaRPr>
          </a:p>
        </p:txBody>
      </p:sp>
      <p:sp>
        <p:nvSpPr>
          <p:cNvPr id="49"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High-barrier sectors cannot adopt unsecure, non-compliant, or volatile infrastructure</a:t>
            </a:r>
            <a:endParaRPr lang="pt-BR" sz="1300" b="0" u="none" strike="noStrike">
              <a:solidFill>
                <a:srgbClr val="000000"/>
              </a:solidFill>
              <a:effectLst/>
              <a:uFillTx/>
              <a:latin typeface="Arial"/>
            </a:endParaRPr>
          </a:p>
        </p:txBody>
      </p:sp>
      <p:sp>
        <p:nvSpPr>
          <p:cNvPr id="50"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sp>
        <p:nvSpPr>
          <p:cNvPr id="51" name="Text 3"/>
          <p:cNvSpPr/>
          <p:nvPr/>
        </p:nvSpPr>
        <p:spPr>
          <a:xfrm>
            <a:off x="50292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A1F2E"/>
                </a:solidFill>
                <a:effectLst/>
                <a:uFillTx/>
                <a:latin typeface="Helvetica Neue"/>
                <a:ea typeface="Helvetica Neue"/>
              </a:rPr>
              <a:t>The Challenge</a:t>
            </a:r>
            <a:endParaRPr lang="pt-BR" sz="1400" b="0" u="none" strike="noStrike">
              <a:solidFill>
                <a:srgbClr val="000000"/>
              </a:solidFill>
              <a:effectLst/>
              <a:uFillTx/>
              <a:latin typeface="Arial"/>
            </a:endParaRPr>
          </a:p>
        </p:txBody>
      </p:sp>
      <p:sp>
        <p:nvSpPr>
          <p:cNvPr id="52" name="Text 4"/>
          <p:cNvSpPr/>
          <p:nvPr/>
        </p:nvSpPr>
        <p:spPr>
          <a:xfrm>
            <a:off x="502920" y="1920240"/>
            <a:ext cx="5303160" cy="393156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400"/>
              </a:spcAft>
              <a:buClr>
                <a:srgbClr val="000000"/>
              </a:buClr>
              <a:buFont typeface="Symbol" charset="2"/>
              <a:buChar char=""/>
            </a:pPr>
            <a:r>
              <a:rPr lang="en-US" sz="1800" b="1" u="none" strike="noStrike">
                <a:solidFill>
                  <a:srgbClr val="000000"/>
                </a:solidFill>
                <a:effectLst/>
                <a:uFillTx/>
                <a:latin typeface="Calibri"/>
              </a:rPr>
              <a:t>Government &amp; Judiciary</a:t>
            </a:r>
            <a:endParaRPr lang="pt-BR" sz="1800" b="0" u="none" strike="noStrike">
              <a:solidFill>
                <a:srgbClr val="000000"/>
              </a:solidFill>
              <a:effectLst/>
              <a:uFillTx/>
              <a:latin typeface="Arial"/>
            </a:endParaRPr>
          </a:p>
          <a:p>
            <a:pPr defTabSz="914400">
              <a:lnSpc>
                <a:spcPts val="1400"/>
              </a:lnSpc>
              <a:spcAft>
                <a:spcPts val="400"/>
              </a:spcAft>
              <a:tabLst>
                <a:tab pos="0" algn="l"/>
              </a:tabLst>
            </a:pPr>
            <a:r>
              <a:rPr lang="en-US" sz="950" b="0" u="none" strike="noStrike">
                <a:solidFill>
                  <a:srgbClr val="5A6B7A"/>
                </a:solidFill>
                <a:effectLst/>
                <a:uFillTx/>
                <a:latin typeface="Calibri"/>
              </a:rPr>
              <a:t>Cannot use cloud AI on public networks — data sovereignty is statutory</a:t>
            </a:r>
            <a:endParaRPr lang="pt-BR" sz="950" b="0" u="none" strike="noStrike">
              <a:solidFill>
                <a:srgbClr val="000000"/>
              </a:solidFill>
              <a:effectLst/>
              <a:uFillTx/>
              <a:latin typeface="Arial"/>
            </a:endParaRPr>
          </a:p>
          <a:p>
            <a:pPr defTabSz="914400">
              <a:lnSpc>
                <a:spcPts val="1400"/>
              </a:lnSpc>
              <a:spcAft>
                <a:spcPts val="4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400"/>
              </a:spcAft>
              <a:buClr>
                <a:srgbClr val="000000"/>
              </a:buClr>
              <a:buFont typeface="Symbol" charset="2"/>
              <a:buChar char=""/>
              <a:tabLst>
                <a:tab pos="0" algn="l"/>
              </a:tabLst>
            </a:pPr>
            <a:r>
              <a:rPr lang="en-US" sz="950" b="1" u="none" strike="noStrike">
                <a:solidFill>
                  <a:srgbClr val="000000"/>
                </a:solidFill>
                <a:effectLst/>
                <a:uFillTx/>
                <a:latin typeface="Calibri"/>
              </a:rPr>
              <a:t>Healthcare</a:t>
            </a:r>
            <a:endParaRPr lang="pt-BR" sz="950" b="0" u="none" strike="noStrike">
              <a:solidFill>
                <a:srgbClr val="000000"/>
              </a:solidFill>
              <a:effectLst/>
              <a:uFillTx/>
              <a:latin typeface="Arial"/>
            </a:endParaRPr>
          </a:p>
          <a:p>
            <a:pPr defTabSz="914400">
              <a:lnSpc>
                <a:spcPts val="1400"/>
              </a:lnSpc>
              <a:spcAft>
                <a:spcPts val="400"/>
              </a:spcAft>
              <a:tabLst>
                <a:tab pos="0" algn="l"/>
              </a:tabLst>
            </a:pPr>
            <a:r>
              <a:rPr lang="en-US" sz="950" b="0" u="none" strike="noStrike">
                <a:solidFill>
                  <a:srgbClr val="5A6B7A"/>
                </a:solidFill>
                <a:effectLst/>
                <a:uFillTx/>
                <a:latin typeface="Calibri"/>
              </a:rPr>
              <a:t>Patient data cannot cross borders without explicit contractual basis (LGPD art. 33)</a:t>
            </a:r>
            <a:endParaRPr lang="pt-BR" sz="950" b="0" u="none" strike="noStrike">
              <a:solidFill>
                <a:srgbClr val="000000"/>
              </a:solidFill>
              <a:effectLst/>
              <a:uFillTx/>
              <a:latin typeface="Arial"/>
            </a:endParaRPr>
          </a:p>
          <a:p>
            <a:pPr defTabSz="914400">
              <a:lnSpc>
                <a:spcPts val="1400"/>
              </a:lnSpc>
              <a:spcAft>
                <a:spcPts val="4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400"/>
              </a:spcAft>
              <a:buClr>
                <a:srgbClr val="000000"/>
              </a:buClr>
              <a:buFont typeface="Symbol" charset="2"/>
              <a:buChar char=""/>
              <a:tabLst>
                <a:tab pos="0" algn="l"/>
              </a:tabLst>
            </a:pPr>
            <a:r>
              <a:rPr lang="en-US" sz="950" b="1" u="none" strike="noStrike">
                <a:solidFill>
                  <a:srgbClr val="000000"/>
                </a:solidFill>
                <a:effectLst/>
                <a:uFillTx/>
                <a:latin typeface="Calibri"/>
              </a:rPr>
              <a:t>Finance &amp; Compliance</a:t>
            </a:r>
            <a:endParaRPr lang="pt-BR" sz="950" b="0" u="none" strike="noStrike">
              <a:solidFill>
                <a:srgbClr val="000000"/>
              </a:solidFill>
              <a:effectLst/>
              <a:uFillTx/>
              <a:latin typeface="Arial"/>
            </a:endParaRPr>
          </a:p>
          <a:p>
            <a:pPr defTabSz="914400">
              <a:lnSpc>
                <a:spcPts val="1400"/>
              </a:lnSpc>
              <a:spcAft>
                <a:spcPts val="400"/>
              </a:spcAft>
              <a:tabLst>
                <a:tab pos="0" algn="l"/>
              </a:tabLst>
            </a:pPr>
            <a:r>
              <a:rPr lang="en-US" sz="950" b="0" u="none" strike="noStrike">
                <a:solidFill>
                  <a:srgbClr val="5A6B7A"/>
                </a:solidFill>
                <a:effectLst/>
                <a:uFillTx/>
                <a:latin typeface="Calibri"/>
              </a:rPr>
              <a:t>BACEN and COAF require audit trails and ring-fenced processing</a:t>
            </a:r>
            <a:endParaRPr lang="pt-BR" sz="950" b="0" u="none" strike="noStrike">
              <a:solidFill>
                <a:srgbClr val="000000"/>
              </a:solidFill>
              <a:effectLst/>
              <a:uFillTx/>
              <a:latin typeface="Arial"/>
            </a:endParaRPr>
          </a:p>
          <a:p>
            <a:pPr defTabSz="914400">
              <a:lnSpc>
                <a:spcPts val="1400"/>
              </a:lnSpc>
              <a:spcAft>
                <a:spcPts val="4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400"/>
              </a:spcAft>
              <a:buClr>
                <a:srgbClr val="000000"/>
              </a:buClr>
              <a:buFont typeface="Symbol" charset="2"/>
              <a:buChar char=""/>
              <a:tabLst>
                <a:tab pos="0" algn="l"/>
              </a:tabLst>
            </a:pPr>
            <a:r>
              <a:rPr lang="en-US" sz="950" b="1" u="none" strike="noStrike">
                <a:solidFill>
                  <a:srgbClr val="000000"/>
                </a:solidFill>
                <a:effectLst/>
                <a:uFillTx/>
                <a:latin typeface="Calibri"/>
              </a:rPr>
              <a:t>Power Grid Volatility</a:t>
            </a:r>
            <a:endParaRPr lang="pt-BR" sz="950" b="0" u="none" strike="noStrike">
              <a:solidFill>
                <a:srgbClr val="000000"/>
              </a:solidFill>
              <a:effectLst/>
              <a:uFillTx/>
              <a:latin typeface="Arial"/>
            </a:endParaRPr>
          </a:p>
          <a:p>
            <a:pPr defTabSz="914400">
              <a:lnSpc>
                <a:spcPts val="1400"/>
              </a:lnSpc>
              <a:spcAft>
                <a:spcPts val="400"/>
              </a:spcAft>
              <a:tabLst>
                <a:tab pos="0" algn="l"/>
              </a:tabLst>
            </a:pPr>
            <a:r>
              <a:rPr lang="en-US" sz="950" b="0" u="none" strike="noStrike">
                <a:solidFill>
                  <a:srgbClr val="5A6B7A"/>
                </a:solidFill>
                <a:effectLst/>
                <a:uFillTx/>
                <a:latin typeface="Calibri"/>
              </a:rPr>
              <a:t>Brazilian national grid instability creates operational risk for high-duty AI workloads</a:t>
            </a:r>
            <a:endParaRPr lang="pt-BR" sz="950" b="0" u="none" strike="noStrike">
              <a:solidFill>
                <a:srgbClr val="000000"/>
              </a:solidFill>
              <a:effectLst/>
              <a:uFillTx/>
              <a:latin typeface="Arial"/>
            </a:endParaRPr>
          </a:p>
        </p:txBody>
      </p:sp>
      <p:sp>
        <p:nvSpPr>
          <p:cNvPr id="53" name="Text 5"/>
          <p:cNvSpPr/>
          <p:nvPr/>
        </p:nvSpPr>
        <p:spPr>
          <a:xfrm>
            <a:off x="640080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0B8A9"/>
                </a:solidFill>
                <a:effectLst/>
                <a:uFillTx/>
                <a:latin typeface="Helvetica Neue"/>
                <a:ea typeface="Helvetica Neue"/>
              </a:rPr>
              <a:t>The Entryway</a:t>
            </a:r>
            <a:endParaRPr lang="pt-BR" sz="1400" b="0" u="none" strike="noStrike">
              <a:solidFill>
                <a:srgbClr val="000000"/>
              </a:solidFill>
              <a:effectLst/>
              <a:uFillTx/>
              <a:latin typeface="Arial"/>
            </a:endParaRPr>
          </a:p>
        </p:txBody>
      </p:sp>
      <p:sp>
        <p:nvSpPr>
          <p:cNvPr id="54" name="Shape 6"/>
          <p:cNvSpPr/>
          <p:nvPr/>
        </p:nvSpPr>
        <p:spPr>
          <a:xfrm>
            <a:off x="6400800" y="1920240"/>
            <a:ext cx="5303160" cy="3840120"/>
          </a:xfrm>
          <a:prstGeom prst="rect">
            <a:avLst/>
          </a:prstGeom>
          <a:solidFill>
            <a:srgbClr val="0A1F2E"/>
          </a:solid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55" name="Text 7"/>
          <p:cNvSpPr/>
          <p:nvPr/>
        </p:nvSpPr>
        <p:spPr>
          <a:xfrm>
            <a:off x="6583680" y="2057400"/>
            <a:ext cx="4937400" cy="3565800"/>
          </a:xfrm>
          <a:prstGeom prst="rect">
            <a:avLst/>
          </a:prstGeom>
          <a:noFill/>
          <a:ln w="0">
            <a:noFill/>
          </a:ln>
        </p:spPr>
        <p:style>
          <a:lnRef idx="0"/>
          <a:fillRef idx="0"/>
          <a:effectRef idx="0"/>
          <a:fontRef idx="minor"/>
        </p:style>
        <p:txBody>
          <a:bodyPr lIns="0" tIns="0" rIns="0" bIns="0" anchor="ctr">
            <a:noAutofit/>
          </a:bodyPr>
          <a:p>
            <a:pPr defTabSz="914400">
              <a:lnSpc>
                <a:spcPts val="1500"/>
              </a:lnSpc>
              <a:spcAft>
                <a:spcPts val="300"/>
              </a:spcAft>
              <a:tabLst>
                <a:tab pos="0" algn="l"/>
              </a:tabLst>
            </a:pPr>
            <a:r>
              <a:rPr lang="en-US" sz="1500" b="1" u="none" strike="noStrike">
                <a:solidFill>
                  <a:srgbClr val="00B8A9"/>
                </a:solidFill>
                <a:effectLst/>
                <a:uFillTx/>
                <a:latin typeface="Calibri"/>
              </a:rPr>
              <a:t>A localized, fully sovereign cloud environment</a:t>
            </a:r>
            <a:endParaRPr lang="pt-BR" sz="1500" b="0" u="none" strike="noStrike">
              <a:solidFill>
                <a:srgbClr val="000000"/>
              </a:solidFill>
              <a:effectLst/>
              <a:uFillTx/>
              <a:latin typeface="Arial"/>
            </a:endParaRPr>
          </a:p>
          <a:p>
            <a:pPr defTabSz="914400">
              <a:lnSpc>
                <a:spcPts val="1500"/>
              </a:lnSpc>
              <a:spcAft>
                <a:spcPts val="300"/>
              </a:spcAft>
              <a:tabLst>
                <a:tab pos="0" algn="l"/>
              </a:tabLst>
            </a:pPr>
            <a:r>
              <a:rPr lang="en-US" sz="600" b="0" u="none" strike="noStrike">
                <a:solidFill>
                  <a:srgbClr val="000000"/>
                </a:solidFill>
                <a:effectLst/>
                <a:uFillTx/>
                <a:latin typeface="Calibri"/>
              </a:rPr>
              <a:t> </a:t>
            </a:r>
            <a:endParaRPr lang="pt-BR" sz="600" b="0" u="none" strike="noStrike">
              <a:solidFill>
                <a:srgbClr val="000000"/>
              </a:solidFill>
              <a:effectLst/>
              <a:uFillTx/>
              <a:latin typeface="Arial"/>
            </a:endParaRPr>
          </a:p>
          <a:p>
            <a:pPr defTabSz="914400">
              <a:lnSpc>
                <a:spcPts val="1500"/>
              </a:lnSpc>
              <a:spcAft>
                <a:spcPts val="300"/>
              </a:spcAft>
              <a:tabLst>
                <a:tab pos="0" algn="l"/>
              </a:tabLst>
            </a:pPr>
            <a:r>
              <a:rPr lang="en-US" sz="1100" b="0" u="none" strike="noStrike">
                <a:solidFill>
                  <a:srgbClr val="B0C8D8"/>
                </a:solidFill>
                <a:effectLst/>
                <a:uFillTx/>
                <a:latin typeface="Calibri"/>
              </a:rPr>
              <a:t>Built by design to fulfill:</a:t>
            </a:r>
            <a:endParaRPr lang="pt-BR" sz="110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B0C8D8"/>
                </a:solidFill>
                <a:effectLst/>
                <a:uFillTx/>
                <a:latin typeface="Calibri"/>
              </a:rPr>
              <a:t>  • Strict statutory data residency (LGPD)</a:t>
            </a:r>
            <a:endParaRPr lang="pt-BR" sz="105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B0C8D8"/>
                </a:solidFill>
                <a:effectLst/>
                <a:uFillTx/>
                <a:latin typeface="Calibri"/>
              </a:rPr>
              <a:t>  • Absolute data isolation and audit trail</a:t>
            </a:r>
            <a:endParaRPr lang="pt-BR" sz="105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B0C8D8"/>
                </a:solidFill>
                <a:effectLst/>
                <a:uFillTx/>
                <a:latin typeface="Calibri"/>
              </a:rPr>
              <a:t>  • Environmental (ESG) mandates — carbon-free</a:t>
            </a:r>
            <a:endParaRPr lang="pt-BR" sz="105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B0C8D8"/>
                </a:solidFill>
                <a:effectLst/>
                <a:uFillTx/>
                <a:latin typeface="Calibri"/>
              </a:rPr>
              <a:t>  • Energy independence from public grid</a:t>
            </a:r>
            <a:endParaRPr lang="pt-BR" sz="1050" b="0" u="none" strike="noStrike">
              <a:solidFill>
                <a:srgbClr val="000000"/>
              </a:solidFill>
              <a:effectLst/>
              <a:uFillTx/>
              <a:latin typeface="Arial"/>
            </a:endParaRPr>
          </a:p>
          <a:p>
            <a:pPr defTabSz="914400">
              <a:lnSpc>
                <a:spcPts val="1500"/>
              </a:lnSpc>
              <a:spcAft>
                <a:spcPts val="300"/>
              </a:spcAft>
              <a:tabLst>
                <a:tab pos="0" algn="l"/>
              </a:tabLst>
            </a:pPr>
            <a:r>
              <a:rPr lang="en-US" sz="600" b="0" u="none" strike="noStrike">
                <a:solidFill>
                  <a:srgbClr val="000000"/>
                </a:solidFill>
                <a:effectLst/>
                <a:uFillTx/>
                <a:latin typeface="Calibri"/>
              </a:rPr>
              <a:t> </a:t>
            </a:r>
            <a:endParaRPr lang="pt-BR" sz="600" b="0" u="none" strike="noStrike">
              <a:solidFill>
                <a:srgbClr val="000000"/>
              </a:solidFill>
              <a:effectLst/>
              <a:uFillTx/>
              <a:latin typeface="Arial"/>
            </a:endParaRPr>
          </a:p>
          <a:p>
            <a:pPr defTabSz="914400">
              <a:lnSpc>
                <a:spcPts val="1500"/>
              </a:lnSpc>
              <a:spcAft>
                <a:spcPts val="300"/>
              </a:spcAft>
              <a:tabLst>
                <a:tab pos="0" algn="l"/>
              </a:tabLst>
            </a:pPr>
            <a:r>
              <a:rPr lang="en-US" sz="1100" b="0" u="none" strike="noStrike">
                <a:solidFill>
                  <a:srgbClr val="B0C8D8"/>
                </a:solidFill>
                <a:effectLst/>
                <a:uFillTx/>
                <a:latin typeface="Calibri"/>
              </a:rPr>
              <a:t>Powered by:</a:t>
            </a:r>
            <a:endParaRPr lang="pt-BR" sz="110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E8C847"/>
                </a:solidFill>
                <a:effectLst/>
                <a:uFillTx/>
                <a:latin typeface="Calibri"/>
              </a:rPr>
              <a:t>  • Tencent Hunyuan/Hy4 compute architecture</a:t>
            </a:r>
            <a:endParaRPr lang="pt-BR" sz="105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E8C847"/>
                </a:solidFill>
                <a:effectLst/>
                <a:uFillTx/>
                <a:latin typeface="Calibri"/>
              </a:rPr>
              <a:t>  • Beans Tech regulated AI verticals (production-ready)</a:t>
            </a:r>
            <a:endParaRPr lang="pt-BR" sz="1050" b="0" u="none" strike="noStrike">
              <a:solidFill>
                <a:srgbClr val="000000"/>
              </a:solidFill>
              <a:effectLst/>
              <a:uFillTx/>
              <a:latin typeface="Arial"/>
            </a:endParaRPr>
          </a:p>
          <a:p>
            <a:pPr defTabSz="914400">
              <a:lnSpc>
                <a:spcPts val="1500"/>
              </a:lnSpc>
              <a:spcAft>
                <a:spcPts val="300"/>
              </a:spcAft>
              <a:tabLst>
                <a:tab pos="0" algn="l"/>
              </a:tabLst>
            </a:pPr>
            <a:r>
              <a:rPr lang="en-US" sz="1050" b="0" u="none" strike="noStrike">
                <a:solidFill>
                  <a:srgbClr val="E8C847"/>
                </a:solidFill>
                <a:effectLst/>
                <a:uFillTx/>
                <a:latin typeface="Calibri"/>
              </a:rPr>
              <a:t>  • hy.cloud autonomous eco-infrastructure</a:t>
            </a:r>
            <a:endParaRPr lang="pt-BR" sz="1050" b="0" u="none" strike="noStrike">
              <a:solidFill>
                <a:srgbClr val="000000"/>
              </a:solidFill>
              <a:effectLst/>
              <a:uFillTx/>
              <a:latin typeface="Arial"/>
            </a:endParaRPr>
          </a:p>
        </p:txBody>
      </p:sp>
      <p:sp>
        <p:nvSpPr>
          <p:cNvPr id="56" name="Text 8"/>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57" name="Text 9"/>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3</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The 4 Regulated AI Verticals</a:t>
            </a:r>
            <a:endParaRPr lang="pt-BR" sz="2800" b="0" u="none" strike="noStrike">
              <a:solidFill>
                <a:srgbClr val="000000"/>
              </a:solidFill>
              <a:effectLst/>
              <a:uFillTx/>
              <a:latin typeface="Arial"/>
            </a:endParaRPr>
          </a:p>
        </p:txBody>
      </p:sp>
      <p:sp>
        <p:nvSpPr>
          <p:cNvPr id="59"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Instant monetization — Tencent compute paired with production-ready AI engines</a:t>
            </a:r>
            <a:endParaRPr lang="pt-BR" sz="1300" b="0" u="none" strike="noStrike">
              <a:solidFill>
                <a:srgbClr val="000000"/>
              </a:solidFill>
              <a:effectLst/>
              <a:uFillTx/>
              <a:latin typeface="Arial"/>
            </a:endParaRPr>
          </a:p>
        </p:txBody>
      </p:sp>
      <p:sp>
        <p:nvSpPr>
          <p:cNvPr id="60"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sp>
        <p:nvSpPr>
          <p:cNvPr id="61" name="Shape 3"/>
          <p:cNvSpPr/>
          <p:nvPr/>
        </p:nvSpPr>
        <p:spPr>
          <a:xfrm>
            <a:off x="502920" y="1554480"/>
            <a:ext cx="5394600" cy="21027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62" name="Text 4"/>
          <p:cNvSpPr/>
          <p:nvPr/>
        </p:nvSpPr>
        <p:spPr>
          <a:xfrm>
            <a:off x="731520" y="1691640"/>
            <a:ext cx="4937400" cy="18284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300"/>
              </a:spcAft>
              <a:tabLst>
                <a:tab pos="0" algn="l"/>
              </a:tabLst>
            </a:pPr>
            <a:r>
              <a:rPr lang="en-US" sz="1400" b="1" u="none" strike="noStrike">
                <a:solidFill>
                  <a:srgbClr val="0A1F2E"/>
                </a:solidFill>
                <a:effectLst/>
                <a:uFillTx/>
                <a:latin typeface="Calibri"/>
              </a:rPr>
              <a:t>⚖️ Legal &amp; Compliance</a:t>
            </a:r>
            <a:endParaRPr lang="pt-BR" sz="1400" b="0" u="none" strike="noStrike">
              <a:solidFill>
                <a:srgbClr val="000000"/>
              </a:solidFill>
              <a:effectLst/>
              <a:uFillTx/>
              <a:latin typeface="Arial"/>
            </a:endParaRPr>
          </a:p>
          <a:p>
            <a:pPr defTabSz="914400">
              <a:lnSpc>
                <a:spcPts val="1301"/>
              </a:lnSpc>
              <a:spcAft>
                <a:spcPts val="300"/>
              </a:spcAft>
              <a:tabLst>
                <a:tab pos="0" algn="l"/>
              </a:tabLst>
            </a:pPr>
            <a:r>
              <a:rPr lang="en-US" sz="1000" b="0" i="1" u="none" strike="noStrike">
                <a:solidFill>
                  <a:srgbClr val="2E6FAF"/>
                </a:solidFill>
                <a:effectLst/>
                <a:uFillTx/>
                <a:latin typeface="Calibri"/>
              </a:rPr>
              <a:t>ragjur.ai · legalsuite.tech</a:t>
            </a:r>
            <a:endParaRPr lang="pt-BR" sz="100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950" b="0" u="none" strike="noStrike">
                <a:solidFill>
                  <a:srgbClr val="5A6B7A"/>
                </a:solidFill>
                <a:effectLst/>
                <a:uFillTx/>
                <a:latin typeface="Calibri"/>
              </a:rPr>
              <a:t>Multi-jurisdictional RAG engines · anti-hallucination decision support · 77M+ indexed court decisions · auditable judicial compliance</a:t>
            </a:r>
            <a:endParaRPr lang="pt-BR" sz="95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1000" b="1" u="none" strike="noStrike">
                <a:solidFill>
                  <a:srgbClr val="00B8A9"/>
                </a:solidFill>
                <a:effectLst/>
                <a:uFillTx/>
                <a:latin typeface="Calibri"/>
              </a:rPr>
              <a:t>1.2M attorneys · R$ 80B/yr</a:t>
            </a:r>
            <a:endParaRPr lang="pt-BR" sz="1000" b="0" u="none" strike="noStrike">
              <a:solidFill>
                <a:srgbClr val="000000"/>
              </a:solidFill>
              <a:effectLst/>
              <a:uFillTx/>
              <a:latin typeface="Arial"/>
            </a:endParaRPr>
          </a:p>
        </p:txBody>
      </p:sp>
      <p:sp>
        <p:nvSpPr>
          <p:cNvPr id="63" name="Shape 5"/>
          <p:cNvSpPr/>
          <p:nvPr/>
        </p:nvSpPr>
        <p:spPr>
          <a:xfrm>
            <a:off x="6126480" y="1554480"/>
            <a:ext cx="5394600" cy="21027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64" name="Text 6"/>
          <p:cNvSpPr/>
          <p:nvPr/>
        </p:nvSpPr>
        <p:spPr>
          <a:xfrm>
            <a:off x="6355080" y="1691640"/>
            <a:ext cx="4937400" cy="18284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300"/>
              </a:spcAft>
              <a:tabLst>
                <a:tab pos="0" algn="l"/>
              </a:tabLst>
            </a:pPr>
            <a:r>
              <a:rPr lang="en-US" sz="1400" b="1" u="none" strike="noStrike">
                <a:solidFill>
                  <a:srgbClr val="0A1F2E"/>
                </a:solidFill>
                <a:effectLst/>
                <a:uFillTx/>
                <a:latin typeface="Calibri"/>
              </a:rPr>
              <a:t>🛡️ Compliance / RegTech</a:t>
            </a:r>
            <a:endParaRPr lang="pt-BR" sz="1400" b="0" u="none" strike="noStrike">
              <a:solidFill>
                <a:srgbClr val="000000"/>
              </a:solidFill>
              <a:effectLst/>
              <a:uFillTx/>
              <a:latin typeface="Arial"/>
            </a:endParaRPr>
          </a:p>
          <a:p>
            <a:pPr defTabSz="914400">
              <a:lnSpc>
                <a:spcPts val="1301"/>
              </a:lnSpc>
              <a:spcAft>
                <a:spcPts val="300"/>
              </a:spcAft>
              <a:tabLst>
                <a:tab pos="0" algn="l"/>
              </a:tabLst>
            </a:pPr>
            <a:r>
              <a:rPr lang="en-US" sz="1000" b="0" i="1" u="none" strike="noStrike">
                <a:solidFill>
                  <a:srgbClr val="2E6FAF"/>
                </a:solidFill>
                <a:effectLst/>
                <a:uFillTx/>
                <a:latin typeface="Calibri"/>
              </a:rPr>
              <a:t>pldbr.tech · beansbank</a:t>
            </a:r>
            <a:endParaRPr lang="pt-BR" sz="100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950" b="0" u="none" strike="noStrike">
                <a:solidFill>
                  <a:srgbClr val="5A6B7A"/>
                </a:solidFill>
                <a:effectLst/>
                <a:uFillTx/>
                <a:latin typeface="Calibri"/>
              </a:rPr>
              <a:t>Automated governance, AML, regulatory monitoring · SAR narrative generation · complex Latin American legal frameworks</a:t>
            </a:r>
            <a:endParaRPr lang="pt-BR" sz="95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1000" b="1" u="none" strike="noStrike">
                <a:solidFill>
                  <a:srgbClr val="00B8A9"/>
                </a:solidFill>
                <a:effectLst/>
                <a:uFillTx/>
                <a:latin typeface="Calibri"/>
              </a:rPr>
              <a:t>740 institutions · R$ 12B/yr</a:t>
            </a:r>
            <a:endParaRPr lang="pt-BR" sz="1000" b="0" u="none" strike="noStrike">
              <a:solidFill>
                <a:srgbClr val="000000"/>
              </a:solidFill>
              <a:effectLst/>
              <a:uFillTx/>
              <a:latin typeface="Arial"/>
            </a:endParaRPr>
          </a:p>
        </p:txBody>
      </p:sp>
      <p:sp>
        <p:nvSpPr>
          <p:cNvPr id="65" name="Shape 7"/>
          <p:cNvSpPr/>
          <p:nvPr/>
        </p:nvSpPr>
        <p:spPr>
          <a:xfrm>
            <a:off x="502920" y="3931920"/>
            <a:ext cx="5394600" cy="21027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66" name="Text 8"/>
          <p:cNvSpPr/>
          <p:nvPr/>
        </p:nvSpPr>
        <p:spPr>
          <a:xfrm>
            <a:off x="731520" y="4069080"/>
            <a:ext cx="4937400" cy="18284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300"/>
              </a:spcAft>
              <a:tabLst>
                <a:tab pos="0" algn="l"/>
              </a:tabLst>
            </a:pPr>
            <a:r>
              <a:rPr lang="en-US" sz="1400" b="1" u="none" strike="noStrike">
                <a:solidFill>
                  <a:srgbClr val="0A1F2E"/>
                </a:solidFill>
                <a:effectLst/>
                <a:uFillTx/>
                <a:latin typeface="Calibri"/>
              </a:rPr>
              <a:t>🏥 Healthcare</a:t>
            </a:r>
            <a:endParaRPr lang="pt-BR" sz="1400" b="0" u="none" strike="noStrike">
              <a:solidFill>
                <a:srgbClr val="000000"/>
              </a:solidFill>
              <a:effectLst/>
              <a:uFillTx/>
              <a:latin typeface="Arial"/>
            </a:endParaRPr>
          </a:p>
          <a:p>
            <a:pPr defTabSz="914400">
              <a:lnSpc>
                <a:spcPts val="1301"/>
              </a:lnSpc>
              <a:spcAft>
                <a:spcPts val="300"/>
              </a:spcAft>
              <a:tabLst>
                <a:tab pos="0" algn="l"/>
              </a:tabLst>
            </a:pPr>
            <a:r>
              <a:rPr lang="en-US" sz="1000" b="0" i="1" u="none" strike="noStrike">
                <a:solidFill>
                  <a:srgbClr val="2E6FAF"/>
                </a:solidFill>
                <a:effectLst/>
                <a:uFillTx/>
                <a:latin typeface="Calibri"/>
              </a:rPr>
              <a:t>dodr.ai · ragmed.ai</a:t>
            </a:r>
            <a:endParaRPr lang="pt-BR" sz="100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950" b="0" u="none" strike="noStrike">
                <a:solidFill>
                  <a:srgbClr val="5A6B7A"/>
                </a:solidFill>
                <a:effectLst/>
                <a:uFillTx/>
                <a:latin typeface="Calibri"/>
              </a:rPr>
              <a:t>Ring-fenced clinical environments · sovereign processing of medical records · clinical decision support with audit trail</a:t>
            </a:r>
            <a:endParaRPr lang="pt-BR" sz="95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1000" b="1" u="none" strike="noStrike">
                <a:solidFill>
                  <a:srgbClr val="00B8A9"/>
                </a:solidFill>
                <a:effectLst/>
                <a:uFillTx/>
                <a:latin typeface="Calibri"/>
              </a:rPr>
              <a:t>550k physicians · R$ 4.4B/yr</a:t>
            </a:r>
            <a:endParaRPr lang="pt-BR" sz="1000" b="0" u="none" strike="noStrike">
              <a:solidFill>
                <a:srgbClr val="000000"/>
              </a:solidFill>
              <a:effectLst/>
              <a:uFillTx/>
              <a:latin typeface="Arial"/>
            </a:endParaRPr>
          </a:p>
        </p:txBody>
      </p:sp>
      <p:sp>
        <p:nvSpPr>
          <p:cNvPr id="67" name="Shape 9"/>
          <p:cNvSpPr/>
          <p:nvPr/>
        </p:nvSpPr>
        <p:spPr>
          <a:xfrm>
            <a:off x="6126480" y="3931920"/>
            <a:ext cx="5394600" cy="2102760"/>
          </a:xfrm>
          <a:prstGeom prst="rect">
            <a:avLst/>
          </a:prstGeom>
          <a:solidFill>
            <a:srgbClr val="F0F5F7"/>
          </a:solidFill>
          <a:ln w="12700">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68" name="Text 10"/>
          <p:cNvSpPr/>
          <p:nvPr/>
        </p:nvSpPr>
        <p:spPr>
          <a:xfrm>
            <a:off x="6355080" y="4069080"/>
            <a:ext cx="4937400" cy="18284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300"/>
              </a:spcAft>
              <a:tabLst>
                <a:tab pos="0" algn="l"/>
              </a:tabLst>
            </a:pPr>
            <a:r>
              <a:rPr lang="en-US" sz="1400" b="1" u="none" strike="noStrike">
                <a:solidFill>
                  <a:srgbClr val="0A1F2E"/>
                </a:solidFill>
                <a:effectLst/>
                <a:uFillTx/>
                <a:latin typeface="Calibri"/>
              </a:rPr>
              <a:t>🏢 Real Estate</a:t>
            </a:r>
            <a:endParaRPr lang="pt-BR" sz="1400" b="0" u="none" strike="noStrike">
              <a:solidFill>
                <a:srgbClr val="000000"/>
              </a:solidFill>
              <a:effectLst/>
              <a:uFillTx/>
              <a:latin typeface="Arial"/>
            </a:endParaRPr>
          </a:p>
          <a:p>
            <a:pPr defTabSz="914400">
              <a:lnSpc>
                <a:spcPts val="1301"/>
              </a:lnSpc>
              <a:spcAft>
                <a:spcPts val="300"/>
              </a:spcAft>
              <a:tabLst>
                <a:tab pos="0" algn="l"/>
              </a:tabLst>
            </a:pPr>
            <a:r>
              <a:rPr lang="en-US" sz="1000" b="0" i="1" u="none" strike="noStrike">
                <a:solidFill>
                  <a:srgbClr val="2E6FAF"/>
                </a:solidFill>
                <a:effectLst/>
                <a:uFillTx/>
                <a:latin typeface="Calibri"/>
              </a:rPr>
              <a:t>alirealty.com.br · proptechbr.ai</a:t>
            </a:r>
            <a:endParaRPr lang="pt-BR" sz="100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950" b="0" u="none" strike="noStrike">
                <a:solidFill>
                  <a:srgbClr val="5A6B7A"/>
                </a:solidFill>
                <a:effectLst/>
                <a:uFillTx/>
                <a:latin typeface="Calibri"/>
              </a:rPr>
              <a:t>Intelligent transaction auditing · compliance engines for high-value asset acquisitions · document analysis at scale</a:t>
            </a:r>
            <a:endParaRPr lang="pt-BR" sz="950" b="0" u="none" strike="noStrike">
              <a:solidFill>
                <a:srgbClr val="000000"/>
              </a:solidFill>
              <a:effectLst/>
              <a:uFillTx/>
              <a:latin typeface="Arial"/>
            </a:endParaRPr>
          </a:p>
          <a:p>
            <a:pPr defTabSz="914400">
              <a:lnSpc>
                <a:spcPts val="1301"/>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defTabSz="914400">
              <a:lnSpc>
                <a:spcPts val="1301"/>
              </a:lnSpc>
              <a:spcAft>
                <a:spcPts val="300"/>
              </a:spcAft>
              <a:tabLst>
                <a:tab pos="0" algn="l"/>
              </a:tabLst>
            </a:pPr>
            <a:r>
              <a:rPr lang="en-US" sz="1000" b="1" u="none" strike="noStrike">
                <a:solidFill>
                  <a:srgbClr val="00B8A9"/>
                </a:solidFill>
                <a:effectLst/>
                <a:uFillTx/>
                <a:latin typeface="Calibri"/>
              </a:rPr>
              <a:t>R$ 15B/yr (proptech)</a:t>
            </a:r>
            <a:endParaRPr lang="pt-BR" sz="1000" b="0" u="none" strike="noStrike">
              <a:solidFill>
                <a:srgbClr val="000000"/>
              </a:solidFill>
              <a:effectLst/>
              <a:uFillTx/>
              <a:latin typeface="Arial"/>
            </a:endParaRPr>
          </a:p>
        </p:txBody>
      </p:sp>
      <p:sp>
        <p:nvSpPr>
          <p:cNvPr id="69" name="Text 11"/>
          <p:cNvSpPr/>
          <p:nvPr/>
        </p:nvSpPr>
        <p:spPr>
          <a:xfrm>
            <a:off x="502920" y="6199560"/>
            <a:ext cx="11182680" cy="319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50" b="1" u="none" strike="noStrike">
                <a:solidFill>
                  <a:srgbClr val="0A1F2E"/>
                </a:solidFill>
                <a:effectLst/>
                <a:uFillTx/>
                <a:latin typeface="Helvetica Neue"/>
                <a:ea typeface="Helvetica Neue"/>
              </a:rPr>
              <a:t>All verticals share: the same model engine (Hunyuan/Hy4) · the same identity (OIDC) · the same compliance stack · the same principle — prove what you answer.</a:t>
            </a:r>
            <a:endParaRPr lang="pt-BR" sz="950" b="0" u="none" strike="noStrike">
              <a:solidFill>
                <a:srgbClr val="000000"/>
              </a:solidFill>
              <a:effectLst/>
              <a:uFillTx/>
              <a:latin typeface="Arial"/>
            </a:endParaRPr>
          </a:p>
        </p:txBody>
      </p:sp>
      <p:sp>
        <p:nvSpPr>
          <p:cNvPr id="70" name="Text 12"/>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71" name="Text 13"/>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4</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F2E"/>
        </a:solidFill>
      </p:bgPr>
    </p:bg>
    <p:spTree>
      <p:nvGrpSpPr>
        <p:cNvPr id="1" name=""/>
        <p:cNvGrpSpPr/>
        <p:nvPr/>
      </p:nvGrpSpPr>
      <p:grpSpPr>
        <a:xfrm>
          <a:off x="0" y="0"/>
          <a:ext cx="0" cy="0"/>
          <a:chOff x="0" y="0"/>
          <a:chExt cx="0" cy="0"/>
        </a:xfrm>
      </p:grpSpPr>
      <p:sp>
        <p:nvSpPr>
          <p:cNvPr id="72"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0B8A9"/>
                </a:solidFill>
                <a:effectLst/>
                <a:uFillTx/>
                <a:latin typeface="Helvetica Neue"/>
                <a:ea typeface="Helvetica Neue"/>
              </a:rPr>
              <a:t>The "hy" Model — Infrastructure Blueprint</a:t>
            </a:r>
            <a:endParaRPr lang="pt-BR" sz="2800" b="0" u="none" strike="noStrike">
              <a:solidFill>
                <a:srgbClr val="FFFFFF"/>
              </a:solidFill>
              <a:effectLst/>
              <a:uFillTx/>
              <a:latin typeface="Arial"/>
            </a:endParaRPr>
          </a:p>
        </p:txBody>
      </p:sp>
      <p:sp>
        <p:nvSpPr>
          <p:cNvPr id="73"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8FC0D0"/>
                </a:solidFill>
                <a:effectLst/>
                <a:uFillTx/>
                <a:latin typeface="Helvetica Neue"/>
                <a:ea typeface="Helvetica Neue"/>
              </a:rPr>
              <a:t>Complete sovereignty: logical, physical, and energy independence</a:t>
            </a:r>
            <a:endParaRPr lang="pt-BR" sz="1300" b="0" u="none" strike="noStrike">
              <a:solidFill>
                <a:srgbClr val="FFFFFF"/>
              </a:solidFill>
              <a:effectLst/>
              <a:uFillTx/>
              <a:latin typeface="Arial"/>
            </a:endParaRPr>
          </a:p>
        </p:txBody>
      </p:sp>
      <p:sp>
        <p:nvSpPr>
          <p:cNvPr id="74"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FFFFFF"/>
              </a:solidFill>
              <a:effectLst/>
              <a:uFillTx/>
              <a:latin typeface="Arial"/>
            </a:endParaRPr>
          </a:p>
        </p:txBody>
      </p:sp>
      <p:sp>
        <p:nvSpPr>
          <p:cNvPr id="75" name="Text 3"/>
          <p:cNvSpPr/>
          <p:nvPr/>
        </p:nvSpPr>
        <p:spPr>
          <a:xfrm>
            <a:off x="50292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0B8A9"/>
                </a:solidFill>
                <a:effectLst/>
                <a:uFillTx/>
                <a:latin typeface="Helvetica Neue"/>
                <a:ea typeface="Helvetica Neue"/>
              </a:rPr>
              <a:t>HY-per-Secure Hybridization</a:t>
            </a:r>
            <a:endParaRPr lang="pt-BR" sz="1400" b="0" u="none" strike="noStrike">
              <a:solidFill>
                <a:srgbClr val="FFFFFF"/>
              </a:solidFill>
              <a:effectLst/>
              <a:uFillTx/>
              <a:latin typeface="Arial"/>
            </a:endParaRPr>
          </a:p>
        </p:txBody>
      </p:sp>
      <p:sp>
        <p:nvSpPr>
          <p:cNvPr id="76" name="Shape 4"/>
          <p:cNvSpPr/>
          <p:nvPr/>
        </p:nvSpPr>
        <p:spPr>
          <a:xfrm>
            <a:off x="502920" y="1920240"/>
            <a:ext cx="5303160" cy="2285640"/>
          </a:xfrm>
          <a:prstGeom prst="rect">
            <a:avLst/>
          </a:prstGeom>
          <a:solidFill>
            <a:srgbClr val="0D2839"/>
          </a:solid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77" name="Text 5"/>
          <p:cNvSpPr/>
          <p:nvPr/>
        </p:nvSpPr>
        <p:spPr>
          <a:xfrm>
            <a:off x="731520" y="2057400"/>
            <a:ext cx="4845960" cy="201132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601"/>
              </a:spcAft>
              <a:buClr>
                <a:srgbClr val="B0C8D8"/>
              </a:buClr>
              <a:buFont typeface="Wingdings 3" charset="2"/>
              <a:buChar char=""/>
            </a:pPr>
            <a:r>
              <a:rPr lang="en-US" sz="1050" b="0" u="none" strike="noStrike">
                <a:solidFill>
                  <a:srgbClr val="B0C8D8"/>
                </a:solidFill>
                <a:effectLst/>
                <a:uFillTx/>
                <a:latin typeface="Calibri"/>
              </a:rPr>
              <a:t>Complete logical and physical segregation of institutional data</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B0C8D8"/>
              </a:buClr>
              <a:buFont typeface="Wingdings 3" charset="2"/>
              <a:buChar char=""/>
            </a:pPr>
            <a:r>
              <a:rPr lang="en-US" sz="1050" b="0" u="none" strike="noStrike">
                <a:solidFill>
                  <a:srgbClr val="B0C8D8"/>
                </a:solidFill>
                <a:effectLst/>
                <a:uFillTx/>
                <a:latin typeface="Calibri"/>
              </a:rPr>
              <a:t>Absolute data sovereignty — inference data terminates within local hardware boundaries</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B0C8D8"/>
              </a:buClr>
              <a:buFont typeface="Wingdings 3" charset="2"/>
              <a:buChar char=""/>
            </a:pPr>
            <a:r>
              <a:rPr lang="en-US" sz="1050" b="0" u="none" strike="noStrike">
                <a:solidFill>
                  <a:srgbClr val="B0C8D8"/>
                </a:solidFill>
                <a:effectLst/>
                <a:uFillTx/>
                <a:latin typeface="Calibri"/>
              </a:rPr>
              <a:t>Ring-fenced enclaves per vertical (Legal, Compliance, Health, Real Estate)</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E8C847"/>
              </a:buClr>
              <a:buFont typeface="Wingdings 3" charset="2"/>
              <a:buChar char=""/>
            </a:pPr>
            <a:r>
              <a:rPr lang="en-US" sz="1050" b="0" u="none" strike="noStrike">
                <a:solidFill>
                  <a:srgbClr val="E8C847"/>
                </a:solidFill>
                <a:effectLst/>
                <a:uFillTx/>
                <a:latin typeface="Calibri"/>
              </a:rPr>
              <a:t>LGPD statutory isolation satisfied by architectural design, not contract amendment</a:t>
            </a:r>
            <a:endParaRPr lang="pt-BR" sz="1050" b="0" u="none" strike="noStrike">
              <a:solidFill>
                <a:srgbClr val="FFFFFF"/>
              </a:solidFill>
              <a:effectLst/>
              <a:uFillTx/>
              <a:latin typeface="Arial"/>
            </a:endParaRPr>
          </a:p>
        </p:txBody>
      </p:sp>
      <p:sp>
        <p:nvSpPr>
          <p:cNvPr id="78" name="Text 6"/>
          <p:cNvSpPr/>
          <p:nvPr/>
        </p:nvSpPr>
        <p:spPr>
          <a:xfrm>
            <a:off x="640080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0B8A9"/>
                </a:solidFill>
                <a:effectLst/>
                <a:uFillTx/>
                <a:latin typeface="Helvetica Neue"/>
                <a:ea typeface="Helvetica Neue"/>
              </a:rPr>
              <a:t>HY-dro-Solar Autonomy</a:t>
            </a:r>
            <a:endParaRPr lang="pt-BR" sz="1400" b="0" u="none" strike="noStrike">
              <a:solidFill>
                <a:srgbClr val="FFFFFF"/>
              </a:solidFill>
              <a:effectLst/>
              <a:uFillTx/>
              <a:latin typeface="Arial"/>
            </a:endParaRPr>
          </a:p>
        </p:txBody>
      </p:sp>
      <p:sp>
        <p:nvSpPr>
          <p:cNvPr id="79" name="Shape 7"/>
          <p:cNvSpPr/>
          <p:nvPr/>
        </p:nvSpPr>
        <p:spPr>
          <a:xfrm>
            <a:off x="6400800" y="1920240"/>
            <a:ext cx="5303160" cy="2285640"/>
          </a:xfrm>
          <a:prstGeom prst="rect">
            <a:avLst/>
          </a:prstGeom>
          <a:solidFill>
            <a:srgbClr val="0D2839"/>
          </a:solidFill>
          <a:ln w="1270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80" name="Text 8"/>
          <p:cNvSpPr/>
          <p:nvPr/>
        </p:nvSpPr>
        <p:spPr>
          <a:xfrm>
            <a:off x="6629400" y="2057400"/>
            <a:ext cx="4845960" cy="201132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601"/>
              </a:spcAft>
              <a:buClr>
                <a:srgbClr val="B0C8D8"/>
              </a:buClr>
              <a:buFont typeface="Wingdings 3" charset="2"/>
              <a:buChar char=""/>
            </a:pPr>
            <a:r>
              <a:rPr lang="en-US" sz="1050" b="0" u="none" strike="noStrike">
                <a:solidFill>
                  <a:srgbClr val="B0C8D8"/>
                </a:solidFill>
                <a:effectLst/>
                <a:uFillTx/>
                <a:latin typeface="Calibri"/>
              </a:rPr>
              <a:t>100% off-grid — zero connection to public power grid</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B0C8D8"/>
              </a:buClr>
              <a:buFont typeface="Wingdings 3" charset="2"/>
              <a:buChar char=""/>
            </a:pPr>
            <a:r>
              <a:rPr lang="en-US" sz="1050" b="0" u="none" strike="noStrike">
                <a:solidFill>
                  <a:srgbClr val="B0C8D8"/>
                </a:solidFill>
                <a:effectLst/>
                <a:uFillTx/>
                <a:latin typeface="Calibri"/>
              </a:rPr>
              <a:t>Dedicated photovoltaic solar plant on owned land</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B0C8D8"/>
              </a:buClr>
              <a:buFont typeface="Wingdings 3" charset="2"/>
              <a:buChar char=""/>
            </a:pPr>
            <a:r>
              <a:rPr lang="en-US" sz="1050" b="0" u="none" strike="noStrike">
                <a:solidFill>
                  <a:srgbClr val="B0C8D8"/>
                </a:solidFill>
                <a:effectLst/>
                <a:uFillTx/>
                <a:latin typeface="Calibri"/>
              </a:rPr>
              <a:t>High-throughput satellite transmission backup</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E8C847"/>
              </a:buClr>
              <a:buFont typeface="Wingdings 3" charset="2"/>
              <a:buChar char=""/>
            </a:pPr>
            <a:r>
              <a:rPr lang="en-US" sz="1050" b="0" u="none" strike="noStrike">
                <a:solidFill>
                  <a:srgbClr val="E8C847"/>
                </a:solidFill>
                <a:effectLst/>
                <a:uFillTx/>
                <a:latin typeface="Calibri"/>
              </a:rPr>
              <a:t>Carbon-free processing — ESG-auditable, zero-carbon per GPU-hour</a:t>
            </a:r>
            <a:endParaRPr lang="pt-BR" sz="1050" b="0" u="none" strike="noStrike">
              <a:solidFill>
                <a:srgbClr val="FFFFFF"/>
              </a:solidFill>
              <a:effectLst/>
              <a:uFillTx/>
              <a:latin typeface="Arial"/>
            </a:endParaRPr>
          </a:p>
          <a:p>
            <a:pPr marL="127080" indent="-127080" defTabSz="914400">
              <a:lnSpc>
                <a:spcPts val="1400"/>
              </a:lnSpc>
              <a:spcAft>
                <a:spcPts val="601"/>
              </a:spcAft>
              <a:buClr>
                <a:srgbClr val="E8C847"/>
              </a:buClr>
              <a:buFont typeface="Wingdings 3" charset="2"/>
              <a:buChar char=""/>
            </a:pPr>
            <a:r>
              <a:rPr lang="en-US" sz="1050" b="0" u="none" strike="noStrike">
                <a:solidFill>
                  <a:srgbClr val="E8C847"/>
                </a:solidFill>
                <a:effectLst/>
                <a:uFillTx/>
                <a:latin typeface="Calibri"/>
              </a:rPr>
              <a:t>Complete insulation from public grid failures and energy price volatility</a:t>
            </a:r>
            <a:endParaRPr lang="pt-BR" sz="1050" b="0" u="none" strike="noStrike">
              <a:solidFill>
                <a:srgbClr val="FFFFFF"/>
              </a:solidFill>
              <a:effectLst/>
              <a:uFillTx/>
              <a:latin typeface="Arial"/>
            </a:endParaRPr>
          </a:p>
        </p:txBody>
      </p:sp>
      <p:sp>
        <p:nvSpPr>
          <p:cNvPr id="81" name="Text 9"/>
          <p:cNvSpPr/>
          <p:nvPr/>
        </p:nvSpPr>
        <p:spPr>
          <a:xfrm>
            <a:off x="502920" y="4389120"/>
            <a:ext cx="54860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0B8A9"/>
                </a:solidFill>
                <a:effectLst/>
                <a:uFillTx/>
                <a:latin typeface="Helvetica Neue"/>
                <a:ea typeface="Helvetica Neue"/>
              </a:rPr>
              <a:t>The Dual-Hub Deployment Model</a:t>
            </a:r>
            <a:endParaRPr lang="pt-BR" sz="1400" b="0" u="none" strike="noStrike">
              <a:solidFill>
                <a:srgbClr val="FFFFFF"/>
              </a:solidFill>
              <a:effectLst/>
              <a:uFillTx/>
              <a:latin typeface="Arial"/>
            </a:endParaRPr>
          </a:p>
        </p:txBody>
      </p:sp>
      <p:sp>
        <p:nvSpPr>
          <p:cNvPr id="82" name="Shape 10"/>
          <p:cNvSpPr/>
          <p:nvPr/>
        </p:nvSpPr>
        <p:spPr>
          <a:xfrm>
            <a:off x="502920" y="4754880"/>
            <a:ext cx="5394600" cy="1371240"/>
          </a:xfrm>
          <a:prstGeom prst="rect">
            <a:avLst/>
          </a:prstGeom>
          <a:solidFill>
            <a:srgbClr val="0D2839"/>
          </a:solidFill>
          <a:ln w="12700">
            <a:solidFill>
              <a:srgbClr val="2E6FAF"/>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83" name="Text 11"/>
          <p:cNvSpPr/>
          <p:nvPr/>
        </p:nvSpPr>
        <p:spPr>
          <a:xfrm>
            <a:off x="685800" y="4846320"/>
            <a:ext cx="5028840" cy="118836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400"/>
              </a:spcAft>
              <a:tabLst>
                <a:tab pos="0" algn="l"/>
              </a:tabLst>
            </a:pPr>
            <a:r>
              <a:rPr lang="en-US" sz="1200" b="1" u="none" strike="noStrike">
                <a:solidFill>
                  <a:srgbClr val="00B8A9"/>
                </a:solidFill>
                <a:effectLst/>
                <a:uFillTx/>
                <a:latin typeface="Calibri"/>
              </a:rPr>
              <a:t>Hub 1: ZPE Caucaia, CE</a:t>
            </a:r>
            <a:endParaRPr lang="pt-BR" sz="1200" b="0" u="none" strike="noStrike">
              <a:solidFill>
                <a:srgbClr val="FFFFFF"/>
              </a:solidFill>
              <a:effectLst/>
              <a:uFillTx/>
              <a:latin typeface="Arial"/>
            </a:endParaRPr>
          </a:p>
          <a:p>
            <a:pPr defTabSz="914400">
              <a:lnSpc>
                <a:spcPts val="1301"/>
              </a:lnSpc>
              <a:spcAft>
                <a:spcPts val="400"/>
              </a:spcAft>
              <a:tabLst>
                <a:tab pos="0" algn="l"/>
              </a:tabLst>
            </a:pPr>
            <a:r>
              <a:rPr lang="en-US" sz="1000" b="0" i="1" u="none" strike="noStrike">
                <a:solidFill>
                  <a:srgbClr val="8FC0D0"/>
                </a:solidFill>
                <a:effectLst/>
                <a:uFillTx/>
                <a:latin typeface="Calibri"/>
              </a:rPr>
              <a:t>Subsea Link &amp; Tax-Free Zone</a:t>
            </a:r>
            <a:endParaRPr lang="pt-BR" sz="1000" b="0" u="none" strike="noStrike">
              <a:solidFill>
                <a:srgbClr val="FFFFFF"/>
              </a:solidFill>
              <a:effectLst/>
              <a:uFillTx/>
              <a:latin typeface="Arial"/>
            </a:endParaRPr>
          </a:p>
          <a:p>
            <a:pPr defTabSz="914400">
              <a:lnSpc>
                <a:spcPts val="1301"/>
              </a:lnSpc>
              <a:spcAft>
                <a:spcPts val="400"/>
              </a:spcAft>
              <a:tabLst>
                <a:tab pos="0" algn="l"/>
              </a:tabLst>
            </a:pPr>
            <a:r>
              <a:rPr lang="en-US" sz="900" b="0" u="none" strike="noStrike">
                <a:solidFill>
                  <a:srgbClr val="B0C8D8"/>
                </a:solidFill>
                <a:effectLst/>
                <a:uFillTx/>
                <a:latin typeface="Calibri"/>
              </a:rPr>
              <a:t>Adjacent to submarine cable landing stations · duty-free GPU ingestion · direct transatlantic fiber</a:t>
            </a:r>
            <a:endParaRPr lang="pt-BR" sz="900" b="0" u="none" strike="noStrike">
              <a:solidFill>
                <a:srgbClr val="FFFFFF"/>
              </a:solidFill>
              <a:effectLst/>
              <a:uFillTx/>
              <a:latin typeface="Arial"/>
            </a:endParaRPr>
          </a:p>
        </p:txBody>
      </p:sp>
      <p:sp>
        <p:nvSpPr>
          <p:cNvPr id="84" name="Shape 12"/>
          <p:cNvSpPr/>
          <p:nvPr/>
        </p:nvSpPr>
        <p:spPr>
          <a:xfrm>
            <a:off x="6126480" y="4754880"/>
            <a:ext cx="5394600" cy="1371240"/>
          </a:xfrm>
          <a:prstGeom prst="rect">
            <a:avLst/>
          </a:prstGeom>
          <a:solidFill>
            <a:srgbClr val="0D2839"/>
          </a:solidFill>
          <a:ln w="1270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85" name="Text 13"/>
          <p:cNvSpPr/>
          <p:nvPr/>
        </p:nvSpPr>
        <p:spPr>
          <a:xfrm>
            <a:off x="6309360" y="4846320"/>
            <a:ext cx="5028840" cy="118836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400"/>
              </a:spcAft>
              <a:tabLst>
                <a:tab pos="0" algn="l"/>
              </a:tabLst>
            </a:pPr>
            <a:r>
              <a:rPr lang="en-US" sz="1200" b="1" u="none" strike="noStrike">
                <a:solidFill>
                  <a:srgbClr val="E8C847"/>
                </a:solidFill>
                <a:effectLst/>
                <a:uFillTx/>
                <a:latin typeface="Calibri"/>
              </a:rPr>
              <a:t>Hub 2: Santa Terezinha, PB</a:t>
            </a:r>
            <a:endParaRPr lang="pt-BR" sz="1200" b="0" u="none" strike="noStrike">
              <a:solidFill>
                <a:srgbClr val="FFFFFF"/>
              </a:solidFill>
              <a:effectLst/>
              <a:uFillTx/>
              <a:latin typeface="Arial"/>
            </a:endParaRPr>
          </a:p>
          <a:p>
            <a:pPr defTabSz="914400">
              <a:lnSpc>
                <a:spcPts val="1301"/>
              </a:lnSpc>
              <a:spcAft>
                <a:spcPts val="400"/>
              </a:spcAft>
              <a:tabLst>
                <a:tab pos="0" algn="l"/>
              </a:tabLst>
            </a:pPr>
            <a:r>
              <a:rPr lang="en-US" sz="1000" b="0" i="1" u="none" strike="noStrike">
                <a:solidFill>
                  <a:srgbClr val="8FC0D0"/>
                </a:solidFill>
                <a:effectLst/>
                <a:uFillTx/>
                <a:latin typeface="Calibri"/>
              </a:rPr>
              <a:t>Solar Autonomy &amp; Satellite</a:t>
            </a:r>
            <a:endParaRPr lang="pt-BR" sz="1000" b="0" u="none" strike="noStrike">
              <a:solidFill>
                <a:srgbClr val="FFFFFF"/>
              </a:solidFill>
              <a:effectLst/>
              <a:uFillTx/>
              <a:latin typeface="Arial"/>
            </a:endParaRPr>
          </a:p>
          <a:p>
            <a:pPr defTabSz="914400">
              <a:lnSpc>
                <a:spcPts val="1301"/>
              </a:lnSpc>
              <a:spcAft>
                <a:spcPts val="400"/>
              </a:spcAft>
              <a:tabLst>
                <a:tab pos="0" algn="l"/>
              </a:tabLst>
            </a:pPr>
            <a:r>
              <a:rPr lang="en-US" sz="900" b="0" u="none" strike="noStrike">
                <a:solidFill>
                  <a:srgbClr val="B0C8D8"/>
                </a:solidFill>
                <a:effectLst/>
                <a:uFillTx/>
                <a:latin typeface="Calibri"/>
              </a:rPr>
              <a:t>100% off-grid photovoltaic plant · satellite transmission · carbon-free · owned land</a:t>
            </a:r>
            <a:endParaRPr lang="pt-BR" sz="900" b="0" u="none" strike="noStrike">
              <a:solidFill>
                <a:srgbClr val="FFFFFF"/>
              </a:solidFill>
              <a:effectLst/>
              <a:uFillTx/>
              <a:latin typeface="Arial"/>
            </a:endParaRPr>
          </a:p>
        </p:txBody>
      </p:sp>
      <p:sp>
        <p:nvSpPr>
          <p:cNvPr id="86" name="Text 14"/>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6B9BB0"/>
                </a:solidFill>
                <a:effectLst/>
                <a:uFillTx/>
                <a:latin typeface="Helvetica Neue"/>
                <a:ea typeface="Helvetica Neue"/>
              </a:rPr>
              <a:t>BeansTech × Tencent Cloud — Confidential</a:t>
            </a:r>
            <a:endParaRPr lang="pt-BR" sz="800" b="0" u="none" strike="noStrike">
              <a:solidFill>
                <a:srgbClr val="FFFFFF"/>
              </a:solidFill>
              <a:effectLst/>
              <a:uFillTx/>
              <a:latin typeface="Arial"/>
            </a:endParaRPr>
          </a:p>
        </p:txBody>
      </p:sp>
      <p:sp>
        <p:nvSpPr>
          <p:cNvPr id="87" name="Text 15"/>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6B9BB0"/>
                </a:solidFill>
                <a:effectLst/>
                <a:uFillTx/>
                <a:latin typeface="Helvetica Neue"/>
                <a:ea typeface="Helvetica Neue"/>
              </a:rPr>
              <a:t>5</a:t>
            </a:r>
            <a:endParaRPr lang="pt-BR"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ZPE Caucaia — The Subsea Cable Advantage</a:t>
            </a:r>
            <a:endParaRPr lang="pt-BR" sz="2800" b="0" u="none" strike="noStrike">
              <a:solidFill>
                <a:srgbClr val="000000"/>
              </a:solidFill>
              <a:effectLst/>
              <a:uFillTx/>
              <a:latin typeface="Arial"/>
            </a:endParaRPr>
          </a:p>
        </p:txBody>
      </p:sp>
      <p:sp>
        <p:nvSpPr>
          <p:cNvPr id="89"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Direct integration with international submarine cable landing stations</a:t>
            </a:r>
            <a:endParaRPr lang="pt-BR" sz="1300" b="0" u="none" strike="noStrike">
              <a:solidFill>
                <a:srgbClr val="000000"/>
              </a:solidFill>
              <a:effectLst/>
              <a:uFillTx/>
              <a:latin typeface="Arial"/>
            </a:endParaRPr>
          </a:p>
        </p:txBody>
      </p:sp>
      <p:sp>
        <p:nvSpPr>
          <p:cNvPr id="90"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graphicFrame>
        <p:nvGraphicFramePr>
          <p:cNvPr id="91" name="Chart 0"/>
          <p:cNvGraphicFramePr/>
          <p:nvPr/>
        </p:nvGraphicFramePr>
        <p:xfrm>
          <a:off x="502920" y="1554480"/>
          <a:ext cx="5303160" cy="3200040"/>
        </p:xfrm>
        <a:graphic>
          <a:graphicData uri="http://schemas.openxmlformats.org/drawingml/2006/chart">
            <c:chart xmlns:c="http://schemas.openxmlformats.org/drawingml/2006/chart" xmlns:r="http://schemas.openxmlformats.org/officeDocument/2006/relationships" r:id="rId1"/>
          </a:graphicData>
        </a:graphic>
      </p:graphicFrame>
      <p:sp>
        <p:nvSpPr>
          <p:cNvPr id="92" name="Text 3"/>
          <p:cNvSpPr/>
          <p:nvPr/>
        </p:nvSpPr>
        <p:spPr>
          <a:xfrm>
            <a:off x="640080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A1F2E"/>
                </a:solidFill>
                <a:effectLst/>
                <a:uFillTx/>
                <a:latin typeface="Helvetica Neue"/>
                <a:ea typeface="Helvetica Neue"/>
              </a:rPr>
              <a:t>Submarine Cable Systems at Node</a:t>
            </a:r>
            <a:endParaRPr lang="pt-BR" sz="1300" b="0" u="none" strike="noStrike">
              <a:solidFill>
                <a:srgbClr val="000000"/>
              </a:solidFill>
              <a:effectLst/>
              <a:uFillTx/>
              <a:latin typeface="Arial"/>
            </a:endParaRPr>
          </a:p>
        </p:txBody>
      </p:sp>
      <p:sp>
        <p:nvSpPr>
          <p:cNvPr id="93" name="Shape 4"/>
          <p:cNvSpPr/>
          <p:nvPr/>
        </p:nvSpPr>
        <p:spPr>
          <a:xfrm>
            <a:off x="6400800" y="1874520"/>
            <a:ext cx="5303160" cy="7768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94" name="Text 5"/>
          <p:cNvSpPr/>
          <p:nvPr/>
        </p:nvSpPr>
        <p:spPr>
          <a:xfrm>
            <a:off x="6537960" y="1920240"/>
            <a:ext cx="5028840" cy="731160"/>
          </a:xfrm>
          <a:prstGeom prst="rect">
            <a:avLst/>
          </a:prstGeom>
          <a:noFill/>
          <a:ln w="0">
            <a:noFill/>
          </a:ln>
        </p:spPr>
        <p:style>
          <a:lnRef idx="0"/>
          <a:fillRef idx="0"/>
          <a:effectRef idx="0"/>
          <a:fontRef idx="minor"/>
        </p:style>
        <p:txBody>
          <a:bodyPr lIns="0" tIns="0" rIns="0" bIns="0" anchor="ctr">
            <a:noAutofit/>
          </a:bodyPr>
          <a:p>
            <a:pPr defTabSz="914400">
              <a:lnSpc>
                <a:spcPts val="1199"/>
              </a:lnSpc>
              <a:spcAft>
                <a:spcPts val="201"/>
              </a:spcAft>
              <a:tabLst>
                <a:tab pos="0" algn="l"/>
              </a:tabLst>
            </a:pPr>
            <a:r>
              <a:rPr lang="en-US" sz="1100" b="1" u="none" strike="noStrike">
                <a:solidFill>
                  <a:srgbClr val="2E6FAF"/>
                </a:solidFill>
                <a:effectLst/>
                <a:uFillTx/>
                <a:latin typeface="Calibri"/>
              </a:rPr>
              <a:t>Monet &amp; Seabras-1</a:t>
            </a:r>
            <a:endParaRPr lang="pt-BR" sz="1100" b="0" u="none" strike="noStrike">
              <a:solidFill>
                <a:srgbClr val="000000"/>
              </a:solidFill>
              <a:effectLst/>
              <a:uFillTx/>
              <a:latin typeface="Arial"/>
            </a:endParaRPr>
          </a:p>
          <a:p>
            <a:pPr defTabSz="914400">
              <a:lnSpc>
                <a:spcPts val="1199"/>
              </a:lnSpc>
              <a:spcAft>
                <a:spcPts val="201"/>
              </a:spcAft>
              <a:tabLst>
                <a:tab pos="0" algn="l"/>
              </a:tabLst>
            </a:pPr>
            <a:r>
              <a:rPr lang="en-US" sz="900" b="0" u="none" strike="noStrike">
                <a:solidFill>
                  <a:srgbClr val="5A6B7A"/>
                </a:solidFill>
                <a:effectLst/>
                <a:uFillTx/>
                <a:latin typeface="Calibri"/>
              </a:rPr>
              <a:t>Direct ultra-low-latency paths to US East (Virginia, New Jersey, Miami) — 42-48% latency reduction</a:t>
            </a:r>
            <a:endParaRPr lang="pt-BR" sz="900" b="0" u="none" strike="noStrike">
              <a:solidFill>
                <a:srgbClr val="000000"/>
              </a:solidFill>
              <a:effectLst/>
              <a:uFillTx/>
              <a:latin typeface="Arial"/>
            </a:endParaRPr>
          </a:p>
        </p:txBody>
      </p:sp>
      <p:sp>
        <p:nvSpPr>
          <p:cNvPr id="95" name="Shape 6"/>
          <p:cNvSpPr/>
          <p:nvPr/>
        </p:nvSpPr>
        <p:spPr>
          <a:xfrm>
            <a:off x="6400800" y="2743200"/>
            <a:ext cx="5303160" cy="7768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96" name="Text 7"/>
          <p:cNvSpPr/>
          <p:nvPr/>
        </p:nvSpPr>
        <p:spPr>
          <a:xfrm>
            <a:off x="6537960" y="2788920"/>
            <a:ext cx="5028840" cy="731160"/>
          </a:xfrm>
          <a:prstGeom prst="rect">
            <a:avLst/>
          </a:prstGeom>
          <a:noFill/>
          <a:ln w="0">
            <a:noFill/>
          </a:ln>
        </p:spPr>
        <p:style>
          <a:lnRef idx="0"/>
          <a:fillRef idx="0"/>
          <a:effectRef idx="0"/>
          <a:fontRef idx="minor"/>
        </p:style>
        <p:txBody>
          <a:bodyPr lIns="0" tIns="0" rIns="0" bIns="0" anchor="ctr">
            <a:noAutofit/>
          </a:bodyPr>
          <a:p>
            <a:pPr defTabSz="914400">
              <a:lnSpc>
                <a:spcPts val="1199"/>
              </a:lnSpc>
              <a:spcAft>
                <a:spcPts val="201"/>
              </a:spcAft>
              <a:tabLst>
                <a:tab pos="0" algn="l"/>
              </a:tabLst>
            </a:pPr>
            <a:r>
              <a:rPr lang="en-US" sz="1100" b="1" u="none" strike="noStrike">
                <a:solidFill>
                  <a:srgbClr val="2E6FAF"/>
                </a:solidFill>
                <a:effectLst/>
                <a:uFillTx/>
                <a:latin typeface="Calibri"/>
              </a:rPr>
              <a:t>EllaLink</a:t>
            </a:r>
            <a:endParaRPr lang="pt-BR" sz="1100" b="0" u="none" strike="noStrike">
              <a:solidFill>
                <a:srgbClr val="000000"/>
              </a:solidFill>
              <a:effectLst/>
              <a:uFillTx/>
              <a:latin typeface="Arial"/>
            </a:endParaRPr>
          </a:p>
          <a:p>
            <a:pPr defTabSz="914400">
              <a:lnSpc>
                <a:spcPts val="1199"/>
              </a:lnSpc>
              <a:spcAft>
                <a:spcPts val="201"/>
              </a:spcAft>
              <a:tabLst>
                <a:tab pos="0" algn="l"/>
              </a:tabLst>
            </a:pPr>
            <a:r>
              <a:rPr lang="en-US" sz="900" b="0" u="none" strike="noStrike">
                <a:solidFill>
                  <a:srgbClr val="5A6B7A"/>
                </a:solidFill>
                <a:effectLst/>
                <a:uFillTx/>
                <a:latin typeface="Calibri"/>
              </a:rPr>
              <a:t>Direct optical link to Europe (Sines/Lisbon, Portugal) — bypassing US jurisdiction — 55-60% reduction</a:t>
            </a:r>
            <a:endParaRPr lang="pt-BR" sz="900" b="0" u="none" strike="noStrike">
              <a:solidFill>
                <a:srgbClr val="000000"/>
              </a:solidFill>
              <a:effectLst/>
              <a:uFillTx/>
              <a:latin typeface="Arial"/>
            </a:endParaRPr>
          </a:p>
        </p:txBody>
      </p:sp>
      <p:sp>
        <p:nvSpPr>
          <p:cNvPr id="97" name="Shape 8"/>
          <p:cNvSpPr/>
          <p:nvPr/>
        </p:nvSpPr>
        <p:spPr>
          <a:xfrm>
            <a:off x="6400800" y="3611880"/>
            <a:ext cx="5303160" cy="7768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98" name="Text 9"/>
          <p:cNvSpPr/>
          <p:nvPr/>
        </p:nvSpPr>
        <p:spPr>
          <a:xfrm>
            <a:off x="6537960" y="3657600"/>
            <a:ext cx="5028840" cy="731160"/>
          </a:xfrm>
          <a:prstGeom prst="rect">
            <a:avLst/>
          </a:prstGeom>
          <a:noFill/>
          <a:ln w="0">
            <a:noFill/>
          </a:ln>
        </p:spPr>
        <p:style>
          <a:lnRef idx="0"/>
          <a:fillRef idx="0"/>
          <a:effectRef idx="0"/>
          <a:fontRef idx="minor"/>
        </p:style>
        <p:txBody>
          <a:bodyPr lIns="0" tIns="0" rIns="0" bIns="0" anchor="ctr">
            <a:noAutofit/>
          </a:bodyPr>
          <a:p>
            <a:pPr defTabSz="914400">
              <a:lnSpc>
                <a:spcPts val="1199"/>
              </a:lnSpc>
              <a:spcAft>
                <a:spcPts val="201"/>
              </a:spcAft>
              <a:tabLst>
                <a:tab pos="0" algn="l"/>
              </a:tabLst>
            </a:pPr>
            <a:r>
              <a:rPr lang="en-US" sz="1100" b="1" u="none" strike="noStrike">
                <a:solidFill>
                  <a:srgbClr val="2E6FAF"/>
                </a:solidFill>
                <a:effectLst/>
                <a:uFillTx/>
                <a:latin typeface="Calibri"/>
              </a:rPr>
              <a:t>SACS</a:t>
            </a:r>
            <a:endParaRPr lang="pt-BR" sz="1100" b="0" u="none" strike="noStrike">
              <a:solidFill>
                <a:srgbClr val="000000"/>
              </a:solidFill>
              <a:effectLst/>
              <a:uFillTx/>
              <a:latin typeface="Arial"/>
            </a:endParaRPr>
          </a:p>
          <a:p>
            <a:pPr defTabSz="914400">
              <a:lnSpc>
                <a:spcPts val="1199"/>
              </a:lnSpc>
              <a:spcAft>
                <a:spcPts val="201"/>
              </a:spcAft>
              <a:tabLst>
                <a:tab pos="0" algn="l"/>
              </a:tabLst>
            </a:pPr>
            <a:r>
              <a:rPr lang="en-US" sz="900" b="0" u="none" strike="noStrike">
                <a:solidFill>
                  <a:srgbClr val="5A6B7A"/>
                </a:solidFill>
                <a:effectLst/>
                <a:uFillTx/>
                <a:latin typeface="Calibri"/>
              </a:rPr>
              <a:t>Direct southern routing toward Africa (Luanda) and onward to Asia-Pacific</a:t>
            </a:r>
            <a:endParaRPr lang="pt-BR" sz="900" b="0" u="none" strike="noStrike">
              <a:solidFill>
                <a:srgbClr val="000000"/>
              </a:solidFill>
              <a:effectLst/>
              <a:uFillTx/>
              <a:latin typeface="Arial"/>
            </a:endParaRPr>
          </a:p>
        </p:txBody>
      </p:sp>
      <p:sp>
        <p:nvSpPr>
          <p:cNvPr id="99" name="Shape 10"/>
          <p:cNvSpPr/>
          <p:nvPr/>
        </p:nvSpPr>
        <p:spPr>
          <a:xfrm>
            <a:off x="6400800" y="4480560"/>
            <a:ext cx="5303160" cy="7768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100" name="Text 11"/>
          <p:cNvSpPr/>
          <p:nvPr/>
        </p:nvSpPr>
        <p:spPr>
          <a:xfrm>
            <a:off x="6537960" y="4526280"/>
            <a:ext cx="5028840" cy="731160"/>
          </a:xfrm>
          <a:prstGeom prst="rect">
            <a:avLst/>
          </a:prstGeom>
          <a:noFill/>
          <a:ln w="0">
            <a:noFill/>
          </a:ln>
        </p:spPr>
        <p:style>
          <a:lnRef idx="0"/>
          <a:fillRef idx="0"/>
          <a:effectRef idx="0"/>
          <a:fontRef idx="minor"/>
        </p:style>
        <p:txBody>
          <a:bodyPr lIns="0" tIns="0" rIns="0" bIns="0" anchor="ctr">
            <a:noAutofit/>
          </a:bodyPr>
          <a:p>
            <a:pPr defTabSz="914400">
              <a:lnSpc>
                <a:spcPts val="1199"/>
              </a:lnSpc>
              <a:spcAft>
                <a:spcPts val="201"/>
              </a:spcAft>
              <a:tabLst>
                <a:tab pos="0" algn="l"/>
              </a:tabLst>
            </a:pPr>
            <a:r>
              <a:rPr lang="en-US" sz="1100" b="1" u="none" strike="noStrike">
                <a:solidFill>
                  <a:srgbClr val="2E6FAF"/>
                </a:solidFill>
                <a:effectLst/>
                <a:uFillTx/>
                <a:latin typeface="Calibri"/>
              </a:rPr>
              <a:t>Junior &amp; Malbec</a:t>
            </a:r>
            <a:endParaRPr lang="pt-BR" sz="1100" b="0" u="none" strike="noStrike">
              <a:solidFill>
                <a:srgbClr val="000000"/>
              </a:solidFill>
              <a:effectLst/>
              <a:uFillTx/>
              <a:latin typeface="Arial"/>
            </a:endParaRPr>
          </a:p>
          <a:p>
            <a:pPr defTabSz="914400">
              <a:lnSpc>
                <a:spcPts val="1199"/>
              </a:lnSpc>
              <a:spcAft>
                <a:spcPts val="201"/>
              </a:spcAft>
              <a:tabLst>
                <a:tab pos="0" algn="l"/>
              </a:tabLst>
            </a:pPr>
            <a:r>
              <a:rPr lang="en-US" sz="900" b="0" u="none" strike="noStrike">
                <a:solidFill>
                  <a:srgbClr val="5A6B7A"/>
                </a:solidFill>
                <a:effectLst/>
                <a:uFillTx/>
                <a:latin typeface="Calibri"/>
              </a:rPr>
              <a:t>High-capacity coastal backbones to São Paulo, Rio, Buenos Aires</a:t>
            </a:r>
            <a:endParaRPr lang="pt-BR" sz="900" b="0" u="none" strike="noStrike">
              <a:solidFill>
                <a:srgbClr val="000000"/>
              </a:solidFill>
              <a:effectLst/>
              <a:uFillTx/>
              <a:latin typeface="Arial"/>
            </a:endParaRPr>
          </a:p>
        </p:txBody>
      </p:sp>
      <p:sp>
        <p:nvSpPr>
          <p:cNvPr id="101" name="Text 12"/>
          <p:cNvSpPr/>
          <p:nvPr/>
        </p:nvSpPr>
        <p:spPr>
          <a:xfrm>
            <a:off x="502920" y="5257800"/>
            <a:ext cx="11182680" cy="365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000000"/>
                </a:solidFill>
                <a:effectLst/>
                <a:uFillTx/>
                <a:latin typeface="Calibri"/>
              </a:rPr>
              <a:t>Tencent Connectivity Multiplier: anchoring compute at this node optimizes latency for the entirety of Tencent Cloud's corporate service catalog across South America.</a:t>
            </a:r>
            <a:endParaRPr lang="pt-BR" sz="1050" b="0" u="none" strike="noStrike">
              <a:solidFill>
                <a:srgbClr val="000000"/>
              </a:solidFill>
              <a:effectLst/>
              <a:uFillTx/>
              <a:latin typeface="Arial"/>
            </a:endParaRPr>
          </a:p>
        </p:txBody>
      </p:sp>
      <p:sp>
        <p:nvSpPr>
          <p:cNvPr id="102" name="Text 13"/>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103" name="Text 14"/>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6</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4"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Quantitative Latency Benchmarks</a:t>
            </a:r>
            <a:endParaRPr lang="pt-BR" sz="2800" b="0" u="none" strike="noStrike">
              <a:solidFill>
                <a:srgbClr val="000000"/>
              </a:solidFill>
              <a:effectLst/>
              <a:uFillTx/>
              <a:latin typeface="Arial"/>
            </a:endParaRPr>
          </a:p>
        </p:txBody>
      </p:sp>
      <p:sp>
        <p:nvSpPr>
          <p:cNvPr id="105"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Engineered vs. traditional routing — measured round-trip times (RTT)</a:t>
            </a:r>
            <a:endParaRPr lang="pt-BR" sz="1300" b="0" u="none" strike="noStrike">
              <a:solidFill>
                <a:srgbClr val="000000"/>
              </a:solidFill>
              <a:effectLst/>
              <a:uFillTx/>
              <a:latin typeface="Arial"/>
            </a:endParaRPr>
          </a:p>
        </p:txBody>
      </p:sp>
      <p:sp>
        <p:nvSpPr>
          <p:cNvPr id="106"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graphicFrame>
        <p:nvGraphicFramePr>
          <p:cNvPr id="107" name="Table 0"/>
          <p:cNvGraphicFramePr/>
          <p:nvPr/>
        </p:nvGraphicFramePr>
        <p:xfrm>
          <a:off x="502920" y="1554480"/>
          <a:ext cx="10725480" cy="2011680"/>
        </p:xfrm>
        <a:graphic>
          <a:graphicData uri="http://schemas.openxmlformats.org/drawingml/2006/table">
            <a:tbl>
              <a:tblPr/>
              <a:tblGrid>
                <a:gridCol w="3200400"/>
                <a:gridCol w="2926080"/>
                <a:gridCol w="2743200"/>
                <a:gridCol w="1856160"/>
              </a:tblGrid>
              <a:tr h="502920">
                <a:tc>
                  <a:txBody>
                    <a:bodyPr anchor="ctr">
                      <a:noAutofit/>
                    </a:bodyPr>
                    <a:p>
                      <a:pPr defTabSz="914400">
                        <a:lnSpc>
                          <a:spcPct val="100000"/>
                        </a:lnSpc>
                        <a:tabLst>
                          <a:tab pos="0" algn="l"/>
                        </a:tabLst>
                      </a:pPr>
                      <a:r>
                        <a:rPr lang="en-US" sz="900" b="1" u="none" strike="noStrike">
                          <a:solidFill>
                            <a:srgbClr val="E8C847"/>
                          </a:solidFill>
                          <a:effectLst/>
                          <a:uFillTx/>
                          <a:latin typeface="Helvetica Neue"/>
                          <a:ea typeface="Helvetica Neue"/>
                        </a:rPr>
                        <a:t>Traffic Route</a:t>
                      </a:r>
                      <a:endParaRPr lang="pt-BR" sz="90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c>
                  <a:txBody>
                    <a:bodyPr anchor="ctr">
                      <a:noAutofit/>
                    </a:bodyPr>
                    <a:p>
                      <a:pPr defTabSz="914400">
                        <a:lnSpc>
                          <a:spcPct val="100000"/>
                        </a:lnSpc>
                        <a:tabLst>
                          <a:tab pos="0" algn="l"/>
                        </a:tabLst>
                      </a:pPr>
                      <a:r>
                        <a:rPr lang="en-US" sz="900" b="1" u="none" strike="noStrike">
                          <a:solidFill>
                            <a:srgbClr val="E8C847"/>
                          </a:solidFill>
                          <a:effectLst/>
                          <a:uFillTx/>
                          <a:latin typeface="Helvetica Neue"/>
                          <a:ea typeface="Helvetica Neue"/>
                        </a:rPr>
                        <a:t>Traditional Path (Inland/Multi-Hop)</a:t>
                      </a:r>
                      <a:endParaRPr lang="pt-BR" sz="90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c>
                  <a:txBody>
                    <a:bodyPr anchor="ctr">
                      <a:noAutofit/>
                    </a:bodyPr>
                    <a:p>
                      <a:pPr defTabSz="914400">
                        <a:lnSpc>
                          <a:spcPct val="100000"/>
                        </a:lnSpc>
                        <a:tabLst>
                          <a:tab pos="0" algn="l"/>
                        </a:tabLst>
                      </a:pPr>
                      <a:r>
                        <a:rPr lang="en-US" sz="900" b="1" u="none" strike="noStrike">
                          <a:solidFill>
                            <a:srgbClr val="E8C847"/>
                          </a:solidFill>
                          <a:effectLst/>
                          <a:uFillTx/>
                          <a:latin typeface="Helvetica Neue"/>
                          <a:ea typeface="Helvetica Neue"/>
                        </a:rPr>
                        <a:t>ZPE Caucaia Direct Subsea</a:t>
                      </a:r>
                      <a:endParaRPr lang="pt-BR" sz="90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c>
                  <a:txBody>
                    <a:bodyPr anchor="ctr">
                      <a:noAutofit/>
                    </a:bodyPr>
                    <a:p>
                      <a:pPr algn="ctr" defTabSz="914400">
                        <a:lnSpc>
                          <a:spcPct val="100000"/>
                        </a:lnSpc>
                        <a:tabLst>
                          <a:tab pos="0" algn="l"/>
                        </a:tabLst>
                      </a:pPr>
                      <a:r>
                        <a:rPr lang="en-US" sz="900" b="1" u="none" strike="noStrike">
                          <a:solidFill>
                            <a:srgbClr val="E8C847"/>
                          </a:solidFill>
                          <a:effectLst/>
                          <a:uFillTx/>
                          <a:latin typeface="Helvetica Neue"/>
                          <a:ea typeface="Helvetica Neue"/>
                        </a:rPr>
                        <a:t>RTT Reduction</a:t>
                      </a:r>
                      <a:endParaRPr lang="pt-BR" sz="90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r>
              <a:tr h="502920">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Fortaleza ↔ US East (Virginia/Miami)</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~110-135 ms (via SP loop)</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~60-65 ms</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algn="ctr" defTabSz="914400">
                        <a:lnSpc>
                          <a:spcPct val="100000"/>
                        </a:lnSpc>
                        <a:tabLst>
                          <a:tab pos="0" algn="l"/>
                        </a:tabLst>
                      </a:pPr>
                      <a:r>
                        <a:rPr lang="en-US" sz="1000" b="1" u="none" strike="noStrike">
                          <a:solidFill>
                            <a:srgbClr val="00B8A9"/>
                          </a:solidFill>
                          <a:effectLst/>
                          <a:uFillTx/>
                          <a:latin typeface="Helvetica Neue"/>
                          <a:ea typeface="Helvetica Neue"/>
                        </a:rPr>
                        <a:t>42-48%</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r>
              <a:tr h="502920">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Fortaleza ↔ Europe (Lisbon/Madrid)</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~130-160 ms (via US routing)</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~58-64 ms (via EllaLink)</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c>
                  <a:txBody>
                    <a:bodyPr anchor="ctr">
                      <a:noAutofit/>
                    </a:bodyPr>
                    <a:p>
                      <a:pPr algn="ctr" defTabSz="914400">
                        <a:lnSpc>
                          <a:spcPct val="100000"/>
                        </a:lnSpc>
                        <a:tabLst>
                          <a:tab pos="0" algn="l"/>
                        </a:tabLst>
                      </a:pPr>
                      <a:r>
                        <a:rPr lang="en-US" sz="1000" b="1" u="none" strike="noStrike">
                          <a:solidFill>
                            <a:srgbClr val="00B8A9"/>
                          </a:solidFill>
                          <a:effectLst/>
                          <a:uFillTx/>
                          <a:latin typeface="Helvetica Neue"/>
                          <a:ea typeface="Helvetica Neue"/>
                        </a:rPr>
                        <a:t>55-60%</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r>
              <a:tr h="502920">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Intra-LATAM ↔ Regional Nodes</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~45-75 ms</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defTabSz="914400">
                        <a:lnSpc>
                          <a:spcPct val="100000"/>
                        </a:lnSpc>
                        <a:tabLst>
                          <a:tab pos="0" algn="l"/>
                        </a:tabLst>
                      </a:pPr>
                      <a:r>
                        <a:rPr lang="en-US" sz="1000" b="0" u="none" strike="noStrike">
                          <a:solidFill>
                            <a:srgbClr val="1A2332"/>
                          </a:solidFill>
                          <a:effectLst/>
                          <a:uFillTx/>
                          <a:latin typeface="Helvetica Neue"/>
                          <a:ea typeface="Helvetica Neue"/>
                        </a:rPr>
                        <a:t>~15-28 ms (direct fiber)</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algn="ctr" defTabSz="914400">
                        <a:lnSpc>
                          <a:spcPct val="100000"/>
                        </a:lnSpc>
                        <a:tabLst>
                          <a:tab pos="0" algn="l"/>
                        </a:tabLst>
                      </a:pPr>
                      <a:r>
                        <a:rPr lang="en-US" sz="1000" b="1" u="none" strike="noStrike">
                          <a:solidFill>
                            <a:srgbClr val="00B8A9"/>
                          </a:solidFill>
                          <a:effectLst/>
                          <a:uFillTx/>
                          <a:latin typeface="Helvetica Neue"/>
                          <a:ea typeface="Helvetica Neue"/>
                        </a:rPr>
                        <a:t>~50%</a:t>
                      </a:r>
                      <a:endParaRPr lang="pt-BR" sz="100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r>
            </a:tbl>
          </a:graphicData>
        </a:graphic>
      </p:graphicFrame>
      <p:sp>
        <p:nvSpPr>
          <p:cNvPr id="108" name="Shape 3"/>
          <p:cNvSpPr/>
          <p:nvPr/>
        </p:nvSpPr>
        <p:spPr>
          <a:xfrm>
            <a:off x="502920" y="3931920"/>
            <a:ext cx="11182680" cy="1096920"/>
          </a:xfrm>
          <a:prstGeom prst="rect">
            <a:avLst/>
          </a:prstGeom>
          <a:solidFill>
            <a:srgbClr val="0A1F2E"/>
          </a:solid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09" name="Text 4"/>
          <p:cNvSpPr/>
          <p:nvPr/>
        </p:nvSpPr>
        <p:spPr>
          <a:xfrm>
            <a:off x="777240" y="4023360"/>
            <a:ext cx="10634040" cy="822600"/>
          </a:xfrm>
          <a:prstGeom prst="rect">
            <a:avLst/>
          </a:prstGeom>
          <a:noFill/>
          <a:ln w="0">
            <a:noFill/>
          </a:ln>
        </p:spPr>
        <p:style>
          <a:lnRef idx="0"/>
          <a:fillRef idx="0"/>
          <a:effectRef idx="0"/>
          <a:fontRef idx="minor"/>
        </p:style>
        <p:txBody>
          <a:bodyPr lIns="0" tIns="0" rIns="0" bIns="0" anchor="ctr">
            <a:noAutofit/>
          </a:bodyPr>
          <a:p>
            <a:pPr defTabSz="914400">
              <a:lnSpc>
                <a:spcPts val="1500"/>
              </a:lnSpc>
              <a:tabLst>
                <a:tab pos="0" algn="l"/>
              </a:tabLst>
            </a:pPr>
            <a:r>
              <a:rPr lang="en-US" sz="1200" b="1" u="none" strike="noStrike">
                <a:solidFill>
                  <a:srgbClr val="00B8A9"/>
                </a:solidFill>
                <a:effectLst/>
                <a:uFillTx/>
                <a:latin typeface="Calibri"/>
              </a:rPr>
              <a:t>What this means for Tencent Cloud:</a:t>
            </a:r>
            <a:endParaRPr lang="pt-BR" sz="120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B0C8D8"/>
                </a:solidFill>
                <a:effectLst/>
                <a:uFillTx/>
                <a:latin typeface="Calibri"/>
              </a:rPr>
              <a:t>Every Tencent service — WeChat API, Tencent Meeting, cloud compute, gaming, and Hunyuan inference — gains a direct low-latency edge node in South America. No longer routing through US or São Paulo intermediaries. 42-60% improvement for 650 million potential users.</a:t>
            </a:r>
            <a:endParaRPr lang="pt-BR" sz="1050" b="0" u="none" strike="noStrike">
              <a:solidFill>
                <a:srgbClr val="000000"/>
              </a:solidFill>
              <a:effectLst/>
              <a:uFillTx/>
              <a:latin typeface="Arial"/>
            </a:endParaRPr>
          </a:p>
        </p:txBody>
      </p:sp>
      <p:sp>
        <p:nvSpPr>
          <p:cNvPr id="110" name="Text 5"/>
          <p:cNvSpPr/>
          <p:nvPr/>
        </p:nvSpPr>
        <p:spPr>
          <a:xfrm>
            <a:off x="502920" y="6172200"/>
            <a:ext cx="111826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i="1" u="none" strike="noStrike">
                <a:solidFill>
                  <a:srgbClr val="5A6B7A"/>
                </a:solidFill>
                <a:effectLst/>
                <a:uFillTx/>
                <a:latin typeface="Helvetica Neue"/>
                <a:ea typeface="Helvetica Neue"/>
              </a:rPr>
              <a:t>Source: Beans Tech Technical Architecture Note TAN-LATAM-2026-09 — available for engineering review</a:t>
            </a:r>
            <a:endParaRPr lang="pt-BR" sz="800" b="0" u="none" strike="noStrike">
              <a:solidFill>
                <a:srgbClr val="000000"/>
              </a:solidFill>
              <a:effectLst/>
              <a:uFillTx/>
              <a:latin typeface="Arial"/>
            </a:endParaRPr>
          </a:p>
        </p:txBody>
      </p:sp>
      <p:sp>
        <p:nvSpPr>
          <p:cNvPr id="111" name="Text 6"/>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112" name="Text 7"/>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7</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3"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Tencent Hunyuan / Hy4 — Model Integration</a:t>
            </a:r>
            <a:endParaRPr lang="pt-BR" sz="2800" b="0" u="none" strike="noStrike">
              <a:solidFill>
                <a:srgbClr val="000000"/>
              </a:solidFill>
              <a:effectLst/>
              <a:uFillTx/>
              <a:latin typeface="Arial"/>
            </a:endParaRPr>
          </a:p>
        </p:txBody>
      </p:sp>
      <p:sp>
        <p:nvSpPr>
          <p:cNvPr id="114"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Embedding Tencent's frontier AI architecture into Latin America's regulated sectors</a:t>
            </a:r>
            <a:endParaRPr lang="pt-BR" sz="1300" b="0" u="none" strike="noStrike">
              <a:solidFill>
                <a:srgbClr val="000000"/>
              </a:solidFill>
              <a:effectLst/>
              <a:uFillTx/>
              <a:latin typeface="Arial"/>
            </a:endParaRPr>
          </a:p>
        </p:txBody>
      </p:sp>
      <p:sp>
        <p:nvSpPr>
          <p:cNvPr id="115"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sp>
        <p:nvSpPr>
          <p:cNvPr id="116" name="Text 3"/>
          <p:cNvSpPr/>
          <p:nvPr/>
        </p:nvSpPr>
        <p:spPr>
          <a:xfrm>
            <a:off x="502920" y="146304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2E6FAF"/>
                </a:solidFill>
                <a:effectLst/>
                <a:uFillTx/>
                <a:latin typeface="Helvetica Neue"/>
                <a:ea typeface="Helvetica Neue"/>
              </a:rPr>
              <a:t>What Hunyuan Brings</a:t>
            </a:r>
            <a:endParaRPr lang="pt-BR" sz="1300" b="0" u="none" strike="noStrike">
              <a:solidFill>
                <a:srgbClr val="000000"/>
              </a:solidFill>
              <a:effectLst/>
              <a:uFillTx/>
              <a:latin typeface="Arial"/>
            </a:endParaRPr>
          </a:p>
        </p:txBody>
      </p:sp>
      <p:sp>
        <p:nvSpPr>
          <p:cNvPr id="117" name="Shape 4"/>
          <p:cNvSpPr/>
          <p:nvPr/>
        </p:nvSpPr>
        <p:spPr>
          <a:xfrm>
            <a:off x="502920" y="1828800"/>
            <a:ext cx="5303160" cy="4114440"/>
          </a:xfrm>
          <a:prstGeom prst="rect">
            <a:avLst/>
          </a:prstGeom>
          <a:solidFill>
            <a:srgbClr val="F0F5F7"/>
          </a:solidFill>
          <a:ln w="12700">
            <a:solidFill>
              <a:srgbClr val="2E6FAF"/>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118" name="Text 5"/>
          <p:cNvSpPr/>
          <p:nvPr/>
        </p:nvSpPr>
        <p:spPr>
          <a:xfrm>
            <a:off x="731520" y="1965960"/>
            <a:ext cx="4845960" cy="384012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300"/>
              </a:spcAft>
              <a:buClr>
                <a:srgbClr val="000000"/>
              </a:buClr>
              <a:buFont typeface="Symbol" charset="2"/>
              <a:buChar char=""/>
            </a:pPr>
            <a:r>
              <a:rPr lang="en-US" sz="1800" b="1" u="none" strike="noStrike">
                <a:solidFill>
                  <a:srgbClr val="000000"/>
                </a:solidFill>
                <a:effectLst/>
                <a:uFillTx/>
                <a:latin typeface="Calibri"/>
              </a:rPr>
              <a:t>Hunyuan-Large (Hy4)</a:t>
            </a:r>
            <a:endParaRPr lang="pt-BR" sz="180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Frontier MoE architecture with 389B parameters — competitive with GLM-5.3, Qwen-3.8-Max, DeepSeek</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0000"/>
              </a:buClr>
              <a:buFont typeface="Symbol" charset="2"/>
              <a:buChar char=""/>
              <a:tabLst>
                <a:tab pos="0" algn="l"/>
              </a:tabLst>
            </a:pPr>
            <a:r>
              <a:rPr lang="en-US" sz="950" b="1" u="none" strike="noStrike">
                <a:solidFill>
                  <a:srgbClr val="000000"/>
                </a:solidFill>
                <a:effectLst/>
                <a:uFillTx/>
                <a:latin typeface="Calibri"/>
              </a:rPr>
              <a:t>Hunyuan-Flash</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High-throughput variant for volume inference — document triage, compliance screening, legal search</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0000"/>
              </a:buClr>
              <a:buFont typeface="Symbol" charset="2"/>
              <a:buChar char=""/>
              <a:tabLst>
                <a:tab pos="0" algn="l"/>
              </a:tabLst>
            </a:pPr>
            <a:r>
              <a:rPr lang="en-US" sz="950" b="1" u="none" strike="noStrike">
                <a:solidFill>
                  <a:srgbClr val="000000"/>
                </a:solidFill>
                <a:effectLst/>
                <a:uFillTx/>
                <a:latin typeface="Calibri"/>
              </a:rPr>
              <a:t>Hunyuan Vision</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Multimodal for medical imaging, document OCR, real estate photo analysis</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0000"/>
              </a:buClr>
              <a:buFont typeface="Symbol" charset="2"/>
              <a:buChar char=""/>
              <a:tabLst>
                <a:tab pos="0" algn="l"/>
              </a:tabLst>
            </a:pPr>
            <a:r>
              <a:rPr lang="en-US" sz="950" b="1" u="none" strike="noStrike">
                <a:solidFill>
                  <a:srgbClr val="000000"/>
                </a:solidFill>
                <a:effectLst/>
                <a:uFillTx/>
                <a:latin typeface="Calibri"/>
              </a:rPr>
              <a:t>Open weights (Apache/Custom)</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Available for local deployment on sovereign infrastructure — no API dependency</a:t>
            </a:r>
            <a:endParaRPr lang="pt-BR" sz="950" b="0" u="none" strike="noStrike">
              <a:solidFill>
                <a:srgbClr val="000000"/>
              </a:solidFill>
              <a:effectLst/>
              <a:uFillTx/>
              <a:latin typeface="Arial"/>
            </a:endParaRPr>
          </a:p>
        </p:txBody>
      </p:sp>
      <p:sp>
        <p:nvSpPr>
          <p:cNvPr id="119" name="Text 6"/>
          <p:cNvSpPr/>
          <p:nvPr/>
        </p:nvSpPr>
        <p:spPr>
          <a:xfrm>
            <a:off x="6400800" y="146304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8A9"/>
                </a:solidFill>
                <a:effectLst/>
                <a:uFillTx/>
                <a:latin typeface="Helvetica Neue"/>
                <a:ea typeface="Helvetica Neue"/>
              </a:rPr>
              <a:t>How Beans Tech Deploys It</a:t>
            </a:r>
            <a:endParaRPr lang="pt-BR" sz="1300" b="0" u="none" strike="noStrike">
              <a:solidFill>
                <a:srgbClr val="000000"/>
              </a:solidFill>
              <a:effectLst/>
              <a:uFillTx/>
              <a:latin typeface="Arial"/>
            </a:endParaRPr>
          </a:p>
        </p:txBody>
      </p:sp>
      <p:sp>
        <p:nvSpPr>
          <p:cNvPr id="120" name="Shape 7"/>
          <p:cNvSpPr/>
          <p:nvPr/>
        </p:nvSpPr>
        <p:spPr>
          <a:xfrm>
            <a:off x="6400800" y="1828800"/>
            <a:ext cx="5303160" cy="4114440"/>
          </a:xfrm>
          <a:prstGeom prst="rect">
            <a:avLst/>
          </a:prstGeom>
          <a:solidFill>
            <a:srgbClr val="0A1F2E"/>
          </a:solid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21" name="Text 8"/>
          <p:cNvSpPr/>
          <p:nvPr/>
        </p:nvSpPr>
        <p:spPr>
          <a:xfrm>
            <a:off x="6629400" y="1965960"/>
            <a:ext cx="4845960" cy="384012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300"/>
              </a:spcAft>
              <a:buClr>
                <a:srgbClr val="00B8A9"/>
              </a:buClr>
              <a:buFont typeface="Wingdings 3" charset="2"/>
              <a:buChar char=""/>
            </a:pPr>
            <a:r>
              <a:rPr lang="en-US" sz="1800" b="1" u="none" strike="noStrike">
                <a:solidFill>
                  <a:srgbClr val="00B8A9"/>
                </a:solidFill>
                <a:effectLst/>
                <a:uFillTx/>
                <a:latin typeface="Calibri"/>
              </a:rPr>
              <a:t>Legal (ragjur.ai)</a:t>
            </a:r>
            <a:endParaRPr lang="pt-BR" sz="180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B0C8D8"/>
                </a:solidFill>
                <a:effectLst/>
                <a:uFillTx/>
                <a:latin typeface="Calibri"/>
              </a:rPr>
              <a:t>Hy4-Large for multi-party judicial analysis · Flash for 77M+ decision search volume</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B8A9"/>
              </a:buClr>
              <a:buFont typeface="Wingdings 3" charset="2"/>
              <a:buChar char=""/>
              <a:tabLst>
                <a:tab pos="0" algn="l"/>
              </a:tabLst>
            </a:pPr>
            <a:r>
              <a:rPr lang="en-US" sz="950" b="1" u="none" strike="noStrike">
                <a:solidFill>
                  <a:srgbClr val="00B8A9"/>
                </a:solidFill>
                <a:effectLst/>
                <a:uFillTx/>
                <a:latin typeface="Calibri"/>
              </a:rPr>
              <a:t>Compliance (pldbr.tech)</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B0C8D8"/>
                </a:solidFill>
                <a:effectLst/>
                <a:uFillTx/>
                <a:latin typeface="Calibri"/>
              </a:rPr>
              <a:t>Hy4 for SAR narratives and complex regulatory interpretation · Flash for transaction triage</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B8A9"/>
              </a:buClr>
              <a:buFont typeface="Wingdings 3" charset="2"/>
              <a:buChar char=""/>
              <a:tabLst>
                <a:tab pos="0" algn="l"/>
              </a:tabLst>
            </a:pPr>
            <a:r>
              <a:rPr lang="en-US" sz="950" b="1" u="none" strike="noStrike">
                <a:solidFill>
                  <a:srgbClr val="00B8A9"/>
                </a:solidFill>
                <a:effectLst/>
                <a:uFillTx/>
                <a:latin typeface="Calibri"/>
              </a:rPr>
              <a:t>Healthcare (dodr.ai)</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B0C8D8"/>
                </a:solidFill>
                <a:effectLst/>
                <a:uFillTx/>
                <a:latin typeface="Calibri"/>
              </a:rPr>
              <a:t>Hy4-Large for clinical decision support with anti-hallucination chain · Vision for imaging</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B8A9"/>
              </a:buClr>
              <a:buFont typeface="Wingdings 3" charset="2"/>
              <a:buChar char=""/>
              <a:tabLst>
                <a:tab pos="0" algn="l"/>
              </a:tabLst>
            </a:pPr>
            <a:r>
              <a:rPr lang="en-US" sz="950" b="1" u="none" strike="noStrike">
                <a:solidFill>
                  <a:srgbClr val="00B8A9"/>
                </a:solidFill>
                <a:effectLst/>
                <a:uFillTx/>
                <a:latin typeface="Calibri"/>
              </a:rPr>
              <a:t>Real Estate (proptechbr.ai)</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B0C8D8"/>
                </a:solidFill>
                <a:effectLst/>
                <a:uFillTx/>
                <a:latin typeface="Calibri"/>
              </a:rPr>
              <a:t>Flash for document analysis (matrículas, deeds, liens) in seconds vs. hours · Vision for property photos</a:t>
            </a:r>
            <a:endParaRPr lang="pt-BR" sz="950" b="0" u="none" strike="noStrike">
              <a:solidFill>
                <a:srgbClr val="000000"/>
              </a:solidFill>
              <a:effectLst/>
              <a:uFillTx/>
              <a:latin typeface="Arial"/>
            </a:endParaRPr>
          </a:p>
        </p:txBody>
      </p:sp>
      <p:sp>
        <p:nvSpPr>
          <p:cNvPr id="122" name="Text 9"/>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123" name="Text 10"/>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8</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F2E"/>
        </a:solidFill>
      </p:bgPr>
    </p:bg>
    <p:spTree>
      <p:nvGrpSpPr>
        <p:cNvPr id="1" name=""/>
        <p:cNvGrpSpPr/>
        <p:nvPr/>
      </p:nvGrpSpPr>
      <p:grpSpPr>
        <a:xfrm>
          <a:off x="0" y="0"/>
          <a:ext cx="0" cy="0"/>
          <a:chOff x="0" y="0"/>
          <a:chExt cx="0" cy="0"/>
        </a:xfrm>
      </p:grpSpPr>
      <p:sp>
        <p:nvSpPr>
          <p:cNvPr id="124"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0B8A9"/>
                </a:solidFill>
                <a:effectLst/>
                <a:uFillTx/>
                <a:latin typeface="Helvetica Neue"/>
                <a:ea typeface="Helvetica Neue"/>
              </a:rPr>
              <a:t>Fiscal &amp; Thermodynamic Advantages</a:t>
            </a:r>
            <a:endParaRPr lang="pt-BR" sz="2800" b="0" u="none" strike="noStrike">
              <a:solidFill>
                <a:srgbClr val="FFFFFF"/>
              </a:solidFill>
              <a:effectLst/>
              <a:uFillTx/>
              <a:latin typeface="Arial"/>
            </a:endParaRPr>
          </a:p>
        </p:txBody>
      </p:sp>
      <p:sp>
        <p:nvSpPr>
          <p:cNvPr id="125"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8FC0D0"/>
                </a:solidFill>
                <a:effectLst/>
                <a:uFillTx/>
                <a:latin typeface="Helvetica Neue"/>
                <a:ea typeface="Helvetica Neue"/>
              </a:rPr>
              <a:t>Why ZPE Caucaia is the optimal sovereign deployment perimeter</a:t>
            </a:r>
            <a:endParaRPr lang="pt-BR" sz="1300" b="0" u="none" strike="noStrike">
              <a:solidFill>
                <a:srgbClr val="FFFFFF"/>
              </a:solidFill>
              <a:effectLst/>
              <a:uFillTx/>
              <a:latin typeface="Arial"/>
            </a:endParaRPr>
          </a:p>
        </p:txBody>
      </p:sp>
      <p:sp>
        <p:nvSpPr>
          <p:cNvPr id="126"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FFFFFF"/>
              </a:solidFill>
              <a:effectLst/>
              <a:uFillTx/>
              <a:latin typeface="Arial"/>
            </a:endParaRPr>
          </a:p>
        </p:txBody>
      </p:sp>
      <p:sp>
        <p:nvSpPr>
          <p:cNvPr id="127" name="Text 3"/>
          <p:cNvSpPr/>
          <p:nvPr/>
        </p:nvSpPr>
        <p:spPr>
          <a:xfrm>
            <a:off x="50292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E8C847"/>
                </a:solidFill>
                <a:effectLst/>
                <a:uFillTx/>
                <a:latin typeface="Helvetica Neue"/>
                <a:ea typeface="Helvetica Neue"/>
              </a:rPr>
              <a:t>Tax-Exempt Ingestion (ZPE Regime)</a:t>
            </a:r>
            <a:endParaRPr lang="pt-BR" sz="1400" b="0" u="none" strike="noStrike">
              <a:solidFill>
                <a:srgbClr val="FFFFFF"/>
              </a:solidFill>
              <a:effectLst/>
              <a:uFillTx/>
              <a:latin typeface="Arial"/>
            </a:endParaRPr>
          </a:p>
        </p:txBody>
      </p:sp>
      <p:sp>
        <p:nvSpPr>
          <p:cNvPr id="128" name="Shape 4"/>
          <p:cNvSpPr/>
          <p:nvPr/>
        </p:nvSpPr>
        <p:spPr>
          <a:xfrm>
            <a:off x="502920" y="1920240"/>
            <a:ext cx="5303160" cy="2559960"/>
          </a:xfrm>
          <a:prstGeom prst="rect">
            <a:avLst/>
          </a:prstGeom>
          <a:solidFill>
            <a:srgbClr val="0D2839"/>
          </a:solidFill>
          <a:ln w="1270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29" name="Text 5"/>
          <p:cNvSpPr/>
          <p:nvPr/>
        </p:nvSpPr>
        <p:spPr>
          <a:xfrm>
            <a:off x="731520" y="2057400"/>
            <a:ext cx="4845960" cy="2285640"/>
          </a:xfrm>
          <a:prstGeom prst="rect">
            <a:avLst/>
          </a:prstGeom>
          <a:noFill/>
          <a:ln w="0">
            <a:noFill/>
          </a:ln>
        </p:spPr>
        <p:style>
          <a:lnRef idx="0"/>
          <a:fillRef idx="0"/>
          <a:effectRef idx="0"/>
          <a:fontRef idx="minor"/>
        </p:style>
        <p:txBody>
          <a:bodyPr lIns="0" tIns="0" rIns="0" bIns="0" anchor="ctr">
            <a:noAutofit/>
          </a:bodyPr>
          <a:p>
            <a:pPr defTabSz="914400">
              <a:lnSpc>
                <a:spcPts val="1400"/>
              </a:lnSpc>
              <a:spcAft>
                <a:spcPts val="300"/>
              </a:spcAft>
              <a:tabLst>
                <a:tab pos="0" algn="l"/>
              </a:tabLst>
            </a:pPr>
            <a:r>
              <a:rPr lang="en-US" sz="1000" b="0" u="none" strike="noStrike">
                <a:solidFill>
                  <a:srgbClr val="B0C8D8"/>
                </a:solidFill>
                <a:effectLst/>
                <a:uFillTx/>
                <a:latin typeface="Calibri"/>
              </a:rPr>
              <a:t>Under Brazilian Federal Law governing ZPE (Export Processing Zones):</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E8C847"/>
                </a:solidFill>
                <a:effectLst/>
                <a:uFillTx/>
                <a:latin typeface="Calibri"/>
              </a:rPr>
              <a:t>  • GPU clusters: import tariff suspension/exemption</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E8C847"/>
                </a:solidFill>
                <a:effectLst/>
                <a:uFillTx/>
                <a:latin typeface="Calibri"/>
              </a:rPr>
              <a:t>  • Tensor processing units: zero import tax</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E8C847"/>
                </a:solidFill>
                <a:effectLst/>
                <a:uFillTx/>
                <a:latin typeface="Calibri"/>
              </a:rPr>
              <a:t>  • Liquid-chilled racks: duty-free entry</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1" u="none" strike="noStrike">
                <a:solidFill>
                  <a:srgbClr val="E8C847"/>
                </a:solidFill>
                <a:effectLst/>
                <a:uFillTx/>
                <a:latin typeface="Calibri"/>
              </a:rPr>
              <a:t>  • Maximizing hardware density per dollar of capital intake</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600" b="0" u="none" strike="noStrike">
                <a:solidFill>
                  <a:srgbClr val="000000"/>
                </a:solidFill>
                <a:effectLst/>
                <a:uFillTx/>
                <a:latin typeface="Calibri"/>
              </a:rPr>
              <a:t> </a:t>
            </a:r>
            <a:endParaRPr lang="pt-BR" sz="600" b="0" u="none" strike="noStrike">
              <a:solidFill>
                <a:srgbClr val="FFFFFF"/>
              </a:solidFill>
              <a:effectLst/>
              <a:uFillTx/>
              <a:latin typeface="Arial"/>
            </a:endParaRPr>
          </a:p>
          <a:p>
            <a:pPr defTabSz="914400">
              <a:lnSpc>
                <a:spcPts val="1400"/>
              </a:lnSpc>
              <a:spcAft>
                <a:spcPts val="300"/>
              </a:spcAft>
              <a:tabLst>
                <a:tab pos="0" algn="l"/>
              </a:tabLst>
            </a:pPr>
            <a:r>
              <a:rPr lang="en-US" sz="1100" b="1" u="none" strike="noStrike">
                <a:solidFill>
                  <a:srgbClr val="FFFFFF"/>
                </a:solidFill>
                <a:effectLst/>
                <a:uFillTx/>
                <a:latin typeface="Calibri"/>
              </a:rPr>
              <a:t>Result: Tencent's $350M investment buys significantly more GPU capacity than in any non-ZPE jurisdiction in the Americas.</a:t>
            </a:r>
            <a:endParaRPr lang="pt-BR" sz="1100" b="0" u="none" strike="noStrike">
              <a:solidFill>
                <a:srgbClr val="FFFFFF"/>
              </a:solidFill>
              <a:effectLst/>
              <a:uFillTx/>
              <a:latin typeface="Arial"/>
            </a:endParaRPr>
          </a:p>
        </p:txBody>
      </p:sp>
      <p:sp>
        <p:nvSpPr>
          <p:cNvPr id="130" name="Text 6"/>
          <p:cNvSpPr/>
          <p:nvPr/>
        </p:nvSpPr>
        <p:spPr>
          <a:xfrm>
            <a:off x="6400800" y="155448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rgbClr val="00B8A9"/>
                </a:solidFill>
                <a:effectLst/>
                <a:uFillTx/>
                <a:latin typeface="Helvetica Neue"/>
                <a:ea typeface="Helvetica Neue"/>
              </a:rPr>
              <a:t>Thermal Efficiency</a:t>
            </a:r>
            <a:endParaRPr lang="pt-BR" sz="1400" b="0" u="none" strike="noStrike">
              <a:solidFill>
                <a:srgbClr val="FFFFFF"/>
              </a:solidFill>
              <a:effectLst/>
              <a:uFillTx/>
              <a:latin typeface="Arial"/>
            </a:endParaRPr>
          </a:p>
        </p:txBody>
      </p:sp>
      <p:sp>
        <p:nvSpPr>
          <p:cNvPr id="131" name="Shape 7"/>
          <p:cNvSpPr/>
          <p:nvPr/>
        </p:nvSpPr>
        <p:spPr>
          <a:xfrm>
            <a:off x="6400800" y="1920240"/>
            <a:ext cx="5303160" cy="2559960"/>
          </a:xfrm>
          <a:prstGeom prst="rect">
            <a:avLst/>
          </a:prstGeom>
          <a:solidFill>
            <a:srgbClr val="0D2839"/>
          </a:solid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32" name="Text 8"/>
          <p:cNvSpPr/>
          <p:nvPr/>
        </p:nvSpPr>
        <p:spPr>
          <a:xfrm>
            <a:off x="6629400" y="2057400"/>
            <a:ext cx="4845960" cy="2285640"/>
          </a:xfrm>
          <a:prstGeom prst="rect">
            <a:avLst/>
          </a:prstGeom>
          <a:noFill/>
          <a:ln w="0">
            <a:noFill/>
          </a:ln>
        </p:spPr>
        <p:style>
          <a:lnRef idx="0"/>
          <a:fillRef idx="0"/>
          <a:effectRef idx="0"/>
          <a:fontRef idx="minor"/>
        </p:style>
        <p:txBody>
          <a:bodyPr lIns="0" tIns="0" rIns="0" bIns="0" anchor="ctr">
            <a:noAutofit/>
          </a:bodyPr>
          <a:p>
            <a:pPr defTabSz="914400">
              <a:lnSpc>
                <a:spcPts val="1400"/>
              </a:lnSpc>
              <a:spcAft>
                <a:spcPts val="300"/>
              </a:spcAft>
              <a:tabLst>
                <a:tab pos="0" algn="l"/>
              </a:tabLst>
            </a:pPr>
            <a:r>
              <a:rPr lang="en-US" sz="1000" b="0" u="none" strike="noStrike">
                <a:solidFill>
                  <a:srgbClr val="B0C8D8"/>
                </a:solidFill>
                <a:effectLst/>
                <a:uFillTx/>
                <a:latin typeface="Calibri"/>
              </a:rPr>
              <a:t>Proximity to the Pecém Industrial Complex:</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00B8A9"/>
                </a:solidFill>
                <a:effectLst/>
                <a:uFillTx/>
                <a:latin typeface="Calibri"/>
              </a:rPr>
              <a:t>  • Clean-energy grid interconnection (wind + solar)</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00B8A9"/>
                </a:solidFill>
                <a:effectLst/>
                <a:uFillTx/>
                <a:latin typeface="Calibri"/>
              </a:rPr>
              <a:t>  • Coastal cooling corridors for free-air cooling</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00B8A9"/>
                </a:solidFill>
                <a:effectLst/>
                <a:uFillTx/>
                <a:latin typeface="Calibri"/>
              </a:rPr>
              <a:t>  • PUE (Power Usage Effectiveness) optimized to international tier standards</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1000" b="0" u="none" strike="noStrike">
                <a:solidFill>
                  <a:srgbClr val="00B8A9"/>
                </a:solidFill>
                <a:effectLst/>
                <a:uFillTx/>
                <a:latin typeface="Calibri"/>
              </a:rPr>
              <a:t>  • Continuous high-duty AI workloads without thermal throttling</a:t>
            </a:r>
            <a:endParaRPr lang="pt-BR" sz="1000" b="0" u="none" strike="noStrike">
              <a:solidFill>
                <a:srgbClr val="FFFFFF"/>
              </a:solidFill>
              <a:effectLst/>
              <a:uFillTx/>
              <a:latin typeface="Arial"/>
            </a:endParaRPr>
          </a:p>
          <a:p>
            <a:pPr defTabSz="914400">
              <a:lnSpc>
                <a:spcPts val="1400"/>
              </a:lnSpc>
              <a:spcAft>
                <a:spcPts val="300"/>
              </a:spcAft>
              <a:tabLst>
                <a:tab pos="0" algn="l"/>
              </a:tabLst>
            </a:pPr>
            <a:r>
              <a:rPr lang="en-US" sz="600" b="0" u="none" strike="noStrike">
                <a:solidFill>
                  <a:srgbClr val="000000"/>
                </a:solidFill>
                <a:effectLst/>
                <a:uFillTx/>
                <a:latin typeface="Calibri"/>
              </a:rPr>
              <a:t> </a:t>
            </a:r>
            <a:endParaRPr lang="pt-BR" sz="600" b="0" u="none" strike="noStrike">
              <a:solidFill>
                <a:srgbClr val="FFFFFF"/>
              </a:solidFill>
              <a:effectLst/>
              <a:uFillTx/>
              <a:latin typeface="Arial"/>
            </a:endParaRPr>
          </a:p>
          <a:p>
            <a:pPr defTabSz="914400">
              <a:lnSpc>
                <a:spcPts val="1400"/>
              </a:lnSpc>
              <a:spcAft>
                <a:spcPts val="300"/>
              </a:spcAft>
              <a:tabLst>
                <a:tab pos="0" algn="l"/>
              </a:tabLst>
            </a:pPr>
            <a:r>
              <a:rPr lang="en-US" sz="1100" b="1" u="none" strike="noStrike">
                <a:solidFill>
                  <a:srgbClr val="FFFFFF"/>
                </a:solidFill>
                <a:effectLst/>
                <a:uFillTx/>
                <a:latin typeface="Calibri"/>
              </a:rPr>
              <a:t>Combined with Hub 2 (Santa Terezinha solar off-grid), the dual-hub model achieves complete energy independence.</a:t>
            </a:r>
            <a:endParaRPr lang="pt-BR" sz="1100" b="0" u="none" strike="noStrike">
              <a:solidFill>
                <a:srgbClr val="FFFFFF"/>
              </a:solidFill>
              <a:effectLst/>
              <a:uFillTx/>
              <a:latin typeface="Arial"/>
            </a:endParaRPr>
          </a:p>
        </p:txBody>
      </p:sp>
      <p:sp>
        <p:nvSpPr>
          <p:cNvPr id="133" name="Text 9"/>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6B9BB0"/>
                </a:solidFill>
                <a:effectLst/>
                <a:uFillTx/>
                <a:latin typeface="Helvetica Neue"/>
                <a:ea typeface="Helvetica Neue"/>
              </a:rPr>
              <a:t>BeansTech × Tencent Cloud — Confidential</a:t>
            </a:r>
            <a:endParaRPr lang="pt-BR" sz="800" b="0" u="none" strike="noStrike">
              <a:solidFill>
                <a:srgbClr val="FFFFFF"/>
              </a:solidFill>
              <a:effectLst/>
              <a:uFillTx/>
              <a:latin typeface="Arial"/>
            </a:endParaRPr>
          </a:p>
        </p:txBody>
      </p:sp>
      <p:sp>
        <p:nvSpPr>
          <p:cNvPr id="134" name="Text 10"/>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6B9BB0"/>
                </a:solidFill>
                <a:effectLst/>
                <a:uFillTx/>
                <a:latin typeface="Helvetica Neue"/>
                <a:ea typeface="Helvetica Neue"/>
              </a:rPr>
              <a:t>9</a:t>
            </a:r>
            <a:endParaRPr lang="pt-BR"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5"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Alliance Structure &amp; Capital Allocation</a:t>
            </a:r>
            <a:endParaRPr lang="pt-BR" sz="2800" b="0" u="none" strike="noStrike">
              <a:solidFill>
                <a:srgbClr val="000000"/>
              </a:solidFill>
              <a:effectLst/>
              <a:uFillTx/>
              <a:latin typeface="Arial"/>
            </a:endParaRPr>
          </a:p>
        </p:txBody>
      </p:sp>
      <p:sp>
        <p:nvSpPr>
          <p:cNvPr id="136"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US$ 350M initial intake — targeted deployment</a:t>
            </a:r>
            <a:endParaRPr lang="pt-BR" sz="1300" b="0" u="none" strike="noStrike">
              <a:solidFill>
                <a:srgbClr val="000000"/>
              </a:solidFill>
              <a:effectLst/>
              <a:uFillTx/>
              <a:latin typeface="Arial"/>
            </a:endParaRPr>
          </a:p>
        </p:txBody>
      </p:sp>
      <p:sp>
        <p:nvSpPr>
          <p:cNvPr id="137"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sp>
        <p:nvSpPr>
          <p:cNvPr id="138" name="Text 3"/>
          <p:cNvSpPr/>
          <p:nvPr/>
        </p:nvSpPr>
        <p:spPr>
          <a:xfrm>
            <a:off x="502920" y="1463040"/>
            <a:ext cx="54860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A1F2E"/>
                </a:solidFill>
                <a:effectLst/>
                <a:uFillTx/>
                <a:latin typeface="Helvetica Neue"/>
                <a:ea typeface="Helvetica Neue"/>
              </a:rPr>
              <a:t>Capital Allocation</a:t>
            </a:r>
            <a:endParaRPr lang="pt-BR" sz="1300" b="0" u="none" strike="noStrike">
              <a:solidFill>
                <a:srgbClr val="000000"/>
              </a:solidFill>
              <a:effectLst/>
              <a:uFillTx/>
              <a:latin typeface="Arial"/>
            </a:endParaRPr>
          </a:p>
        </p:txBody>
      </p:sp>
      <p:sp>
        <p:nvSpPr>
          <p:cNvPr id="139" name="Shape 4"/>
          <p:cNvSpPr/>
          <p:nvPr/>
        </p:nvSpPr>
        <p:spPr>
          <a:xfrm>
            <a:off x="502920" y="1828800"/>
            <a:ext cx="5394600" cy="1005480"/>
          </a:xfrm>
          <a:prstGeom prst="rect">
            <a:avLst/>
          </a:prstGeom>
          <a:solidFill>
            <a:srgbClr val="0A1F2E"/>
          </a:solidFill>
          <a:ln w="1905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40" name="Text 5"/>
          <p:cNvSpPr/>
          <p:nvPr/>
        </p:nvSpPr>
        <p:spPr>
          <a:xfrm>
            <a:off x="731520" y="1920240"/>
            <a:ext cx="4937400" cy="82260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201"/>
              </a:spcAft>
              <a:tabLst>
                <a:tab pos="0" algn="l"/>
              </a:tabLst>
            </a:pPr>
            <a:r>
              <a:rPr lang="en-US" sz="1100" b="1" u="none" strike="noStrike">
                <a:solidFill>
                  <a:srgbClr val="E8C847"/>
                </a:solidFill>
                <a:effectLst/>
                <a:uFillTx/>
                <a:latin typeface="Calibri"/>
              </a:rPr>
              <a:t>Enterprise Hardware Procurement</a:t>
            </a:r>
            <a:endParaRPr lang="pt-BR" sz="1100" b="0" u="none" strike="noStrike">
              <a:solidFill>
                <a:srgbClr val="000000"/>
              </a:solidFill>
              <a:effectLst/>
              <a:uFillTx/>
              <a:latin typeface="Arial"/>
            </a:endParaRPr>
          </a:p>
          <a:p>
            <a:pPr defTabSz="914400">
              <a:lnSpc>
                <a:spcPts val="1301"/>
              </a:lnSpc>
              <a:spcAft>
                <a:spcPts val="201"/>
              </a:spcAft>
              <a:tabLst>
                <a:tab pos="0" algn="l"/>
              </a:tabLst>
            </a:pPr>
            <a:r>
              <a:rPr lang="en-US" sz="900" b="0" u="none" strike="noStrike">
                <a:solidFill>
                  <a:srgbClr val="B0C8D8"/>
                </a:solidFill>
                <a:effectLst/>
                <a:uFillTx/>
                <a:latin typeface="Calibri"/>
              </a:rPr>
              <a:t>GPU clusters (H100/L20), tensor units, liquid-cooled racks, optical transponders</a:t>
            </a:r>
            <a:endParaRPr lang="pt-BR" sz="900" b="0" u="none" strike="noStrike">
              <a:solidFill>
                <a:srgbClr val="000000"/>
              </a:solidFill>
              <a:effectLst/>
              <a:uFillTx/>
              <a:latin typeface="Arial"/>
            </a:endParaRPr>
          </a:p>
          <a:p>
            <a:pPr defTabSz="914400">
              <a:lnSpc>
                <a:spcPts val="1301"/>
              </a:lnSpc>
              <a:spcAft>
                <a:spcPts val="201"/>
              </a:spcAft>
              <a:tabLst>
                <a:tab pos="0" algn="l"/>
              </a:tabLst>
            </a:pPr>
            <a:r>
              <a:rPr lang="en-US" sz="1100" b="1" u="none" strike="noStrike">
                <a:solidFill>
                  <a:srgbClr val="E8C847"/>
                </a:solidFill>
                <a:effectLst/>
                <a:uFillTx/>
                <a:latin typeface="Calibri"/>
              </a:rPr>
              <a:t>US$ 150M</a:t>
            </a:r>
            <a:endParaRPr lang="pt-BR" sz="1100" b="0" u="none" strike="noStrike">
              <a:solidFill>
                <a:srgbClr val="000000"/>
              </a:solidFill>
              <a:effectLst/>
              <a:uFillTx/>
              <a:latin typeface="Arial"/>
            </a:endParaRPr>
          </a:p>
        </p:txBody>
      </p:sp>
      <p:sp>
        <p:nvSpPr>
          <p:cNvPr id="141" name="Shape 6"/>
          <p:cNvSpPr/>
          <p:nvPr/>
        </p:nvSpPr>
        <p:spPr>
          <a:xfrm>
            <a:off x="502920" y="2971800"/>
            <a:ext cx="5394600" cy="10054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142" name="Text 7"/>
          <p:cNvSpPr/>
          <p:nvPr/>
        </p:nvSpPr>
        <p:spPr>
          <a:xfrm>
            <a:off x="731520" y="3063240"/>
            <a:ext cx="4937400" cy="82260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201"/>
              </a:spcAft>
              <a:tabLst>
                <a:tab pos="0" algn="l"/>
              </a:tabLst>
            </a:pPr>
            <a:r>
              <a:rPr lang="en-US" sz="1100" b="1" u="none" strike="noStrike">
                <a:solidFill>
                  <a:srgbClr val="0A1F2E"/>
                </a:solidFill>
                <a:effectLst/>
                <a:uFillTx/>
                <a:latin typeface="Calibri"/>
              </a:rPr>
              <a:t>Localized Model Ingestion</a:t>
            </a:r>
            <a:endParaRPr lang="pt-BR" sz="1100" b="0" u="none" strike="noStrike">
              <a:solidFill>
                <a:srgbClr val="000000"/>
              </a:solidFill>
              <a:effectLst/>
              <a:uFillTx/>
              <a:latin typeface="Arial"/>
            </a:endParaRPr>
          </a:p>
          <a:p>
            <a:pPr defTabSz="914400">
              <a:lnSpc>
                <a:spcPts val="1301"/>
              </a:lnSpc>
              <a:spcAft>
                <a:spcPts val="201"/>
              </a:spcAft>
              <a:tabLst>
                <a:tab pos="0" algn="l"/>
              </a:tabLst>
            </a:pPr>
            <a:r>
              <a:rPr lang="en-US" sz="900" b="0" u="none" strike="noStrike">
                <a:solidFill>
                  <a:srgbClr val="5A6B7A"/>
                </a:solidFill>
                <a:effectLst/>
                <a:uFillTx/>
                <a:latin typeface="Calibri"/>
              </a:rPr>
              <a:t>Hunyuan/Hy4 model weights, fine-tuning infrastructure, inference clusters</a:t>
            </a:r>
            <a:endParaRPr lang="pt-BR" sz="900" b="0" u="none" strike="noStrike">
              <a:solidFill>
                <a:srgbClr val="000000"/>
              </a:solidFill>
              <a:effectLst/>
              <a:uFillTx/>
              <a:latin typeface="Arial"/>
            </a:endParaRPr>
          </a:p>
          <a:p>
            <a:pPr defTabSz="914400">
              <a:lnSpc>
                <a:spcPts val="1301"/>
              </a:lnSpc>
              <a:spcAft>
                <a:spcPts val="201"/>
              </a:spcAft>
              <a:tabLst>
                <a:tab pos="0" algn="l"/>
              </a:tabLst>
            </a:pPr>
            <a:r>
              <a:rPr lang="en-US" sz="1100" b="1" u="none" strike="noStrike">
                <a:solidFill>
                  <a:srgbClr val="00B8A9"/>
                </a:solidFill>
                <a:effectLst/>
                <a:uFillTx/>
                <a:latin typeface="Calibri"/>
              </a:rPr>
              <a:t>US$ 80M</a:t>
            </a:r>
            <a:endParaRPr lang="pt-BR" sz="1100" b="0" u="none" strike="noStrike">
              <a:solidFill>
                <a:srgbClr val="000000"/>
              </a:solidFill>
              <a:effectLst/>
              <a:uFillTx/>
              <a:latin typeface="Arial"/>
            </a:endParaRPr>
          </a:p>
        </p:txBody>
      </p:sp>
      <p:sp>
        <p:nvSpPr>
          <p:cNvPr id="143" name="Shape 8"/>
          <p:cNvSpPr/>
          <p:nvPr/>
        </p:nvSpPr>
        <p:spPr>
          <a:xfrm>
            <a:off x="502920" y="4114800"/>
            <a:ext cx="5394600" cy="10054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144" name="Text 9"/>
          <p:cNvSpPr/>
          <p:nvPr/>
        </p:nvSpPr>
        <p:spPr>
          <a:xfrm>
            <a:off x="731520" y="4206240"/>
            <a:ext cx="4937400" cy="82260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201"/>
              </a:spcAft>
              <a:tabLst>
                <a:tab pos="0" algn="l"/>
              </a:tabLst>
            </a:pPr>
            <a:r>
              <a:rPr lang="en-US" sz="1100" b="1" u="none" strike="noStrike">
                <a:solidFill>
                  <a:srgbClr val="0A1F2E"/>
                </a:solidFill>
                <a:effectLst/>
                <a:uFillTx/>
                <a:latin typeface="Calibri"/>
              </a:rPr>
              <a:t>Green Off-Grid Site Development</a:t>
            </a:r>
            <a:endParaRPr lang="pt-BR" sz="1100" b="0" u="none" strike="noStrike">
              <a:solidFill>
                <a:srgbClr val="000000"/>
              </a:solidFill>
              <a:effectLst/>
              <a:uFillTx/>
              <a:latin typeface="Arial"/>
            </a:endParaRPr>
          </a:p>
          <a:p>
            <a:pPr defTabSz="914400">
              <a:lnSpc>
                <a:spcPts val="1301"/>
              </a:lnSpc>
              <a:spcAft>
                <a:spcPts val="201"/>
              </a:spcAft>
              <a:tabLst>
                <a:tab pos="0" algn="l"/>
              </a:tabLst>
            </a:pPr>
            <a:r>
              <a:rPr lang="en-US" sz="900" b="0" u="none" strike="noStrike">
                <a:solidFill>
                  <a:srgbClr val="5A6B7A"/>
                </a:solidFill>
                <a:effectLst/>
                <a:uFillTx/>
                <a:latin typeface="Calibri"/>
              </a:rPr>
              <a:t>Solar plant expansion, satellite connectivity, ZPE construction</a:t>
            </a:r>
            <a:endParaRPr lang="pt-BR" sz="900" b="0" u="none" strike="noStrike">
              <a:solidFill>
                <a:srgbClr val="000000"/>
              </a:solidFill>
              <a:effectLst/>
              <a:uFillTx/>
              <a:latin typeface="Arial"/>
            </a:endParaRPr>
          </a:p>
          <a:p>
            <a:pPr defTabSz="914400">
              <a:lnSpc>
                <a:spcPts val="1301"/>
              </a:lnSpc>
              <a:spcAft>
                <a:spcPts val="201"/>
              </a:spcAft>
              <a:tabLst>
                <a:tab pos="0" algn="l"/>
              </a:tabLst>
            </a:pPr>
            <a:r>
              <a:rPr lang="en-US" sz="1100" b="1" u="none" strike="noStrike">
                <a:solidFill>
                  <a:srgbClr val="00B8A9"/>
                </a:solidFill>
                <a:effectLst/>
                <a:uFillTx/>
                <a:latin typeface="Calibri"/>
              </a:rPr>
              <a:t>US$ 70M</a:t>
            </a:r>
            <a:endParaRPr lang="pt-BR" sz="1100" b="0" u="none" strike="noStrike">
              <a:solidFill>
                <a:srgbClr val="000000"/>
              </a:solidFill>
              <a:effectLst/>
              <a:uFillTx/>
              <a:latin typeface="Arial"/>
            </a:endParaRPr>
          </a:p>
        </p:txBody>
      </p:sp>
      <p:sp>
        <p:nvSpPr>
          <p:cNvPr id="145" name="Shape 10"/>
          <p:cNvSpPr/>
          <p:nvPr/>
        </p:nvSpPr>
        <p:spPr>
          <a:xfrm>
            <a:off x="502920" y="5257800"/>
            <a:ext cx="5394600" cy="1005480"/>
          </a:xfrm>
          <a:prstGeom prst="rect">
            <a:avLst/>
          </a:prstGeom>
          <a:solidFill>
            <a:srgbClr val="F0F5F7"/>
          </a:solidFill>
          <a:ln w="9525">
            <a:solidFill>
              <a:srgbClr val="C8D5DC"/>
            </a:solidFill>
            <a:round/>
          </a:ln>
        </p:spPr>
        <p:style>
          <a:lnRef idx="0"/>
          <a:fillRef idx="0"/>
          <a:effectRef idx="0"/>
          <a:fontRef idx="minor"/>
        </p:style>
        <p:txBody>
          <a:bodyPr lIns="90000" tIns="45000" rIns="90000" bIns="45000" anchor="t">
            <a:noAutofit/>
          </a:bodyPr>
          <a:p>
            <a:endParaRPr lang="pt-BR" sz="1800" b="0" u="none" strike="noStrike">
              <a:solidFill>
                <a:srgbClr val="000000"/>
              </a:solidFill>
              <a:effectLst/>
              <a:uFillTx/>
              <a:latin typeface="Arial"/>
            </a:endParaRPr>
          </a:p>
        </p:txBody>
      </p:sp>
      <p:sp>
        <p:nvSpPr>
          <p:cNvPr id="146" name="Text 11"/>
          <p:cNvSpPr/>
          <p:nvPr/>
        </p:nvSpPr>
        <p:spPr>
          <a:xfrm>
            <a:off x="731520" y="5349240"/>
            <a:ext cx="4937400" cy="82260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201"/>
              </a:spcAft>
              <a:tabLst>
                <a:tab pos="0" algn="l"/>
              </a:tabLst>
            </a:pPr>
            <a:r>
              <a:rPr lang="en-US" sz="1100" b="1" u="none" strike="noStrike">
                <a:solidFill>
                  <a:srgbClr val="0A1F2E"/>
                </a:solidFill>
                <a:effectLst/>
                <a:uFillTx/>
                <a:latin typeface="Calibri"/>
              </a:rPr>
              <a:t>Regulated AI Vertical Scaling</a:t>
            </a:r>
            <a:endParaRPr lang="pt-BR" sz="1100" b="0" u="none" strike="noStrike">
              <a:solidFill>
                <a:srgbClr val="000000"/>
              </a:solidFill>
              <a:effectLst/>
              <a:uFillTx/>
              <a:latin typeface="Arial"/>
            </a:endParaRPr>
          </a:p>
          <a:p>
            <a:pPr defTabSz="914400">
              <a:lnSpc>
                <a:spcPts val="1301"/>
              </a:lnSpc>
              <a:spcAft>
                <a:spcPts val="201"/>
              </a:spcAft>
              <a:tabLst>
                <a:tab pos="0" algn="l"/>
              </a:tabLst>
            </a:pPr>
            <a:r>
              <a:rPr lang="en-US" sz="900" b="0" u="none" strike="noStrike">
                <a:solidFill>
                  <a:srgbClr val="5A6B7A"/>
                </a:solidFill>
                <a:effectLst/>
                <a:uFillTx/>
                <a:latin typeface="Calibri"/>
              </a:rPr>
              <a:t>Production deployment across 4 verticals, compliance infrastructure, team</a:t>
            </a:r>
            <a:endParaRPr lang="pt-BR" sz="900" b="0" u="none" strike="noStrike">
              <a:solidFill>
                <a:srgbClr val="000000"/>
              </a:solidFill>
              <a:effectLst/>
              <a:uFillTx/>
              <a:latin typeface="Arial"/>
            </a:endParaRPr>
          </a:p>
          <a:p>
            <a:pPr defTabSz="914400">
              <a:lnSpc>
                <a:spcPts val="1301"/>
              </a:lnSpc>
              <a:spcAft>
                <a:spcPts val="201"/>
              </a:spcAft>
              <a:tabLst>
                <a:tab pos="0" algn="l"/>
              </a:tabLst>
            </a:pPr>
            <a:r>
              <a:rPr lang="en-US" sz="1100" b="1" u="none" strike="noStrike">
                <a:solidFill>
                  <a:srgbClr val="00B8A9"/>
                </a:solidFill>
                <a:effectLst/>
                <a:uFillTx/>
                <a:latin typeface="Calibri"/>
              </a:rPr>
              <a:t>US$ 50M</a:t>
            </a:r>
            <a:endParaRPr lang="pt-BR" sz="1100" b="0" u="none" strike="noStrike">
              <a:solidFill>
                <a:srgbClr val="000000"/>
              </a:solidFill>
              <a:effectLst/>
              <a:uFillTx/>
              <a:latin typeface="Arial"/>
            </a:endParaRPr>
          </a:p>
        </p:txBody>
      </p:sp>
      <p:sp>
        <p:nvSpPr>
          <p:cNvPr id="147" name="Text 12"/>
          <p:cNvSpPr/>
          <p:nvPr/>
        </p:nvSpPr>
        <p:spPr>
          <a:xfrm>
            <a:off x="6400800" y="1463040"/>
            <a:ext cx="530316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A1F2E"/>
                </a:solidFill>
                <a:effectLst/>
                <a:uFillTx/>
                <a:latin typeface="Helvetica Neue"/>
                <a:ea typeface="Helvetica Neue"/>
              </a:rPr>
              <a:t>Value Synergy</a:t>
            </a:r>
            <a:endParaRPr lang="pt-BR" sz="1300" b="0" u="none" strike="noStrike">
              <a:solidFill>
                <a:srgbClr val="000000"/>
              </a:solidFill>
              <a:effectLst/>
              <a:uFillTx/>
              <a:latin typeface="Arial"/>
            </a:endParaRPr>
          </a:p>
        </p:txBody>
      </p:sp>
      <p:sp>
        <p:nvSpPr>
          <p:cNvPr id="148" name="Text 13"/>
          <p:cNvSpPr/>
          <p:nvPr/>
        </p:nvSpPr>
        <p:spPr>
          <a:xfrm>
            <a:off x="6400800" y="1828800"/>
            <a:ext cx="5303160" cy="411444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300"/>
              </a:spcAft>
              <a:buClr>
                <a:srgbClr val="000000"/>
              </a:buClr>
              <a:buFont typeface="Wingdings 3" charset="2"/>
              <a:buChar char=""/>
            </a:pPr>
            <a:r>
              <a:rPr lang="en-US" sz="1800" b="1" u="none" strike="noStrike">
                <a:solidFill>
                  <a:srgbClr val="000000"/>
                </a:solidFill>
                <a:effectLst/>
                <a:uFillTx/>
                <a:latin typeface="Calibri"/>
              </a:rPr>
              <a:t>Pre-engineered compliance frameworks</a:t>
            </a:r>
            <a:endParaRPr lang="pt-BR" sz="180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LGPD, CFM, BACEN, ANS compliance built into the architecture from day one — not bolted on</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0000"/>
              </a:buClr>
              <a:buFont typeface="Wingdings 3" charset="2"/>
              <a:buChar char=""/>
              <a:tabLst>
                <a:tab pos="0" algn="l"/>
              </a:tabLst>
            </a:pPr>
            <a:r>
              <a:rPr lang="en-US" sz="950" b="1" u="none" strike="noStrike">
                <a:solidFill>
                  <a:srgbClr val="000000"/>
                </a:solidFill>
                <a:effectLst/>
                <a:uFillTx/>
                <a:latin typeface="Calibri"/>
              </a:rPr>
              <a:t>Localized deployment pipelines</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Production infrastructure already running — 77M+ decisions indexed, 8 medical portals live, identity and compliance stack operational</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0000"/>
              </a:buClr>
              <a:buFont typeface="Wingdings 3" charset="2"/>
              <a:buChar char=""/>
              <a:tabLst>
                <a:tab pos="0" algn="l"/>
              </a:tabLst>
            </a:pPr>
            <a:r>
              <a:rPr lang="en-US" sz="950" b="1" u="none" strike="noStrike">
                <a:solidFill>
                  <a:srgbClr val="000000"/>
                </a:solidFill>
                <a:effectLst/>
                <a:uFillTx/>
                <a:latin typeface="Calibri"/>
              </a:rPr>
              <a:t>Established institutional networks</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Founder is a corporate attorney with 12 years in the Judiciary — direct access to tribunals, hospitals, and financial institutions</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400" b="0" u="none" strike="noStrike">
                <a:solidFill>
                  <a:srgbClr val="000000"/>
                </a:solidFill>
                <a:effectLst/>
                <a:uFillTx/>
                <a:latin typeface="Calibri"/>
              </a:rPr>
              <a:t> </a:t>
            </a:r>
            <a:endParaRPr lang="pt-BR" sz="400" b="0" u="none" strike="noStrike">
              <a:solidFill>
                <a:srgbClr val="000000"/>
              </a:solidFill>
              <a:effectLst/>
              <a:uFillTx/>
              <a:latin typeface="Arial"/>
            </a:endParaRPr>
          </a:p>
          <a:p>
            <a:pPr marL="127080" indent="-127080" defTabSz="914400">
              <a:lnSpc>
                <a:spcPts val="1400"/>
              </a:lnSpc>
              <a:spcAft>
                <a:spcPts val="300"/>
              </a:spcAft>
              <a:buClr>
                <a:srgbClr val="000000"/>
              </a:buClr>
              <a:buFont typeface="Wingdings 3" charset="2"/>
              <a:buChar char=""/>
              <a:tabLst>
                <a:tab pos="0" algn="l"/>
              </a:tabLst>
            </a:pPr>
            <a:r>
              <a:rPr lang="en-US" sz="950" b="1" u="none" strike="noStrike">
                <a:solidFill>
                  <a:srgbClr val="000000"/>
                </a:solidFill>
                <a:effectLst/>
                <a:uFillTx/>
                <a:latin typeface="Calibri"/>
              </a:rPr>
              <a:t>Sovereign land and premium domains</a:t>
            </a:r>
            <a:endParaRPr lang="pt-BR" sz="950" b="0" u="none" strike="noStrike">
              <a:solidFill>
                <a:srgbClr val="000000"/>
              </a:solidFill>
              <a:effectLst/>
              <a:uFillTx/>
              <a:latin typeface="Arial"/>
            </a:endParaRPr>
          </a:p>
          <a:p>
            <a:pPr defTabSz="914400">
              <a:lnSpc>
                <a:spcPts val="1400"/>
              </a:lnSpc>
              <a:spcAft>
                <a:spcPts val="300"/>
              </a:spcAft>
              <a:tabLst>
                <a:tab pos="0" algn="l"/>
              </a:tabLst>
            </a:pPr>
            <a:r>
              <a:rPr lang="en-US" sz="950" b="0" u="none" strike="noStrike">
                <a:solidFill>
                  <a:srgbClr val="5A6B7A"/>
                </a:solidFill>
                <a:effectLst/>
                <a:uFillTx/>
                <a:latin typeface="Calibri"/>
              </a:rPr>
              <a:t>hy.cloud as product domain · land in PB (solar + satellite) and CE (ZPE, subsea) — ready for construction</a:t>
            </a:r>
            <a:endParaRPr lang="pt-BR" sz="950" b="0" u="none" strike="noStrike">
              <a:solidFill>
                <a:srgbClr val="000000"/>
              </a:solidFill>
              <a:effectLst/>
              <a:uFillTx/>
              <a:latin typeface="Arial"/>
            </a:endParaRPr>
          </a:p>
        </p:txBody>
      </p:sp>
      <p:sp>
        <p:nvSpPr>
          <p:cNvPr id="149" name="Text 14"/>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150" name="Text 15"/>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10</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1"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A1F2E"/>
                </a:solidFill>
                <a:effectLst/>
                <a:uFillTx/>
                <a:latin typeface="Helvetica Neue"/>
                <a:ea typeface="Helvetica Neue"/>
              </a:rPr>
              <a:t>Revenue Projection</a:t>
            </a:r>
            <a:endParaRPr lang="pt-BR" sz="2800" b="0" u="none" strike="noStrike">
              <a:solidFill>
                <a:srgbClr val="000000"/>
              </a:solidFill>
              <a:effectLst/>
              <a:uFillTx/>
              <a:latin typeface="Arial"/>
            </a:endParaRPr>
          </a:p>
        </p:txBody>
      </p:sp>
      <p:sp>
        <p:nvSpPr>
          <p:cNvPr id="152"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6B7A"/>
                </a:solidFill>
                <a:effectLst/>
                <a:uFillTx/>
                <a:latin typeface="Helvetica Neue"/>
                <a:ea typeface="Helvetica Neue"/>
              </a:rPr>
              <a:t>US$ 350M partnership → US$ 1.1B cumulative revenue (5 years) → US$ 3.8B enterprise value</a:t>
            </a:r>
            <a:endParaRPr lang="pt-BR" sz="1300" b="0" u="none" strike="noStrike">
              <a:solidFill>
                <a:srgbClr val="000000"/>
              </a:solidFill>
              <a:effectLst/>
              <a:uFillTx/>
              <a:latin typeface="Arial"/>
            </a:endParaRPr>
          </a:p>
        </p:txBody>
      </p:sp>
      <p:sp>
        <p:nvSpPr>
          <p:cNvPr id="153"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000000"/>
              </a:solidFill>
              <a:effectLst/>
              <a:uFillTx/>
              <a:latin typeface="Arial"/>
            </a:endParaRPr>
          </a:p>
        </p:txBody>
      </p:sp>
      <p:graphicFrame>
        <p:nvGraphicFramePr>
          <p:cNvPr id="154" name="Chart 0"/>
          <p:cNvGraphicFramePr/>
          <p:nvPr/>
        </p:nvGraphicFramePr>
        <p:xfrm>
          <a:off x="502920" y="1554480"/>
          <a:ext cx="5303160" cy="3200040"/>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155" name="Table 0"/>
          <p:cNvGraphicFramePr/>
          <p:nvPr/>
        </p:nvGraphicFramePr>
        <p:xfrm>
          <a:off x="6400800" y="1554480"/>
          <a:ext cx="5303160" cy="2431800"/>
        </p:xfrm>
        <a:graphic>
          <a:graphicData uri="http://schemas.openxmlformats.org/drawingml/2006/table">
            <a:tbl>
              <a:tblPr/>
              <a:tblGrid>
                <a:gridCol w="3931920"/>
                <a:gridCol w="1371600"/>
              </a:tblGrid>
              <a:tr h="347400">
                <a:tc>
                  <a:txBody>
                    <a:bodyPr anchor="ctr">
                      <a:noAutofit/>
                    </a:bodyPr>
                    <a:p>
                      <a:pPr defTabSz="914400">
                        <a:lnSpc>
                          <a:spcPct val="100000"/>
                        </a:lnSpc>
                        <a:tabLst>
                          <a:tab pos="0" algn="l"/>
                        </a:tabLst>
                      </a:pPr>
                      <a:r>
                        <a:rPr lang="en-US" sz="950" b="1" u="none" strike="noStrike">
                          <a:solidFill>
                            <a:srgbClr val="E8C847"/>
                          </a:solidFill>
                          <a:effectLst/>
                          <a:uFillTx/>
                          <a:latin typeface="Helvetica Neue"/>
                          <a:ea typeface="Helvetica Neue"/>
                        </a:rPr>
                        <a:t>Revenue Stream (Year 5)</a:t>
                      </a:r>
                      <a:endParaRPr lang="pt-BR" sz="95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c>
                  <a:txBody>
                    <a:bodyPr anchor="ctr">
                      <a:noAutofit/>
                    </a:bodyPr>
                    <a:p>
                      <a:pPr algn="r" defTabSz="914400">
                        <a:lnSpc>
                          <a:spcPct val="100000"/>
                        </a:lnSpc>
                        <a:tabLst>
                          <a:tab pos="0" algn="l"/>
                        </a:tabLst>
                      </a:pPr>
                      <a:r>
                        <a:rPr lang="en-US" sz="950" b="1" u="none" strike="noStrike">
                          <a:solidFill>
                            <a:srgbClr val="E8C847"/>
                          </a:solidFill>
                          <a:effectLst/>
                          <a:uFillTx/>
                          <a:latin typeface="Helvetica Neue"/>
                          <a:ea typeface="Helvetica Neue"/>
                        </a:rPr>
                        <a:t>US$M/yr</a:t>
                      </a:r>
                      <a:endParaRPr lang="pt-BR" sz="95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r>
              <a:tr h="347400">
                <a:tc>
                  <a:txBody>
                    <a:bodyPr anchor="ctr">
                      <a:noAutofit/>
                    </a:bodyPr>
                    <a:p>
                      <a:pPr defTabSz="914400">
                        <a:lnSpc>
                          <a:spcPct val="100000"/>
                        </a:lnSpc>
                        <a:tabLst>
                          <a:tab pos="0" algn="l"/>
                        </a:tabLst>
                      </a:pPr>
                      <a:r>
                        <a:rPr lang="en-US" sz="950" b="0" u="none" strike="noStrike">
                          <a:solidFill>
                            <a:srgbClr val="1A2332"/>
                          </a:solidFill>
                          <a:effectLst/>
                          <a:uFillTx/>
                          <a:latin typeface="Helvetica Neue"/>
                          <a:ea typeface="Helvetica Neue"/>
                        </a:rPr>
                        <a:t>Brazil (4 verticals SaaS + API)</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algn="r" defTabSz="914400">
                        <a:lnSpc>
                          <a:spcPct val="100000"/>
                        </a:lnSpc>
                        <a:tabLst>
                          <a:tab pos="0" algn="l"/>
                        </a:tabLst>
                      </a:pPr>
                      <a:r>
                        <a:rPr lang="en-US" sz="950" b="0" u="none" strike="noStrike">
                          <a:solidFill>
                            <a:srgbClr val="1A2332"/>
                          </a:solidFill>
                          <a:effectLst/>
                          <a:uFillTx/>
                          <a:latin typeface="Helvetica Neue"/>
                          <a:ea typeface="Helvetica Neue"/>
                        </a:rPr>
                        <a:t>180</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r>
              <a:tr h="347400">
                <a:tc>
                  <a:txBody>
                    <a:bodyPr anchor="ctr">
                      <a:noAutofit/>
                    </a:bodyPr>
                    <a:p>
                      <a:pPr defTabSz="914400">
                        <a:lnSpc>
                          <a:spcPct val="100000"/>
                        </a:lnSpc>
                        <a:tabLst>
                          <a:tab pos="0" algn="l"/>
                        </a:tabLst>
                      </a:pPr>
                      <a:r>
                        <a:rPr lang="en-US" sz="950" b="0" u="none" strike="noStrike">
                          <a:solidFill>
                            <a:srgbClr val="1A2332"/>
                          </a:solidFill>
                          <a:effectLst/>
                          <a:uFillTx/>
                          <a:latin typeface="Helvetica Neue"/>
                          <a:ea typeface="Helvetica Neue"/>
                        </a:rPr>
                        <a:t>Latin America (Tencent edge services)</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c>
                  <a:txBody>
                    <a:bodyPr anchor="ctr">
                      <a:noAutofit/>
                    </a:bodyPr>
                    <a:p>
                      <a:pPr algn="r" defTabSz="914400">
                        <a:lnSpc>
                          <a:spcPct val="100000"/>
                        </a:lnSpc>
                        <a:tabLst>
                          <a:tab pos="0" algn="l"/>
                        </a:tabLst>
                      </a:pPr>
                      <a:r>
                        <a:rPr lang="en-US" sz="950" b="0" u="none" strike="noStrike">
                          <a:solidFill>
                            <a:srgbClr val="1A2332"/>
                          </a:solidFill>
                          <a:effectLst/>
                          <a:uFillTx/>
                          <a:latin typeface="Helvetica Neue"/>
                          <a:ea typeface="Helvetica Neue"/>
                        </a:rPr>
                        <a:t>120</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r>
              <a:tr h="347400">
                <a:tc>
                  <a:txBody>
                    <a:bodyPr anchor="ctr">
                      <a:noAutofit/>
                    </a:bodyPr>
                    <a:p>
                      <a:pPr defTabSz="914400">
                        <a:lnSpc>
                          <a:spcPct val="100000"/>
                        </a:lnSpc>
                        <a:tabLst>
                          <a:tab pos="0" algn="l"/>
                        </a:tabLst>
                      </a:pPr>
                      <a:r>
                        <a:rPr lang="en-US" sz="950" b="0" u="none" strike="noStrike">
                          <a:solidFill>
                            <a:srgbClr val="1A2332"/>
                          </a:solidFill>
                          <a:effectLst/>
                          <a:uFillTx/>
                          <a:latin typeface="Helvetica Neue"/>
                          <a:ea typeface="Helvetica Neue"/>
                        </a:rPr>
                        <a:t>Compute-as-a-Service (GPU cloud)</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algn="r" defTabSz="914400">
                        <a:lnSpc>
                          <a:spcPct val="100000"/>
                        </a:lnSpc>
                        <a:tabLst>
                          <a:tab pos="0" algn="l"/>
                        </a:tabLst>
                      </a:pPr>
                      <a:r>
                        <a:rPr lang="en-US" sz="950" b="0" u="none" strike="noStrike">
                          <a:solidFill>
                            <a:srgbClr val="1A2332"/>
                          </a:solidFill>
                          <a:effectLst/>
                          <a:uFillTx/>
                          <a:latin typeface="Helvetica Neue"/>
                          <a:ea typeface="Helvetica Neue"/>
                        </a:rPr>
                        <a:t>80</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r>
              <a:tr h="347400">
                <a:tc>
                  <a:txBody>
                    <a:bodyPr anchor="ctr">
                      <a:noAutofit/>
                    </a:bodyPr>
                    <a:p>
                      <a:pPr defTabSz="914400">
                        <a:lnSpc>
                          <a:spcPct val="100000"/>
                        </a:lnSpc>
                        <a:tabLst>
                          <a:tab pos="0" algn="l"/>
                        </a:tabLst>
                      </a:pPr>
                      <a:r>
                        <a:rPr lang="en-US" sz="950" b="0" u="none" strike="noStrike">
                          <a:solidFill>
                            <a:srgbClr val="1A2332"/>
                          </a:solidFill>
                          <a:effectLst/>
                          <a:uFillTx/>
                          <a:latin typeface="Helvetica Neue"/>
                          <a:ea typeface="Helvetica Neue"/>
                        </a:rPr>
                        <a:t>Sovereign Cloud (hy.cloud API)</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c>
                  <a:txBody>
                    <a:bodyPr anchor="ctr">
                      <a:noAutofit/>
                    </a:bodyPr>
                    <a:p>
                      <a:pPr algn="r" defTabSz="914400">
                        <a:lnSpc>
                          <a:spcPct val="100000"/>
                        </a:lnSpc>
                        <a:tabLst>
                          <a:tab pos="0" algn="l"/>
                        </a:tabLst>
                      </a:pPr>
                      <a:r>
                        <a:rPr lang="en-US" sz="950" b="0" u="none" strike="noStrike">
                          <a:solidFill>
                            <a:srgbClr val="1A2332"/>
                          </a:solidFill>
                          <a:effectLst/>
                          <a:uFillTx/>
                          <a:latin typeface="Helvetica Neue"/>
                          <a:ea typeface="Helvetica Neue"/>
                        </a:rPr>
                        <a:t>60</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0F5F7"/>
                    </a:solidFill>
                  </a:tcPr>
                </a:tc>
              </a:tr>
              <a:tr h="347400">
                <a:tc>
                  <a:txBody>
                    <a:bodyPr anchor="ctr">
                      <a:noAutofit/>
                    </a:bodyPr>
                    <a:p>
                      <a:pPr defTabSz="914400">
                        <a:lnSpc>
                          <a:spcPct val="100000"/>
                        </a:lnSpc>
                        <a:tabLst>
                          <a:tab pos="0" algn="l"/>
                        </a:tabLst>
                      </a:pPr>
                      <a:r>
                        <a:rPr lang="en-US" sz="950" b="0" u="none" strike="noStrike">
                          <a:solidFill>
                            <a:srgbClr val="1A2332"/>
                          </a:solidFill>
                          <a:effectLst/>
                          <a:uFillTx/>
                          <a:latin typeface="Helvetica Neue"/>
                          <a:ea typeface="Helvetica Neue"/>
                        </a:rPr>
                        <a:t>Colocation (ZPE CE)</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c>
                  <a:txBody>
                    <a:bodyPr anchor="ctr">
                      <a:noAutofit/>
                    </a:bodyPr>
                    <a:p>
                      <a:pPr algn="r" defTabSz="914400">
                        <a:lnSpc>
                          <a:spcPct val="100000"/>
                        </a:lnSpc>
                        <a:tabLst>
                          <a:tab pos="0" algn="l"/>
                        </a:tabLst>
                      </a:pPr>
                      <a:r>
                        <a:rPr lang="en-US" sz="950" b="0" u="none" strike="noStrike">
                          <a:solidFill>
                            <a:srgbClr val="1A2332"/>
                          </a:solidFill>
                          <a:effectLst/>
                          <a:uFillTx/>
                          <a:latin typeface="Helvetica Neue"/>
                          <a:ea typeface="Helvetica Neue"/>
                        </a:rPr>
                        <a:t>40</a:t>
                      </a:r>
                      <a:endParaRPr lang="pt-BR" sz="950" b="0" u="none" strike="noStrike">
                        <a:solidFill>
                          <a:srgbClr val="000000"/>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FFFFFF"/>
                    </a:solidFill>
                  </a:tcPr>
                </a:tc>
              </a:tr>
              <a:tr h="347400">
                <a:tc>
                  <a:txBody>
                    <a:bodyPr anchor="ctr">
                      <a:noAutofit/>
                    </a:bodyPr>
                    <a:p>
                      <a:pPr defTabSz="914400">
                        <a:lnSpc>
                          <a:spcPct val="100000"/>
                        </a:lnSpc>
                        <a:tabLst>
                          <a:tab pos="0" algn="l"/>
                        </a:tabLst>
                      </a:pPr>
                      <a:r>
                        <a:rPr lang="en-US" sz="950" b="1" u="none" strike="noStrike">
                          <a:solidFill>
                            <a:srgbClr val="D4A843"/>
                          </a:solidFill>
                          <a:effectLst/>
                          <a:uFillTx/>
                          <a:latin typeface="Helvetica Neue"/>
                          <a:ea typeface="Helvetica Neue"/>
                        </a:rPr>
                        <a:t>TOTAL</a:t>
                      </a:r>
                      <a:endParaRPr lang="pt-BR" sz="95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c>
                  <a:txBody>
                    <a:bodyPr anchor="ctr">
                      <a:noAutofit/>
                    </a:bodyPr>
                    <a:p>
                      <a:pPr algn="r" defTabSz="914400">
                        <a:lnSpc>
                          <a:spcPct val="100000"/>
                        </a:lnSpc>
                        <a:tabLst>
                          <a:tab pos="0" algn="l"/>
                        </a:tabLst>
                      </a:pPr>
                      <a:r>
                        <a:rPr lang="en-US" sz="950" b="1" u="none" strike="noStrike">
                          <a:solidFill>
                            <a:srgbClr val="D4A843"/>
                          </a:solidFill>
                          <a:effectLst/>
                          <a:uFillTx/>
                          <a:latin typeface="Helvetica Neue"/>
                          <a:ea typeface="Helvetica Neue"/>
                        </a:rPr>
                        <a:t>480</a:t>
                      </a:r>
                      <a:endParaRPr lang="pt-BR" sz="950" b="0" u="none" strike="noStrike">
                        <a:solidFill>
                          <a:srgbClr val="FFFFFF"/>
                        </a:solidFill>
                        <a:effectLst/>
                        <a:uFillTx/>
                        <a:latin typeface="Arial"/>
                      </a:endParaRPr>
                    </a:p>
                  </a:txBody>
                  <a:tcPr anchor="ctr" marL="91440" marR="91440" marT="45720" marB="45720">
                    <a:lnL w="6480">
                      <a:solidFill>
                        <a:srgbClr val="C8D5DC"/>
                      </a:solidFill>
                      <a:prstDash val="solid"/>
                    </a:lnL>
                    <a:lnR w="6480">
                      <a:solidFill>
                        <a:srgbClr val="C8D5DC"/>
                      </a:solidFill>
                      <a:prstDash val="solid"/>
                    </a:lnR>
                    <a:lnT w="6480">
                      <a:solidFill>
                        <a:srgbClr val="C8D5DC"/>
                      </a:solidFill>
                      <a:prstDash val="solid"/>
                    </a:lnT>
                    <a:lnB w="6480">
                      <a:solidFill>
                        <a:srgbClr val="C8D5DC"/>
                      </a:solidFill>
                      <a:prstDash val="solid"/>
                    </a:lnB>
                    <a:solidFill>
                      <a:srgbClr val="0A1F2E"/>
                    </a:solidFill>
                  </a:tcPr>
                </a:tc>
              </a:tr>
            </a:tbl>
          </a:graphicData>
        </a:graphic>
      </p:graphicFrame>
      <p:sp>
        <p:nvSpPr>
          <p:cNvPr id="156" name="Shape 3"/>
          <p:cNvSpPr/>
          <p:nvPr/>
        </p:nvSpPr>
        <p:spPr>
          <a:xfrm>
            <a:off x="502920" y="5029200"/>
            <a:ext cx="11182680" cy="1371240"/>
          </a:xfrm>
          <a:prstGeom prst="rect">
            <a:avLst/>
          </a:prstGeom>
          <a:solidFill>
            <a:srgbClr val="0A1F2E"/>
          </a:solidFill>
          <a:ln w="2540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57" name="Text 4"/>
          <p:cNvSpPr/>
          <p:nvPr/>
        </p:nvSpPr>
        <p:spPr>
          <a:xfrm>
            <a:off x="960120" y="5166360"/>
            <a:ext cx="10268280" cy="1096920"/>
          </a:xfrm>
          <a:prstGeom prst="rect">
            <a:avLst/>
          </a:prstGeom>
          <a:noFill/>
          <a:ln w="0">
            <a:noFill/>
          </a:ln>
        </p:spPr>
        <p:style>
          <a:lnRef idx="0"/>
          <a:fillRef idx="0"/>
          <a:effectRef idx="0"/>
          <a:fontRef idx="minor"/>
        </p:style>
        <p:txBody>
          <a:bodyPr lIns="0" tIns="0" rIns="0" bIns="0" anchor="ctr">
            <a:noAutofit/>
          </a:bodyPr>
          <a:p>
            <a:pPr algn="ctr" defTabSz="914400">
              <a:lnSpc>
                <a:spcPts val="1599"/>
              </a:lnSpc>
              <a:tabLst>
                <a:tab pos="0" algn="l"/>
              </a:tabLst>
            </a:pPr>
            <a:r>
              <a:rPr lang="en-US" sz="1400" b="1" u="none" strike="noStrike">
                <a:solidFill>
                  <a:srgbClr val="E8C847"/>
                </a:solidFill>
                <a:effectLst/>
                <a:uFillTx/>
                <a:latin typeface="Calibri"/>
              </a:rPr>
              <a:t>US$ 350M Investment → US$ 1.1B Revenue (5 years) → US$ 3.8B Enterprise Value at Exit</a:t>
            </a:r>
            <a:endParaRPr lang="pt-BR" sz="1400" b="0" u="none" strike="noStrike">
              <a:solidFill>
                <a:srgbClr val="000000"/>
              </a:solidFill>
              <a:effectLst/>
              <a:uFillTx/>
              <a:latin typeface="Arial"/>
            </a:endParaRPr>
          </a:p>
          <a:p>
            <a:pPr algn="ctr" defTabSz="914400">
              <a:lnSpc>
                <a:spcPts val="1599"/>
              </a:lnSpc>
              <a:tabLst>
                <a:tab pos="0" algn="l"/>
              </a:tabLst>
            </a:pPr>
            <a:r>
              <a:rPr lang="en-US" sz="1100" b="0" u="none" strike="noStrike">
                <a:solidFill>
                  <a:srgbClr val="B0C8D8"/>
                </a:solidFill>
                <a:effectLst/>
                <a:uFillTx/>
                <a:latin typeface="Calibri"/>
              </a:rPr>
              <a:t>Direct ROI: 3.1×  ·  Enterprise Value Multiple: 10.9×  ·  Year 5 Run-Rate: US$ 480M/year</a:t>
            </a:r>
            <a:endParaRPr lang="pt-BR" sz="1100" b="0" u="none" strike="noStrike">
              <a:solidFill>
                <a:srgbClr val="000000"/>
              </a:solidFill>
              <a:effectLst/>
              <a:uFillTx/>
              <a:latin typeface="Arial"/>
            </a:endParaRPr>
          </a:p>
          <a:p>
            <a:pPr algn="ctr" defTabSz="914400">
              <a:lnSpc>
                <a:spcPts val="1599"/>
              </a:lnSpc>
              <a:tabLst>
                <a:tab pos="0" algn="l"/>
              </a:tabLst>
            </a:pPr>
            <a:r>
              <a:rPr lang="en-US" sz="900" b="0" i="1" u="none" strike="noStrike">
                <a:solidFill>
                  <a:srgbClr val="6B9BB0"/>
                </a:solidFill>
                <a:effectLst/>
                <a:uFillTx/>
                <a:latin typeface="Calibri"/>
              </a:rPr>
              <a:t>Excluding: data center assets, Hunyuan fine-tuned model IP, domain portfolio, recurring revenue beyond Year 5</a:t>
            </a:r>
            <a:endParaRPr lang="pt-BR" sz="900" b="0" u="none" strike="noStrike">
              <a:solidFill>
                <a:srgbClr val="000000"/>
              </a:solidFill>
              <a:effectLst/>
              <a:uFillTx/>
              <a:latin typeface="Arial"/>
            </a:endParaRPr>
          </a:p>
        </p:txBody>
      </p:sp>
      <p:sp>
        <p:nvSpPr>
          <p:cNvPr id="158" name="Text 5"/>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5A6B7A"/>
                </a:solidFill>
                <a:effectLst/>
                <a:uFillTx/>
                <a:latin typeface="Helvetica Neue"/>
                <a:ea typeface="Helvetica Neue"/>
              </a:rPr>
              <a:t>BeansTech × Tencent Cloud — Confidential</a:t>
            </a:r>
            <a:endParaRPr lang="pt-BR" sz="800" b="0" u="none" strike="noStrike">
              <a:solidFill>
                <a:srgbClr val="000000"/>
              </a:solidFill>
              <a:effectLst/>
              <a:uFillTx/>
              <a:latin typeface="Arial"/>
            </a:endParaRPr>
          </a:p>
        </p:txBody>
      </p:sp>
      <p:sp>
        <p:nvSpPr>
          <p:cNvPr id="159" name="Text 6"/>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B7A"/>
                </a:solidFill>
                <a:effectLst/>
                <a:uFillTx/>
                <a:latin typeface="Helvetica Neue"/>
                <a:ea typeface="Helvetica Neue"/>
              </a:rPr>
              <a:t>11</a:t>
            </a:r>
            <a:endParaRPr lang="pt-BR"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F2E"/>
        </a:solidFill>
      </p:bgPr>
    </p:bg>
    <p:spTree>
      <p:nvGrpSpPr>
        <p:cNvPr id="1" name=""/>
        <p:cNvGrpSpPr/>
        <p:nvPr/>
      </p:nvGrpSpPr>
      <p:grpSpPr>
        <a:xfrm>
          <a:off x="0" y="0"/>
          <a:ext cx="0" cy="0"/>
          <a:chOff x="0" y="0"/>
          <a:chExt cx="0" cy="0"/>
        </a:xfrm>
      </p:grpSpPr>
      <p:sp>
        <p:nvSpPr>
          <p:cNvPr id="160"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0B8A9"/>
                </a:solidFill>
                <a:effectLst/>
                <a:uFillTx/>
                <a:latin typeface="Helvetica Neue"/>
                <a:ea typeface="Helvetica Neue"/>
              </a:rPr>
              <a:t>Alliance Proposal — What We Ask, What We Give</a:t>
            </a:r>
            <a:endParaRPr lang="pt-BR" sz="2800" b="0" u="none" strike="noStrike">
              <a:solidFill>
                <a:srgbClr val="FFFFFF"/>
              </a:solidFill>
              <a:effectLst/>
              <a:uFillTx/>
              <a:latin typeface="Arial"/>
            </a:endParaRPr>
          </a:p>
        </p:txBody>
      </p:sp>
      <p:sp>
        <p:nvSpPr>
          <p:cNvPr id="161"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8FC0D0"/>
                </a:solidFill>
                <a:effectLst/>
                <a:uFillTx/>
                <a:latin typeface="Helvetica Neue"/>
                <a:ea typeface="Helvetica Neue"/>
              </a:rPr>
              <a:t>A partnership of equals, anchored in shared vision for sovereign AI</a:t>
            </a:r>
            <a:endParaRPr lang="pt-BR" sz="1300" b="0" u="none" strike="noStrike">
              <a:solidFill>
                <a:srgbClr val="FFFFFF"/>
              </a:solidFill>
              <a:effectLst/>
              <a:uFillTx/>
              <a:latin typeface="Arial"/>
            </a:endParaRPr>
          </a:p>
        </p:txBody>
      </p:sp>
      <p:sp>
        <p:nvSpPr>
          <p:cNvPr id="162"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FFFFFF"/>
              </a:solidFill>
              <a:effectLst/>
              <a:uFillTx/>
              <a:latin typeface="Arial"/>
            </a:endParaRPr>
          </a:p>
        </p:txBody>
      </p:sp>
      <p:sp>
        <p:nvSpPr>
          <p:cNvPr id="163" name="Shape 3"/>
          <p:cNvSpPr/>
          <p:nvPr/>
        </p:nvSpPr>
        <p:spPr>
          <a:xfrm>
            <a:off x="502920" y="1554480"/>
            <a:ext cx="5303160" cy="3840120"/>
          </a:xfrm>
          <a:prstGeom prst="rect">
            <a:avLst/>
          </a:prstGeom>
          <a:solidFill>
            <a:srgbClr val="0D2839"/>
          </a:solidFill>
          <a:ln w="1905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64" name="Text 4"/>
          <p:cNvSpPr/>
          <p:nvPr/>
        </p:nvSpPr>
        <p:spPr>
          <a:xfrm>
            <a:off x="777240" y="173736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E8C847"/>
                </a:solidFill>
                <a:effectLst/>
                <a:uFillTx/>
                <a:latin typeface="Helvetica Neue"/>
                <a:ea typeface="Helvetica Neue"/>
              </a:rPr>
              <a:t>TENCENT CLOUD CONTRIBUTES</a:t>
            </a:r>
            <a:endParaRPr lang="pt-BR" sz="1400" b="0" u="none" strike="noStrike">
              <a:solidFill>
                <a:srgbClr val="FFFFFF"/>
              </a:solidFill>
              <a:effectLst/>
              <a:uFillTx/>
              <a:latin typeface="Arial"/>
            </a:endParaRPr>
          </a:p>
        </p:txBody>
      </p:sp>
      <p:sp>
        <p:nvSpPr>
          <p:cNvPr id="165" name="Text 5"/>
          <p:cNvSpPr/>
          <p:nvPr/>
        </p:nvSpPr>
        <p:spPr>
          <a:xfrm>
            <a:off x="777240" y="2103120"/>
            <a:ext cx="4754520" cy="310860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400"/>
              </a:lnSpc>
              <a:spcAft>
                <a:spcPts val="400"/>
              </a:spcAft>
              <a:buClr>
                <a:srgbClr val="E8C847"/>
              </a:buClr>
              <a:buFont typeface="Wingdings 3" charset="2"/>
              <a:buChar char=""/>
            </a:pPr>
            <a:r>
              <a:rPr lang="en-US" sz="1800" b="1" u="none" strike="noStrike">
                <a:solidFill>
                  <a:srgbClr val="E8C847"/>
                </a:solidFill>
                <a:effectLst/>
                <a:uFillTx/>
                <a:latin typeface="Calibri"/>
              </a:rPr>
              <a:t>US$ 350M capital intake</a:t>
            </a:r>
            <a:endParaRPr lang="pt-BR" sz="1800" b="0" u="none" strike="noStrike">
              <a:solidFill>
                <a:srgbClr val="FFFFFF"/>
              </a:solidFill>
              <a:effectLst/>
              <a:uFillTx/>
              <a:latin typeface="Arial"/>
            </a:endParaRPr>
          </a:p>
          <a:p>
            <a:pPr defTabSz="914400">
              <a:lnSpc>
                <a:spcPts val="1400"/>
              </a:lnSpc>
              <a:spcAft>
                <a:spcPts val="400"/>
              </a:spcAft>
              <a:tabLst>
                <a:tab pos="0" algn="l"/>
              </a:tabLst>
            </a:pPr>
            <a:r>
              <a:rPr lang="en-US" sz="900" b="0" u="none" strike="noStrike">
                <a:solidFill>
                  <a:srgbClr val="8FC0D0"/>
                </a:solidFill>
                <a:effectLst/>
                <a:uFillTx/>
                <a:latin typeface="Calibri"/>
              </a:rPr>
              <a:t>Anchoring, scaling, and co-owning the sovereign ecosystem</a:t>
            </a:r>
            <a:endParaRPr lang="pt-BR" sz="900" b="0" u="none" strike="noStrike">
              <a:solidFill>
                <a:srgbClr val="FFFFFF"/>
              </a:solidFill>
              <a:effectLst/>
              <a:uFillTx/>
              <a:latin typeface="Arial"/>
            </a:endParaRPr>
          </a:p>
          <a:p>
            <a:pPr defTabSz="914400">
              <a:lnSpc>
                <a:spcPts val="1400"/>
              </a:lnSpc>
              <a:spcAft>
                <a:spcPts val="400"/>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400"/>
              </a:lnSpc>
              <a:spcAft>
                <a:spcPts val="400"/>
              </a:spcAft>
              <a:buClr>
                <a:srgbClr val="FFFFFF"/>
              </a:buClr>
              <a:buFont typeface="Wingdings 3" charset="2"/>
              <a:buChar char=""/>
              <a:tabLst>
                <a:tab pos="0" algn="l"/>
              </a:tabLst>
            </a:pPr>
            <a:r>
              <a:rPr lang="en-US" sz="900" b="1" u="none" strike="noStrike">
                <a:solidFill>
                  <a:srgbClr val="FFFFFF"/>
                </a:solidFill>
                <a:effectLst/>
                <a:uFillTx/>
                <a:latin typeface="Calibri"/>
              </a:rPr>
              <a:t>Hunyuan / Hy4 model family</a:t>
            </a:r>
            <a:endParaRPr lang="pt-BR" sz="900" b="0" u="none" strike="noStrike">
              <a:solidFill>
                <a:srgbClr val="FFFFFF"/>
              </a:solidFill>
              <a:effectLst/>
              <a:uFillTx/>
              <a:latin typeface="Arial"/>
            </a:endParaRPr>
          </a:p>
          <a:p>
            <a:pPr defTabSz="914400">
              <a:lnSpc>
                <a:spcPts val="1400"/>
              </a:lnSpc>
              <a:spcAft>
                <a:spcPts val="400"/>
              </a:spcAft>
              <a:tabLst>
                <a:tab pos="0" algn="l"/>
              </a:tabLst>
            </a:pPr>
            <a:r>
              <a:rPr lang="en-US" sz="900" b="0" u="none" strike="noStrike">
                <a:solidFill>
                  <a:srgbClr val="8FC0D0"/>
                </a:solidFill>
                <a:effectLst/>
                <a:uFillTx/>
                <a:latin typeface="Calibri"/>
              </a:rPr>
              <a:t>Base weights + deployment rights for sovereign infrastructure in LATAM</a:t>
            </a:r>
            <a:endParaRPr lang="pt-BR" sz="900" b="0" u="none" strike="noStrike">
              <a:solidFill>
                <a:srgbClr val="FFFFFF"/>
              </a:solidFill>
              <a:effectLst/>
              <a:uFillTx/>
              <a:latin typeface="Arial"/>
            </a:endParaRPr>
          </a:p>
          <a:p>
            <a:pPr defTabSz="914400">
              <a:lnSpc>
                <a:spcPts val="1400"/>
              </a:lnSpc>
              <a:spcAft>
                <a:spcPts val="400"/>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400"/>
              </a:lnSpc>
              <a:spcAft>
                <a:spcPts val="400"/>
              </a:spcAft>
              <a:buClr>
                <a:srgbClr val="FFFFFF"/>
              </a:buClr>
              <a:buFont typeface="Wingdings 3" charset="2"/>
              <a:buChar char=""/>
              <a:tabLst>
                <a:tab pos="0" algn="l"/>
              </a:tabLst>
            </a:pPr>
            <a:r>
              <a:rPr lang="en-US" sz="900" b="1" u="none" strike="noStrike">
                <a:solidFill>
                  <a:srgbClr val="FFFFFF"/>
                </a:solidFill>
                <a:effectLst/>
                <a:uFillTx/>
                <a:latin typeface="Calibri"/>
              </a:rPr>
              <a:t>Global network integration</a:t>
            </a:r>
            <a:endParaRPr lang="pt-BR" sz="900" b="0" u="none" strike="noStrike">
              <a:solidFill>
                <a:srgbClr val="FFFFFF"/>
              </a:solidFill>
              <a:effectLst/>
              <a:uFillTx/>
              <a:latin typeface="Arial"/>
            </a:endParaRPr>
          </a:p>
          <a:p>
            <a:pPr defTabSz="914400">
              <a:lnSpc>
                <a:spcPts val="1400"/>
              </a:lnSpc>
              <a:spcAft>
                <a:spcPts val="400"/>
              </a:spcAft>
              <a:tabLst>
                <a:tab pos="0" algn="l"/>
              </a:tabLst>
            </a:pPr>
            <a:r>
              <a:rPr lang="en-US" sz="900" b="0" u="none" strike="noStrike">
                <a:solidFill>
                  <a:srgbClr val="8FC0D0"/>
                </a:solidFill>
                <a:effectLst/>
                <a:uFillTx/>
                <a:latin typeface="Calibri"/>
              </a:rPr>
              <a:t>AS36351 BGP peering + subsea cable integration at ZPE Caucaia</a:t>
            </a:r>
            <a:endParaRPr lang="pt-BR" sz="900" b="0" u="none" strike="noStrike">
              <a:solidFill>
                <a:srgbClr val="FFFFFF"/>
              </a:solidFill>
              <a:effectLst/>
              <a:uFillTx/>
              <a:latin typeface="Arial"/>
            </a:endParaRPr>
          </a:p>
          <a:p>
            <a:pPr defTabSz="914400">
              <a:lnSpc>
                <a:spcPts val="1400"/>
              </a:lnSpc>
              <a:spcAft>
                <a:spcPts val="400"/>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400"/>
              </a:lnSpc>
              <a:spcAft>
                <a:spcPts val="400"/>
              </a:spcAft>
              <a:buClr>
                <a:srgbClr val="FFFFFF"/>
              </a:buClr>
              <a:buFont typeface="Wingdings 3" charset="2"/>
              <a:buChar char=""/>
              <a:tabLst>
                <a:tab pos="0" algn="l"/>
              </a:tabLst>
            </a:pPr>
            <a:r>
              <a:rPr lang="en-US" sz="900" b="1" u="none" strike="noStrike">
                <a:solidFill>
                  <a:srgbClr val="FFFFFF"/>
                </a:solidFill>
                <a:effectLst/>
                <a:uFillTx/>
                <a:latin typeface="Calibri"/>
              </a:rPr>
              <a:t>Enterprise hardware pipeline</a:t>
            </a:r>
            <a:endParaRPr lang="pt-BR" sz="900" b="0" u="none" strike="noStrike">
              <a:solidFill>
                <a:srgbClr val="FFFFFF"/>
              </a:solidFill>
              <a:effectLst/>
              <a:uFillTx/>
              <a:latin typeface="Arial"/>
            </a:endParaRPr>
          </a:p>
        </p:txBody>
      </p:sp>
      <p:sp>
        <p:nvSpPr>
          <p:cNvPr id="166" name="Shape 6"/>
          <p:cNvSpPr/>
          <p:nvPr/>
        </p:nvSpPr>
        <p:spPr>
          <a:xfrm>
            <a:off x="6400800" y="1554480"/>
            <a:ext cx="5303160" cy="3840120"/>
          </a:xfrm>
          <a:prstGeom prst="rect">
            <a:avLst/>
          </a:prstGeom>
          <a:solidFill>
            <a:srgbClr val="0D2839"/>
          </a:solidFill>
          <a:ln w="12700">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67" name="Text 7"/>
          <p:cNvSpPr/>
          <p:nvPr/>
        </p:nvSpPr>
        <p:spPr>
          <a:xfrm>
            <a:off x="6675120" y="1737360"/>
            <a:ext cx="475452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pc="201" strike="noStrike">
                <a:solidFill>
                  <a:srgbClr val="00B8A9"/>
                </a:solidFill>
                <a:effectLst/>
                <a:uFillTx/>
                <a:latin typeface="Helvetica Neue"/>
                <a:ea typeface="Helvetica Neue"/>
              </a:rPr>
              <a:t>BEANS TECH CONTRIBUTES</a:t>
            </a:r>
            <a:endParaRPr lang="pt-BR" sz="1400" b="0" u="none" strike="noStrike">
              <a:solidFill>
                <a:srgbClr val="FFFFFF"/>
              </a:solidFill>
              <a:effectLst/>
              <a:uFillTx/>
              <a:latin typeface="Arial"/>
            </a:endParaRPr>
          </a:p>
        </p:txBody>
      </p:sp>
      <p:sp>
        <p:nvSpPr>
          <p:cNvPr id="168" name="Text 8"/>
          <p:cNvSpPr/>
          <p:nvPr/>
        </p:nvSpPr>
        <p:spPr>
          <a:xfrm>
            <a:off x="6675120" y="2103120"/>
            <a:ext cx="4754520" cy="3108600"/>
          </a:xfrm>
          <a:prstGeom prst="rect">
            <a:avLst/>
          </a:prstGeom>
          <a:noFill/>
          <a:ln w="0">
            <a:noFill/>
          </a:ln>
        </p:spPr>
        <p:style>
          <a:lnRef idx="0"/>
          <a:fillRef idx="0"/>
          <a:effectRef idx="0"/>
          <a:fontRef idx="minor"/>
        </p:style>
        <p:txBody>
          <a:bodyPr lIns="0" tIns="0" rIns="0" bIns="0" anchor="ctr">
            <a:noAutofit/>
          </a:bodyPr>
          <a:p>
            <a:pPr marL="127080" indent="-127080" defTabSz="914400">
              <a:lnSpc>
                <a:spcPts val="1301"/>
              </a:lnSpc>
              <a:spcAft>
                <a:spcPts val="201"/>
              </a:spcAft>
              <a:buClr>
                <a:srgbClr val="00B8A9"/>
              </a:buClr>
              <a:buFont typeface="Wingdings 3" charset="2"/>
              <a:buChar char=""/>
            </a:pPr>
            <a:r>
              <a:rPr lang="en-US" sz="1800" b="1" u="none" strike="noStrike">
                <a:solidFill>
                  <a:srgbClr val="00B8A9"/>
                </a:solidFill>
                <a:effectLst/>
                <a:uFillTx/>
                <a:latin typeface="Calibri"/>
              </a:rPr>
              <a:t>4 regulated verticals in production</a:t>
            </a:r>
            <a:endParaRPr lang="pt-BR" sz="1800" b="0" u="none" strike="noStrike">
              <a:solidFill>
                <a:srgbClr val="FFFFFF"/>
              </a:solidFill>
              <a:effectLst/>
              <a:uFillTx/>
              <a:latin typeface="Arial"/>
            </a:endParaRPr>
          </a:p>
          <a:p>
            <a:pPr defTabSz="914400">
              <a:lnSpc>
                <a:spcPts val="1301"/>
              </a:lnSpc>
              <a:spcAft>
                <a:spcPts val="201"/>
              </a:spcAft>
              <a:tabLst>
                <a:tab pos="0" algn="l"/>
              </a:tabLst>
            </a:pPr>
            <a:r>
              <a:rPr lang="en-US" sz="900" b="0" u="none" strike="noStrike">
                <a:solidFill>
                  <a:srgbClr val="8FC0D0"/>
                </a:solidFill>
                <a:effectLst/>
                <a:uFillTx/>
                <a:latin typeface="Calibri"/>
              </a:rPr>
              <a:t>Legal (77M+ decisions), Compliance, Healthcare, Real Estate — all live and auditable</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301"/>
              </a:lnSpc>
              <a:spcAft>
                <a:spcPts val="201"/>
              </a:spcAft>
              <a:buClr>
                <a:srgbClr val="00B8A9"/>
              </a:buClr>
              <a:buFont typeface="Wingdings 3" charset="2"/>
              <a:buChar char=""/>
              <a:tabLst>
                <a:tab pos="0" algn="l"/>
              </a:tabLst>
            </a:pPr>
            <a:r>
              <a:rPr lang="en-US" sz="900" b="1" u="none" strike="noStrike">
                <a:solidFill>
                  <a:srgbClr val="00B8A9"/>
                </a:solidFill>
                <a:effectLst/>
                <a:uFillTx/>
                <a:latin typeface="Calibri"/>
              </a:rPr>
              <a:t>Sovereign infrastructure sites</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900" b="0" u="none" strike="noStrike">
                <a:solidFill>
                  <a:srgbClr val="8FC0D0"/>
                </a:solidFill>
                <a:effectLst/>
                <a:uFillTx/>
                <a:latin typeface="Calibri"/>
              </a:rPr>
              <a:t>ZPE Caucaia (subsea, tax-free) + Santa Terezinha (solar, off-grid) — land owned, projects ready</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301"/>
              </a:lnSpc>
              <a:spcAft>
                <a:spcPts val="201"/>
              </a:spcAft>
              <a:buClr>
                <a:srgbClr val="00B8A9"/>
              </a:buClr>
              <a:buFont typeface="Wingdings 3" charset="2"/>
              <a:buChar char=""/>
              <a:tabLst>
                <a:tab pos="0" algn="l"/>
              </a:tabLst>
            </a:pPr>
            <a:r>
              <a:rPr lang="en-US" sz="900" b="1" u="none" strike="noStrike">
                <a:solidFill>
                  <a:srgbClr val="00B8A9"/>
                </a:solidFill>
                <a:effectLst/>
                <a:uFillTx/>
                <a:latin typeface="Calibri"/>
              </a:rPr>
              <a:t>hy.cloud premium domain</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900" b="0" u="none" strike="noStrike">
                <a:solidFill>
                  <a:srgbClr val="8FC0D0"/>
                </a:solidFill>
                <a:effectLst/>
                <a:uFillTx/>
                <a:latin typeface="Calibri"/>
              </a:rPr>
              <a:t>Product domain for the sovereign cloud, positioned and ready</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301"/>
              </a:lnSpc>
              <a:spcAft>
                <a:spcPts val="201"/>
              </a:spcAft>
              <a:buClr>
                <a:srgbClr val="00B8A9"/>
              </a:buClr>
              <a:buFont typeface="Wingdings 3" charset="2"/>
              <a:buChar char=""/>
              <a:tabLst>
                <a:tab pos="0" algn="l"/>
              </a:tabLst>
            </a:pPr>
            <a:r>
              <a:rPr lang="en-US" sz="900" b="1" u="none" strike="noStrike">
                <a:solidFill>
                  <a:srgbClr val="00B8A9"/>
                </a:solidFill>
                <a:effectLst/>
                <a:uFillTx/>
                <a:latin typeface="Calibri"/>
              </a:rPr>
              <a:t>Regulatory expertise + institutional networks</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900" b="0" u="none" strike="noStrike">
                <a:solidFill>
                  <a:srgbClr val="8FC0D0"/>
                </a:solidFill>
                <a:effectLst/>
                <a:uFillTx/>
                <a:latin typeface="Calibri"/>
              </a:rPr>
              <a:t>Founder attorney, 12 years Judiciary, postgraduate in Cloud + Data Protection</a:t>
            </a:r>
            <a:endParaRPr lang="pt-BR" sz="900" b="0" u="none" strike="noStrike">
              <a:solidFill>
                <a:srgbClr val="FFFFFF"/>
              </a:solidFill>
              <a:effectLst/>
              <a:uFillTx/>
              <a:latin typeface="Arial"/>
            </a:endParaRPr>
          </a:p>
          <a:p>
            <a:pPr defTabSz="914400">
              <a:lnSpc>
                <a:spcPts val="1301"/>
              </a:lnSpc>
              <a:spcAft>
                <a:spcPts val="201"/>
              </a:spcAft>
              <a:tabLst>
                <a:tab pos="0" algn="l"/>
              </a:tabLst>
            </a:pPr>
            <a:r>
              <a:rPr lang="en-US" sz="400" b="0" u="none" strike="noStrike">
                <a:solidFill>
                  <a:srgbClr val="000000"/>
                </a:solidFill>
                <a:effectLst/>
                <a:uFillTx/>
                <a:latin typeface="Calibri"/>
              </a:rPr>
              <a:t> </a:t>
            </a:r>
            <a:endParaRPr lang="pt-BR" sz="400" b="0" u="none" strike="noStrike">
              <a:solidFill>
                <a:srgbClr val="FFFFFF"/>
              </a:solidFill>
              <a:effectLst/>
              <a:uFillTx/>
              <a:latin typeface="Arial"/>
            </a:endParaRPr>
          </a:p>
          <a:p>
            <a:pPr marL="127080" indent="-127080" defTabSz="914400">
              <a:lnSpc>
                <a:spcPts val="1301"/>
              </a:lnSpc>
              <a:spcAft>
                <a:spcPts val="201"/>
              </a:spcAft>
              <a:buClr>
                <a:srgbClr val="00B8A9"/>
              </a:buClr>
              <a:buFont typeface="Wingdings 3" charset="2"/>
              <a:buChar char=""/>
              <a:tabLst>
                <a:tab pos="0" algn="l"/>
              </a:tabLst>
            </a:pPr>
            <a:r>
              <a:rPr lang="en-US" sz="900" b="1" u="none" strike="noStrike">
                <a:solidFill>
                  <a:srgbClr val="00B8A9"/>
                </a:solidFill>
                <a:effectLst/>
                <a:uFillTx/>
                <a:latin typeface="Calibri"/>
              </a:rPr>
              <a:t>Compliance frameworks + deployment pipelines</a:t>
            </a:r>
            <a:endParaRPr lang="pt-BR" sz="900" b="0" u="none" strike="noStrike">
              <a:solidFill>
                <a:srgbClr val="FFFFFF"/>
              </a:solidFill>
              <a:effectLst/>
              <a:uFillTx/>
              <a:latin typeface="Arial"/>
            </a:endParaRPr>
          </a:p>
        </p:txBody>
      </p:sp>
      <p:sp>
        <p:nvSpPr>
          <p:cNvPr id="169" name="Shape 9"/>
          <p:cNvSpPr/>
          <p:nvPr/>
        </p:nvSpPr>
        <p:spPr>
          <a:xfrm>
            <a:off x="502920" y="5577840"/>
            <a:ext cx="11182680" cy="731160"/>
          </a:xfrm>
          <a:prstGeom prst="rect">
            <a:avLst/>
          </a:prstGeom>
          <a:solidFill>
            <a:srgbClr val="0D2839"/>
          </a:solidFill>
          <a:ln w="1270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70" name="Text 10"/>
          <p:cNvSpPr/>
          <p:nvPr/>
        </p:nvSpPr>
        <p:spPr>
          <a:xfrm>
            <a:off x="777240" y="5669280"/>
            <a:ext cx="10634040" cy="548280"/>
          </a:xfrm>
          <a:prstGeom prst="rect">
            <a:avLst/>
          </a:prstGeom>
          <a:noFill/>
          <a:ln w="0">
            <a:noFill/>
          </a:ln>
        </p:spPr>
        <p:style>
          <a:lnRef idx="0"/>
          <a:fillRef idx="0"/>
          <a:effectRef idx="0"/>
          <a:fontRef idx="minor"/>
        </p:style>
        <p:txBody>
          <a:bodyPr lIns="0" tIns="0" rIns="0" bIns="0" anchor="ctr">
            <a:noAutofit/>
          </a:bodyPr>
          <a:p>
            <a:pPr defTabSz="914400">
              <a:lnSpc>
                <a:spcPts val="1301"/>
              </a:lnSpc>
              <a:tabLst>
                <a:tab pos="0" algn="l"/>
              </a:tabLst>
            </a:pPr>
            <a:r>
              <a:rPr lang="en-US" sz="1000" b="1" u="none" strike="noStrike">
                <a:solidFill>
                  <a:srgbClr val="E8C847"/>
                </a:solidFill>
                <a:effectLst/>
                <a:uFillTx/>
                <a:latin typeface="Calibri"/>
              </a:rPr>
              <a:t>On the US$ 350M: </a:t>
            </a:r>
            <a:r>
              <a:rPr lang="en-US" sz="950" b="0" u="none" strike="noStrike">
                <a:solidFill>
                  <a:srgbClr val="B0C8D8"/>
                </a:solidFill>
                <a:effectLst/>
                <a:uFillTx/>
                <a:latin typeface="Calibri"/>
              </a:rPr>
              <a:t>This is the value we place on this alliance — and on building it together with Tencent Cloud specifically. We are choosing Tencent as much as Tencent would be choosing us. The combination of our sovereign infrastructure, regulated AI verticals, and Hunyuan's compute architecture is worth more than the sum of its parts.</a:t>
            </a:r>
            <a:endParaRPr lang="pt-BR" sz="950" b="0" u="none" strike="noStrike">
              <a:solidFill>
                <a:srgbClr val="FFFFFF"/>
              </a:solidFill>
              <a:effectLst/>
              <a:uFillTx/>
              <a:latin typeface="Arial"/>
            </a:endParaRPr>
          </a:p>
        </p:txBody>
      </p:sp>
      <p:sp>
        <p:nvSpPr>
          <p:cNvPr id="171" name="Text 11"/>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6B9BB0"/>
                </a:solidFill>
                <a:effectLst/>
                <a:uFillTx/>
                <a:latin typeface="Helvetica Neue"/>
                <a:ea typeface="Helvetica Neue"/>
              </a:rPr>
              <a:t>BeansTech × Tencent Cloud — Confidential</a:t>
            </a:r>
            <a:endParaRPr lang="pt-BR" sz="800" b="0" u="none" strike="noStrike">
              <a:solidFill>
                <a:srgbClr val="FFFFFF"/>
              </a:solidFill>
              <a:effectLst/>
              <a:uFillTx/>
              <a:latin typeface="Arial"/>
            </a:endParaRPr>
          </a:p>
        </p:txBody>
      </p:sp>
      <p:sp>
        <p:nvSpPr>
          <p:cNvPr id="172" name="Text 12"/>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6B9BB0"/>
                </a:solidFill>
                <a:effectLst/>
                <a:uFillTx/>
                <a:latin typeface="Helvetica Neue"/>
                <a:ea typeface="Helvetica Neue"/>
              </a:rPr>
              <a:t>12</a:t>
            </a:r>
            <a:endParaRPr lang="pt-BR"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1F2E"/>
        </a:solidFill>
      </p:bgPr>
    </p:bg>
    <p:spTree>
      <p:nvGrpSpPr>
        <p:cNvPr id="1" name=""/>
        <p:cNvGrpSpPr/>
        <p:nvPr/>
      </p:nvGrpSpPr>
      <p:grpSpPr>
        <a:xfrm>
          <a:off x="0" y="0"/>
          <a:ext cx="0" cy="0"/>
          <a:chOff x="0" y="0"/>
          <a:chExt cx="0" cy="0"/>
        </a:xfrm>
      </p:grpSpPr>
      <p:sp>
        <p:nvSpPr>
          <p:cNvPr id="173" name="Text 0"/>
          <p:cNvSpPr/>
          <p:nvPr/>
        </p:nvSpPr>
        <p:spPr>
          <a:xfrm>
            <a:off x="502920" y="320040"/>
            <a:ext cx="111826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0B8A9"/>
                </a:solidFill>
                <a:effectLst/>
                <a:uFillTx/>
                <a:latin typeface="Helvetica Neue"/>
                <a:ea typeface="Helvetica Neue"/>
              </a:rPr>
              <a:t>Next Steps</a:t>
            </a:r>
            <a:endParaRPr lang="pt-BR" sz="2800" b="0" u="none" strike="noStrike">
              <a:solidFill>
                <a:srgbClr val="FFFFFF"/>
              </a:solidFill>
              <a:effectLst/>
              <a:uFillTx/>
              <a:latin typeface="Arial"/>
            </a:endParaRPr>
          </a:p>
        </p:txBody>
      </p:sp>
      <p:sp>
        <p:nvSpPr>
          <p:cNvPr id="174" name="Text 1"/>
          <p:cNvSpPr/>
          <p:nvPr/>
        </p:nvSpPr>
        <p:spPr>
          <a:xfrm>
            <a:off x="502920" y="914400"/>
            <a:ext cx="1118268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8FC0D0"/>
                </a:solidFill>
                <a:effectLst/>
                <a:uFillTx/>
                <a:latin typeface="Helvetica Neue"/>
                <a:ea typeface="Helvetica Neue"/>
              </a:rPr>
              <a:t>From executive brief to sovereign deployment</a:t>
            </a:r>
            <a:endParaRPr lang="pt-BR" sz="1300" b="0" u="none" strike="noStrike">
              <a:solidFill>
                <a:srgbClr val="FFFFFF"/>
              </a:solidFill>
              <a:effectLst/>
              <a:uFillTx/>
              <a:latin typeface="Arial"/>
            </a:endParaRPr>
          </a:p>
        </p:txBody>
      </p:sp>
      <p:sp>
        <p:nvSpPr>
          <p:cNvPr id="175" name="Shape 2"/>
          <p:cNvSpPr/>
          <p:nvPr/>
        </p:nvSpPr>
        <p:spPr>
          <a:xfrm>
            <a:off x="502920" y="1298160"/>
            <a:ext cx="2194560" cy="360"/>
          </a:xfrm>
          <a:prstGeom prst="line">
            <a:avLst/>
          </a:prstGeom>
          <a:ln w="38100">
            <a:solidFill>
              <a:srgbClr val="D4A843"/>
            </a:solidFill>
            <a:round/>
          </a:ln>
        </p:spPr>
        <p:style>
          <a:lnRef idx="0"/>
          <a:fillRef idx="0"/>
          <a:effectRef idx="0"/>
          <a:fontRef idx="minor"/>
        </p:style>
        <p:txBody>
          <a:bodyPr lIns="90000" tIns="-44640" rIns="90000" bIns="-44640" anchor="t" anchorCtr="1">
            <a:noAutofit/>
          </a:bodyPr>
          <a:p>
            <a:endParaRPr lang="pt-BR" sz="1800" b="0" u="none" strike="noStrike">
              <a:solidFill>
                <a:srgbClr val="FFFFFF"/>
              </a:solidFill>
              <a:effectLst/>
              <a:uFillTx/>
              <a:latin typeface="Arial"/>
            </a:endParaRPr>
          </a:p>
        </p:txBody>
      </p:sp>
      <p:sp>
        <p:nvSpPr>
          <p:cNvPr id="176" name="Shape 3"/>
          <p:cNvSpPr/>
          <p:nvPr/>
        </p:nvSpPr>
        <p:spPr>
          <a:xfrm>
            <a:off x="502920" y="1645920"/>
            <a:ext cx="2559960" cy="1645560"/>
          </a:xfrm>
          <a:prstGeom prst="rect">
            <a:avLst/>
          </a:prstGeom>
          <a:solidFill>
            <a:srgbClr val="0D2839"/>
          </a:solidFill>
          <a:ln w="9525">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77" name="Text 4"/>
          <p:cNvSpPr/>
          <p:nvPr/>
        </p:nvSpPr>
        <p:spPr>
          <a:xfrm>
            <a:off x="685800" y="1783080"/>
            <a:ext cx="2194200" cy="13712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400"/>
              </a:spcAft>
              <a:tabLst>
                <a:tab pos="0" algn="l"/>
              </a:tabLst>
            </a:pPr>
            <a:r>
              <a:rPr lang="en-US" sz="900" b="1" u="none" spc="201" strike="noStrike">
                <a:solidFill>
                  <a:srgbClr val="00B8A9"/>
                </a:solidFill>
                <a:effectLst/>
                <a:uFillTx/>
                <a:latin typeface="Calibri"/>
              </a:rPr>
              <a:t>Step 1</a:t>
            </a:r>
            <a:endParaRPr lang="pt-BR" sz="900" b="0" u="none" strike="noStrike">
              <a:solidFill>
                <a:srgbClr val="FFFFFF"/>
              </a:solidFill>
              <a:effectLst/>
              <a:uFillTx/>
              <a:latin typeface="Arial"/>
            </a:endParaRPr>
          </a:p>
          <a:p>
            <a:pPr defTabSz="914400">
              <a:lnSpc>
                <a:spcPts val="1301"/>
              </a:lnSpc>
              <a:spcAft>
                <a:spcPts val="400"/>
              </a:spcAft>
              <a:tabLst>
                <a:tab pos="0" algn="l"/>
              </a:tabLst>
            </a:pPr>
            <a:r>
              <a:rPr lang="en-US" sz="1200" b="1" u="none" strike="noStrike">
                <a:solidFill>
                  <a:srgbClr val="FFFFFF"/>
                </a:solidFill>
                <a:effectLst/>
                <a:uFillTx/>
                <a:latin typeface="Calibri"/>
              </a:rPr>
              <a:t>Executive Brief (45 min)</a:t>
            </a:r>
            <a:endParaRPr lang="pt-BR" sz="1200" b="0" u="none" strike="noStrike">
              <a:solidFill>
                <a:srgbClr val="FFFFFF"/>
              </a:solidFill>
              <a:effectLst/>
              <a:uFillTx/>
              <a:latin typeface="Arial"/>
            </a:endParaRPr>
          </a:p>
          <a:p>
            <a:pPr defTabSz="914400">
              <a:lnSpc>
                <a:spcPts val="1301"/>
              </a:lnSpc>
              <a:spcAft>
                <a:spcPts val="400"/>
              </a:spcAft>
              <a:tabLst>
                <a:tab pos="0" algn="l"/>
              </a:tabLst>
            </a:pPr>
            <a:r>
              <a:rPr lang="en-US" sz="900" b="0" u="none" strike="noStrike">
                <a:solidFill>
                  <a:srgbClr val="B0C8D8"/>
                </a:solidFill>
                <a:effectLst/>
                <a:uFillTx/>
                <a:latin typeface="Calibri"/>
              </a:rPr>
              <a:t>Live presentation: hy.cloud model, 4 verticals, technical architecture note, latency benchmarks</a:t>
            </a:r>
            <a:endParaRPr lang="pt-BR" sz="900" b="0" u="none" strike="noStrike">
              <a:solidFill>
                <a:srgbClr val="FFFFFF"/>
              </a:solidFill>
              <a:effectLst/>
              <a:uFillTx/>
              <a:latin typeface="Arial"/>
            </a:endParaRPr>
          </a:p>
        </p:txBody>
      </p:sp>
      <p:sp>
        <p:nvSpPr>
          <p:cNvPr id="178" name="Text 5"/>
          <p:cNvSpPr/>
          <p:nvPr/>
        </p:nvSpPr>
        <p:spPr>
          <a:xfrm>
            <a:off x="3017520" y="2194560"/>
            <a:ext cx="36540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B8A9"/>
                </a:solidFill>
                <a:effectLst/>
                <a:uFillTx/>
                <a:latin typeface="Calibri"/>
              </a:rPr>
              <a:t>→</a:t>
            </a:r>
            <a:endParaRPr lang="pt-BR" sz="2000" b="0" u="none" strike="noStrike">
              <a:solidFill>
                <a:srgbClr val="FFFFFF"/>
              </a:solidFill>
              <a:effectLst/>
              <a:uFillTx/>
              <a:latin typeface="Arial"/>
            </a:endParaRPr>
          </a:p>
        </p:txBody>
      </p:sp>
      <p:sp>
        <p:nvSpPr>
          <p:cNvPr id="179" name="Shape 6"/>
          <p:cNvSpPr/>
          <p:nvPr/>
        </p:nvSpPr>
        <p:spPr>
          <a:xfrm>
            <a:off x="3337560" y="1645920"/>
            <a:ext cx="2559960" cy="1645560"/>
          </a:xfrm>
          <a:prstGeom prst="rect">
            <a:avLst/>
          </a:prstGeom>
          <a:solidFill>
            <a:srgbClr val="0D2839"/>
          </a:solidFill>
          <a:ln w="9525">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80" name="Text 7"/>
          <p:cNvSpPr/>
          <p:nvPr/>
        </p:nvSpPr>
        <p:spPr>
          <a:xfrm>
            <a:off x="3520440" y="1783080"/>
            <a:ext cx="2194200" cy="13712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400"/>
              </a:spcAft>
              <a:tabLst>
                <a:tab pos="0" algn="l"/>
              </a:tabLst>
            </a:pPr>
            <a:r>
              <a:rPr lang="en-US" sz="900" b="1" u="none" spc="201" strike="noStrike">
                <a:solidFill>
                  <a:srgbClr val="00B8A9"/>
                </a:solidFill>
                <a:effectLst/>
                <a:uFillTx/>
                <a:latin typeface="Calibri"/>
              </a:rPr>
              <a:t>Step 2</a:t>
            </a:r>
            <a:endParaRPr lang="pt-BR" sz="900" b="0" u="none" strike="noStrike">
              <a:solidFill>
                <a:srgbClr val="FFFFFF"/>
              </a:solidFill>
              <a:effectLst/>
              <a:uFillTx/>
              <a:latin typeface="Arial"/>
            </a:endParaRPr>
          </a:p>
          <a:p>
            <a:pPr defTabSz="914400">
              <a:lnSpc>
                <a:spcPts val="1301"/>
              </a:lnSpc>
              <a:spcAft>
                <a:spcPts val="400"/>
              </a:spcAft>
              <a:tabLst>
                <a:tab pos="0" algn="l"/>
              </a:tabLst>
            </a:pPr>
            <a:r>
              <a:rPr lang="en-US" sz="1200" b="1" u="none" strike="noStrike">
                <a:solidFill>
                  <a:srgbClr val="FFFFFF"/>
                </a:solidFill>
                <a:effectLst/>
                <a:uFillTx/>
                <a:latin typeface="Calibri"/>
              </a:rPr>
              <a:t>Technical Due Diligence</a:t>
            </a:r>
            <a:endParaRPr lang="pt-BR" sz="1200" b="0" u="none" strike="noStrike">
              <a:solidFill>
                <a:srgbClr val="FFFFFF"/>
              </a:solidFill>
              <a:effectLst/>
              <a:uFillTx/>
              <a:latin typeface="Arial"/>
            </a:endParaRPr>
          </a:p>
          <a:p>
            <a:pPr defTabSz="914400">
              <a:lnSpc>
                <a:spcPts val="1301"/>
              </a:lnSpc>
              <a:spcAft>
                <a:spcPts val="400"/>
              </a:spcAft>
              <a:tabLst>
                <a:tab pos="0" algn="l"/>
              </a:tabLst>
            </a:pPr>
            <a:r>
              <a:rPr lang="en-US" sz="900" b="0" u="none" strike="noStrike">
                <a:solidFill>
                  <a:srgbClr val="B0C8D8"/>
                </a:solidFill>
                <a:effectLst/>
                <a:uFillTx/>
                <a:latin typeface="Calibri"/>
              </a:rPr>
              <a:t>Access to infrastructure, benchmark results, compliance frameworks, site visits (CE and PB)</a:t>
            </a:r>
            <a:endParaRPr lang="pt-BR" sz="900" b="0" u="none" strike="noStrike">
              <a:solidFill>
                <a:srgbClr val="FFFFFF"/>
              </a:solidFill>
              <a:effectLst/>
              <a:uFillTx/>
              <a:latin typeface="Arial"/>
            </a:endParaRPr>
          </a:p>
        </p:txBody>
      </p:sp>
      <p:sp>
        <p:nvSpPr>
          <p:cNvPr id="181" name="Text 8"/>
          <p:cNvSpPr/>
          <p:nvPr/>
        </p:nvSpPr>
        <p:spPr>
          <a:xfrm>
            <a:off x="5852160" y="2194560"/>
            <a:ext cx="36540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B8A9"/>
                </a:solidFill>
                <a:effectLst/>
                <a:uFillTx/>
                <a:latin typeface="Calibri"/>
              </a:rPr>
              <a:t>→</a:t>
            </a:r>
            <a:endParaRPr lang="pt-BR" sz="2000" b="0" u="none" strike="noStrike">
              <a:solidFill>
                <a:srgbClr val="FFFFFF"/>
              </a:solidFill>
              <a:effectLst/>
              <a:uFillTx/>
              <a:latin typeface="Arial"/>
            </a:endParaRPr>
          </a:p>
        </p:txBody>
      </p:sp>
      <p:sp>
        <p:nvSpPr>
          <p:cNvPr id="182" name="Shape 9"/>
          <p:cNvSpPr/>
          <p:nvPr/>
        </p:nvSpPr>
        <p:spPr>
          <a:xfrm>
            <a:off x="6172200" y="1645920"/>
            <a:ext cx="2559960" cy="1645560"/>
          </a:xfrm>
          <a:prstGeom prst="rect">
            <a:avLst/>
          </a:prstGeom>
          <a:solidFill>
            <a:srgbClr val="0D2839"/>
          </a:solidFill>
          <a:ln w="9525">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83" name="Text 10"/>
          <p:cNvSpPr/>
          <p:nvPr/>
        </p:nvSpPr>
        <p:spPr>
          <a:xfrm>
            <a:off x="6355080" y="1783080"/>
            <a:ext cx="2194200" cy="13712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400"/>
              </a:spcAft>
              <a:tabLst>
                <a:tab pos="0" algn="l"/>
              </a:tabLst>
            </a:pPr>
            <a:r>
              <a:rPr lang="en-US" sz="900" b="1" u="none" spc="201" strike="noStrike">
                <a:solidFill>
                  <a:srgbClr val="00B8A9"/>
                </a:solidFill>
                <a:effectLst/>
                <a:uFillTx/>
                <a:latin typeface="Calibri"/>
              </a:rPr>
              <a:t>Step 3</a:t>
            </a:r>
            <a:endParaRPr lang="pt-BR" sz="900" b="0" u="none" strike="noStrike">
              <a:solidFill>
                <a:srgbClr val="FFFFFF"/>
              </a:solidFill>
              <a:effectLst/>
              <a:uFillTx/>
              <a:latin typeface="Arial"/>
            </a:endParaRPr>
          </a:p>
          <a:p>
            <a:pPr defTabSz="914400">
              <a:lnSpc>
                <a:spcPts val="1301"/>
              </a:lnSpc>
              <a:spcAft>
                <a:spcPts val="400"/>
              </a:spcAft>
              <a:tabLst>
                <a:tab pos="0" algn="l"/>
              </a:tabLst>
            </a:pPr>
            <a:r>
              <a:rPr lang="en-US" sz="1200" b="1" u="none" strike="noStrike">
                <a:solidFill>
                  <a:srgbClr val="FFFFFF"/>
                </a:solidFill>
                <a:effectLst/>
                <a:uFillTx/>
                <a:latin typeface="Calibri"/>
              </a:rPr>
              <a:t>Letter of Intent</a:t>
            </a:r>
            <a:endParaRPr lang="pt-BR" sz="1200" b="0" u="none" strike="noStrike">
              <a:solidFill>
                <a:srgbClr val="FFFFFF"/>
              </a:solidFill>
              <a:effectLst/>
              <a:uFillTx/>
              <a:latin typeface="Arial"/>
            </a:endParaRPr>
          </a:p>
          <a:p>
            <a:pPr defTabSz="914400">
              <a:lnSpc>
                <a:spcPts val="1301"/>
              </a:lnSpc>
              <a:spcAft>
                <a:spcPts val="400"/>
              </a:spcAft>
              <a:tabLst>
                <a:tab pos="0" algn="l"/>
              </a:tabLst>
            </a:pPr>
            <a:r>
              <a:rPr lang="en-US" sz="900" b="0" u="none" strike="noStrike">
                <a:solidFill>
                  <a:srgbClr val="B0C8D8"/>
                </a:solidFill>
                <a:effectLst/>
                <a:uFillTx/>
                <a:latin typeface="Calibri"/>
              </a:rPr>
              <a:t>Capital structure, milestone schedule, governance framework, Hunyuan licensing terms</a:t>
            </a:r>
            <a:endParaRPr lang="pt-BR" sz="900" b="0" u="none" strike="noStrike">
              <a:solidFill>
                <a:srgbClr val="FFFFFF"/>
              </a:solidFill>
              <a:effectLst/>
              <a:uFillTx/>
              <a:latin typeface="Arial"/>
            </a:endParaRPr>
          </a:p>
        </p:txBody>
      </p:sp>
      <p:sp>
        <p:nvSpPr>
          <p:cNvPr id="184" name="Text 11"/>
          <p:cNvSpPr/>
          <p:nvPr/>
        </p:nvSpPr>
        <p:spPr>
          <a:xfrm>
            <a:off x="8686800" y="2194560"/>
            <a:ext cx="365400" cy="456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00B8A9"/>
                </a:solidFill>
                <a:effectLst/>
                <a:uFillTx/>
                <a:latin typeface="Calibri"/>
              </a:rPr>
              <a:t>→</a:t>
            </a:r>
            <a:endParaRPr lang="pt-BR" sz="2000" b="0" u="none" strike="noStrike">
              <a:solidFill>
                <a:srgbClr val="FFFFFF"/>
              </a:solidFill>
              <a:effectLst/>
              <a:uFillTx/>
              <a:latin typeface="Arial"/>
            </a:endParaRPr>
          </a:p>
        </p:txBody>
      </p:sp>
      <p:sp>
        <p:nvSpPr>
          <p:cNvPr id="185" name="Shape 12"/>
          <p:cNvSpPr/>
          <p:nvPr/>
        </p:nvSpPr>
        <p:spPr>
          <a:xfrm>
            <a:off x="9006840" y="1645920"/>
            <a:ext cx="2559960" cy="1645560"/>
          </a:xfrm>
          <a:prstGeom prst="rect">
            <a:avLst/>
          </a:prstGeom>
          <a:solidFill>
            <a:srgbClr val="0D2839"/>
          </a:solidFill>
          <a:ln w="9525">
            <a:solidFill>
              <a:srgbClr val="00B8A9"/>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86" name="Text 13"/>
          <p:cNvSpPr/>
          <p:nvPr/>
        </p:nvSpPr>
        <p:spPr>
          <a:xfrm>
            <a:off x="9189720" y="1783080"/>
            <a:ext cx="2194200" cy="1371240"/>
          </a:xfrm>
          <a:prstGeom prst="rect">
            <a:avLst/>
          </a:prstGeom>
          <a:noFill/>
          <a:ln w="0">
            <a:noFill/>
          </a:ln>
        </p:spPr>
        <p:style>
          <a:lnRef idx="0"/>
          <a:fillRef idx="0"/>
          <a:effectRef idx="0"/>
          <a:fontRef idx="minor"/>
        </p:style>
        <p:txBody>
          <a:bodyPr lIns="0" tIns="0" rIns="0" bIns="0" anchor="ctr">
            <a:noAutofit/>
          </a:bodyPr>
          <a:p>
            <a:pPr defTabSz="914400">
              <a:lnSpc>
                <a:spcPts val="1301"/>
              </a:lnSpc>
              <a:spcAft>
                <a:spcPts val="400"/>
              </a:spcAft>
              <a:tabLst>
                <a:tab pos="0" algn="l"/>
              </a:tabLst>
            </a:pPr>
            <a:r>
              <a:rPr lang="en-US" sz="900" b="1" u="none" spc="201" strike="noStrike">
                <a:solidFill>
                  <a:srgbClr val="00B8A9"/>
                </a:solidFill>
                <a:effectLst/>
                <a:uFillTx/>
                <a:latin typeface="Calibri"/>
              </a:rPr>
              <a:t>Step 4</a:t>
            </a:r>
            <a:endParaRPr lang="pt-BR" sz="900" b="0" u="none" strike="noStrike">
              <a:solidFill>
                <a:srgbClr val="FFFFFF"/>
              </a:solidFill>
              <a:effectLst/>
              <a:uFillTx/>
              <a:latin typeface="Arial"/>
            </a:endParaRPr>
          </a:p>
          <a:p>
            <a:pPr defTabSz="914400">
              <a:lnSpc>
                <a:spcPts val="1301"/>
              </a:lnSpc>
              <a:spcAft>
                <a:spcPts val="400"/>
              </a:spcAft>
              <a:tabLst>
                <a:tab pos="0" algn="l"/>
              </a:tabLst>
            </a:pPr>
            <a:r>
              <a:rPr lang="en-US" sz="1200" b="1" u="none" strike="noStrike">
                <a:solidFill>
                  <a:srgbClr val="FFFFFF"/>
                </a:solidFill>
                <a:effectLst/>
                <a:uFillTx/>
                <a:latin typeface="Calibri"/>
              </a:rPr>
              <a:t>Sovereign Deployment</a:t>
            </a:r>
            <a:endParaRPr lang="pt-BR" sz="1200" b="0" u="none" strike="noStrike">
              <a:solidFill>
                <a:srgbClr val="FFFFFF"/>
              </a:solidFill>
              <a:effectLst/>
              <a:uFillTx/>
              <a:latin typeface="Arial"/>
            </a:endParaRPr>
          </a:p>
          <a:p>
            <a:pPr defTabSz="914400">
              <a:lnSpc>
                <a:spcPts val="1301"/>
              </a:lnSpc>
              <a:spcAft>
                <a:spcPts val="400"/>
              </a:spcAft>
              <a:tabLst>
                <a:tab pos="0" algn="l"/>
              </a:tabLst>
            </a:pPr>
            <a:r>
              <a:rPr lang="en-US" sz="900" b="0" u="none" strike="noStrike">
                <a:solidFill>
                  <a:srgbClr val="B0C8D8"/>
                </a:solidFill>
                <a:effectLst/>
                <a:uFillTx/>
                <a:latin typeface="Calibri"/>
              </a:rPr>
              <a:t>ZPE Caucaia construction + Hunyuan cluster deployment within 90 days of agreement</a:t>
            </a:r>
            <a:endParaRPr lang="pt-BR" sz="900" b="0" u="none" strike="noStrike">
              <a:solidFill>
                <a:srgbClr val="FFFFFF"/>
              </a:solidFill>
              <a:effectLst/>
              <a:uFillTx/>
              <a:latin typeface="Arial"/>
            </a:endParaRPr>
          </a:p>
        </p:txBody>
      </p:sp>
      <p:sp>
        <p:nvSpPr>
          <p:cNvPr id="187" name="Shape 14"/>
          <p:cNvSpPr/>
          <p:nvPr/>
        </p:nvSpPr>
        <p:spPr>
          <a:xfrm>
            <a:off x="502920" y="3840480"/>
            <a:ext cx="11182680" cy="1828440"/>
          </a:xfrm>
          <a:prstGeom prst="rect">
            <a:avLst/>
          </a:prstGeom>
          <a:solidFill>
            <a:srgbClr val="0D2839"/>
          </a:solidFill>
          <a:ln w="31750">
            <a:solidFill>
              <a:srgbClr val="D4A843"/>
            </a:solidFill>
            <a:round/>
          </a:ln>
        </p:spPr>
        <p:style>
          <a:lnRef idx="0"/>
          <a:fillRef idx="0"/>
          <a:effectRef idx="0"/>
          <a:fontRef idx="minor"/>
        </p:style>
        <p:txBody>
          <a:bodyPr lIns="90000" tIns="45000" rIns="90000" bIns="45000" anchor="t">
            <a:noAutofit/>
          </a:bodyPr>
          <a:p>
            <a:endParaRPr lang="pt-BR" sz="1800" b="0" u="none" strike="noStrike">
              <a:solidFill>
                <a:srgbClr val="FFFFFF"/>
              </a:solidFill>
              <a:effectLst/>
              <a:uFillTx/>
              <a:latin typeface="Arial"/>
            </a:endParaRPr>
          </a:p>
        </p:txBody>
      </p:sp>
      <p:sp>
        <p:nvSpPr>
          <p:cNvPr id="188" name="Text 15"/>
          <p:cNvSpPr/>
          <p:nvPr/>
        </p:nvSpPr>
        <p:spPr>
          <a:xfrm>
            <a:off x="1417320" y="4023360"/>
            <a:ext cx="9353880" cy="1462680"/>
          </a:xfrm>
          <a:prstGeom prst="rect">
            <a:avLst/>
          </a:prstGeom>
          <a:noFill/>
          <a:ln w="0">
            <a:noFill/>
          </a:ln>
        </p:spPr>
        <p:style>
          <a:lnRef idx="0"/>
          <a:fillRef idx="0"/>
          <a:effectRef idx="0"/>
          <a:fontRef idx="minor"/>
        </p:style>
        <p:txBody>
          <a:bodyPr lIns="0" tIns="0" rIns="0" bIns="0" anchor="ctr">
            <a:noAutofit/>
          </a:bodyPr>
          <a:p>
            <a:pPr algn="ctr" defTabSz="914400">
              <a:lnSpc>
                <a:spcPts val="2001"/>
              </a:lnSpc>
              <a:tabLst>
                <a:tab pos="0" algn="l"/>
              </a:tabLst>
            </a:pPr>
            <a:r>
              <a:rPr lang="en-US" sz="3600" b="1" u="none" strike="noStrike">
                <a:solidFill>
                  <a:srgbClr val="E8C847"/>
                </a:solidFill>
                <a:effectLst/>
                <a:uFillTx/>
                <a:latin typeface="Helvetica Neue"/>
                <a:ea typeface="Helvetica Neue"/>
              </a:rPr>
              <a:t>US$ 350,000,000</a:t>
            </a:r>
            <a:endParaRPr lang="pt-BR" sz="3600" b="0" u="none" strike="noStrike">
              <a:solidFill>
                <a:srgbClr val="FFFFFF"/>
              </a:solidFill>
              <a:effectLst/>
              <a:uFillTx/>
              <a:latin typeface="Arial"/>
            </a:endParaRPr>
          </a:p>
          <a:p>
            <a:pPr algn="ctr" defTabSz="914400">
              <a:lnSpc>
                <a:spcPts val="2001"/>
              </a:lnSpc>
              <a:tabLst>
                <a:tab pos="0" algn="l"/>
              </a:tabLst>
            </a:pPr>
            <a:r>
              <a:rPr lang="en-US" sz="1300" b="0" u="none" spc="300" strike="noStrike">
                <a:solidFill>
                  <a:srgbClr val="8FC0D0"/>
                </a:solidFill>
                <a:effectLst/>
                <a:uFillTx/>
                <a:latin typeface="Helvetica Neue"/>
                <a:ea typeface="Helvetica Neue"/>
              </a:rPr>
              <a:t>Initial Capital Intake</a:t>
            </a:r>
            <a:endParaRPr lang="pt-BR" sz="1300" b="0" u="none" strike="noStrike">
              <a:solidFill>
                <a:srgbClr val="FFFFFF"/>
              </a:solidFill>
              <a:effectLst/>
              <a:uFillTx/>
              <a:latin typeface="Arial"/>
            </a:endParaRPr>
          </a:p>
          <a:p>
            <a:pPr defTabSz="914400">
              <a:lnSpc>
                <a:spcPts val="2001"/>
              </a:lnSpc>
              <a:tabLst>
                <a:tab pos="0" algn="l"/>
              </a:tabLst>
            </a:pPr>
            <a:r>
              <a:rPr lang="en-US" sz="600" b="0" u="none" strike="noStrike">
                <a:solidFill>
                  <a:srgbClr val="000000"/>
                </a:solidFill>
                <a:effectLst/>
                <a:uFillTx/>
                <a:latin typeface="Calibri"/>
                <a:ea typeface="Helvetica Neue"/>
              </a:rPr>
              <a:t> </a:t>
            </a:r>
            <a:endParaRPr lang="pt-BR" sz="600" b="0" u="none" strike="noStrike">
              <a:solidFill>
                <a:srgbClr val="FFFFFF"/>
              </a:solidFill>
              <a:effectLst/>
              <a:uFillTx/>
              <a:latin typeface="Arial"/>
            </a:endParaRPr>
          </a:p>
          <a:p>
            <a:pPr algn="ctr" defTabSz="914400">
              <a:lnSpc>
                <a:spcPts val="2001"/>
              </a:lnSpc>
              <a:tabLst>
                <a:tab pos="0" algn="l"/>
              </a:tabLst>
            </a:pPr>
            <a:r>
              <a:rPr lang="en-US" sz="1200" b="0" i="1" u="none" strike="noStrike">
                <a:solidFill>
                  <a:srgbClr val="FFFFFF"/>
                </a:solidFill>
                <a:effectLst/>
                <a:uFillTx/>
                <a:latin typeface="Georgia"/>
                <a:ea typeface="Georgia"/>
              </a:rPr>
              <a:t>US$ 1.1B revenue (5yr) · US$ 3.8B enterprise value at exit · 10.9× return</a:t>
            </a:r>
            <a:endParaRPr lang="pt-BR" sz="1200" b="0" u="none" strike="noStrike">
              <a:solidFill>
                <a:srgbClr val="FFFFFF"/>
              </a:solidFill>
              <a:effectLst/>
              <a:uFillTx/>
              <a:latin typeface="Arial"/>
            </a:endParaRPr>
          </a:p>
        </p:txBody>
      </p:sp>
      <p:sp>
        <p:nvSpPr>
          <p:cNvPr id="189" name="Text 16"/>
          <p:cNvSpPr/>
          <p:nvPr/>
        </p:nvSpPr>
        <p:spPr>
          <a:xfrm>
            <a:off x="502920" y="5943600"/>
            <a:ext cx="11182680" cy="548280"/>
          </a:xfrm>
          <a:prstGeom prst="rect">
            <a:avLst/>
          </a:prstGeom>
          <a:noFill/>
          <a:ln w="0">
            <a:noFill/>
          </a:ln>
        </p:spPr>
        <p:style>
          <a:lnRef idx="0"/>
          <a:fillRef idx="0"/>
          <a:effectRef idx="0"/>
          <a:fontRef idx="minor"/>
        </p:style>
        <p:txBody>
          <a:bodyPr lIns="0" tIns="0" rIns="0" bIns="0" anchor="ctr">
            <a:noAutofit/>
          </a:bodyPr>
          <a:p>
            <a:pPr algn="ctr" defTabSz="914400">
              <a:lnSpc>
                <a:spcPts val="1400"/>
              </a:lnSpc>
              <a:tabLst>
                <a:tab pos="0" algn="l"/>
              </a:tabLst>
            </a:pPr>
            <a:r>
              <a:rPr lang="en-US" sz="1000" b="0" u="none" strike="noStrike">
                <a:solidFill>
                  <a:srgbClr val="6B9BB0"/>
                </a:solidFill>
                <a:effectLst/>
                <a:uFillTx/>
                <a:latin typeface="Helvetica Neue"/>
                <a:ea typeface="Helvetica Neue"/>
              </a:rPr>
              <a:t>Matheus Ximenes Feijão Guimarães · Founder, Beans Tech</a:t>
            </a:r>
            <a:endParaRPr lang="pt-BR" sz="1000" b="0" u="none" strike="noStrike">
              <a:solidFill>
                <a:srgbClr val="FFFFFF"/>
              </a:solidFill>
              <a:effectLst/>
              <a:uFillTx/>
              <a:latin typeface="Arial"/>
            </a:endParaRPr>
          </a:p>
          <a:p>
            <a:pPr algn="ctr" defTabSz="914400">
              <a:lnSpc>
                <a:spcPts val="1400"/>
              </a:lnSpc>
              <a:tabLst>
                <a:tab pos="0" algn="l"/>
              </a:tabLst>
            </a:pPr>
            <a:r>
              <a:rPr lang="en-US" sz="1000" b="0" u="none" strike="noStrike">
                <a:solidFill>
                  <a:srgbClr val="6B9BB0"/>
                </a:solidFill>
                <a:effectLst/>
                <a:uFillTx/>
                <a:latin typeface="Helvetica Neue"/>
                <a:ea typeface="Helvetica Neue"/>
              </a:rPr>
              <a:t>hy.cloud | brasileiro.tech</a:t>
            </a:r>
            <a:endParaRPr lang="pt-BR" sz="1000" b="0" u="none" strike="noStrike">
              <a:solidFill>
                <a:srgbClr val="FFFFFF"/>
              </a:solidFill>
              <a:effectLst/>
              <a:uFillTx/>
              <a:latin typeface="Arial"/>
            </a:endParaRPr>
          </a:p>
          <a:p>
            <a:pPr algn="ctr" defTabSz="914400">
              <a:lnSpc>
                <a:spcPts val="1400"/>
              </a:lnSpc>
              <a:tabLst>
                <a:tab pos="0" algn="l"/>
              </a:tabLst>
            </a:pPr>
            <a:r>
              <a:rPr lang="en-US" sz="1000" b="0" u="none" strike="noStrike">
                <a:solidFill>
                  <a:srgbClr val="6B9BB0"/>
                </a:solidFill>
                <a:effectLst/>
                <a:uFillTx/>
                <a:latin typeface="Helvetica Neue"/>
                <a:ea typeface="Helvetica Neue"/>
              </a:rPr>
              <a:t>matheus@beanste</a:t>
            </a:r>
            <a:r>
              <a:rPr lang="en-US" sz="1000" b="0" u="none" strike="noStrike">
                <a:solidFill>
                  <a:srgbClr val="6B9BB0"/>
                </a:solidFill>
                <a:effectLst/>
                <a:uFillTx/>
                <a:latin typeface="Helvetica Neue"/>
                <a:ea typeface="Helvetica Neue"/>
              </a:rPr>
              <a:t>ch.com.br · beanstech.com.br</a:t>
            </a:r>
            <a:endParaRPr lang="pt-BR" sz="1000" b="0" u="none" strike="noStrike">
              <a:solidFill>
                <a:srgbClr val="FFFFFF"/>
              </a:solidFill>
              <a:effectLst/>
              <a:uFillTx/>
              <a:latin typeface="Arial"/>
            </a:endParaRPr>
          </a:p>
        </p:txBody>
      </p:sp>
      <p:sp>
        <p:nvSpPr>
          <p:cNvPr id="190" name="Text 17"/>
          <p:cNvSpPr/>
          <p:nvPr/>
        </p:nvSpPr>
        <p:spPr>
          <a:xfrm>
            <a:off x="502920" y="6510600"/>
            <a:ext cx="54860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6B9BB0"/>
                </a:solidFill>
                <a:effectLst/>
                <a:uFillTx/>
                <a:latin typeface="Helvetica Neue"/>
                <a:ea typeface="Helvetica Neue"/>
              </a:rPr>
              <a:t>BeansTech × Tencent Cloud — Confidential</a:t>
            </a:r>
            <a:endParaRPr lang="pt-BR" sz="800" b="0" u="none" strike="noStrike">
              <a:solidFill>
                <a:srgbClr val="FFFFFF"/>
              </a:solidFill>
              <a:effectLst/>
              <a:uFillTx/>
              <a:latin typeface="Arial"/>
            </a:endParaRPr>
          </a:p>
        </p:txBody>
      </p:sp>
      <p:sp>
        <p:nvSpPr>
          <p:cNvPr id="191" name="Text 18"/>
          <p:cNvSpPr/>
          <p:nvPr/>
        </p:nvSpPr>
        <p:spPr>
          <a:xfrm>
            <a:off x="11228760" y="6510600"/>
            <a:ext cx="456840" cy="255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6B9BB0"/>
                </a:solidFill>
                <a:effectLst/>
                <a:uFillTx/>
                <a:latin typeface="Helvetica Neue"/>
                <a:ea typeface="Helvetica Neue"/>
              </a:rPr>
              <a:t>13</a:t>
            </a:r>
            <a:endParaRPr lang="pt-BR"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357</TotalTime>
  <Application>LibreOffice/26.2.5.2$Linux_X86_64 LibreOffice_project/6d2b0d33fb0f5da53a12f98bed3e9973e56ff1f0</Application>
  <AppVersion>15.0000</AppVersion>
  <Words>0</Words>
  <Paragraphs>0</Paragraphs>
  <Company>BeansTech</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2026-09-18T13:50:53Z</dcterms:created>
  <dc:creator>BeansTech</dc:creator>
  <dc:description/>
  <dc:language>pt-BR</dc:language>
  <cp:lastModifiedBy/>
  <cp:lastPrinted>2026-09-18T11:23:41Z</cp:lastPrinted>
  <dcterms:modified xsi:type="dcterms:W3CDTF">2026-09-18T17:30:58Z</dcterms:modified>
  <cp:revision>2</cp:revision>
  <dc:subject>PptxGenJS Presentation</dc:subject>
  <dc:title>BeansTech × Tencent Cloud — Sovereign AI Ecosystem for LATAM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13</vt:i4>
  </property>
  <property fmtid="{D5CDD505-2E9C-101B-9397-08002B2CF9AE}" pid="3" name="PresentationFormat">
    <vt:lpwstr>On-screen Show (16:9)</vt:lpwstr>
  </property>
  <property fmtid="{D5CDD505-2E9C-101B-9397-08002B2CF9AE}" pid="4" name="Slides">
    <vt:i4>13</vt:i4>
  </property>
</Properties>
</file>