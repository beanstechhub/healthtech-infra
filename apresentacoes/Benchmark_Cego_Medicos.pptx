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C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B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Benchmark Cego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B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Teste de Modelos de IA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548640" y="237744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D97B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 Apoio à Decisão Clínica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48640" y="3657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9D3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Convite para Revisão por Pares e Projeto em Parceria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4389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B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casos clínicos · 9 modelos · 23 especialidades · revisão cega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Benchmark Cego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5E5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é a ferramenta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Apoio à decisão clínica — nunca diagnóstico autônomo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627632"/>
            <a:ext cx="128016" cy="128016"/>
          </a:xfrm>
          <a:prstGeom prst="rect">
            <a:avLst/>
          </a:prstGeom>
          <a:solidFill>
            <a:srgbClr val="D97B1E"/>
          </a:solidFill>
          <a:ln w="12700">
            <a:solidFill>
              <a:srgbClr val="D97B1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554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82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substitui o médico. O profissional descreve o caso, a ferramenta estrutura o raciocínio, o médico decide.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2404872"/>
            <a:ext cx="128016" cy="128016"/>
          </a:xfrm>
          <a:prstGeom prst="rect">
            <a:avLst/>
          </a:prstGeom>
          <a:solidFill>
            <a:srgbClr val="D97B1E"/>
          </a:solidFill>
          <a:ln w="12700">
            <a:solidFill>
              <a:srgbClr val="D97B1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3317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82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abstém quando não sabe. Se a evidência é insuficiente, a resposta é 'insufficient' — não um chute.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182112"/>
            <a:ext cx="128016" cy="128016"/>
          </a:xfrm>
          <a:prstGeom prst="rect">
            <a:avLst/>
          </a:prstGeom>
          <a:solidFill>
            <a:srgbClr val="D97B1E"/>
          </a:solidFill>
          <a:ln w="12700">
            <a:solidFill>
              <a:srgbClr val="D97B1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31089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82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Nunca inventa dose. Quando não tem certeza, diz 'confirmar em bula/protocolo vigente'.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3959352"/>
            <a:ext cx="128016" cy="128016"/>
          </a:xfrm>
          <a:prstGeom prst="rect">
            <a:avLst/>
          </a:prstGeom>
          <a:solidFill>
            <a:srgbClr val="D97B1E"/>
          </a:solidFill>
          <a:ln w="12700">
            <a:solidFill>
              <a:srgbClr val="D97B1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8862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82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auditável. Cada resposta tem modelo, versão, raciocínio, tokens, tempo e guardrail — tudo registrado.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4736592"/>
            <a:ext cx="128016" cy="128016"/>
          </a:xfrm>
          <a:prstGeom prst="rect">
            <a:avLst/>
          </a:prstGeom>
          <a:solidFill>
            <a:srgbClr val="D97B1E"/>
          </a:solidFill>
          <a:ln w="12700">
            <a:solidFill>
              <a:srgbClr val="D97B1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46634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82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Remove dados pessoais antes de qualquer processamento. Nome, CPF e telefone são removidos em São Paulo.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Benchmark Cego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5E5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NÃO é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719072"/>
            <a:ext cx="128016" cy="12801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64592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3C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é diagnóstico autônomo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17920" y="1719072"/>
            <a:ext cx="128016" cy="12801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92240" y="164592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3C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substitui avaliação clínica presencial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090672"/>
            <a:ext cx="128016" cy="12801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01752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3C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usa dados de pacientes para treinamento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217920" y="3090672"/>
            <a:ext cx="128016" cy="12801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301752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3C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responde pacientes diretamente — é para uso profissional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0" y="4572000"/>
            <a:ext cx="12188952" cy="914400"/>
          </a:xfrm>
          <a:prstGeom prst="rect">
            <a:avLst/>
          </a:prstGeom>
          <a:solidFill>
            <a:srgbClr val="EAF2F0"/>
          </a:solidFill>
          <a:ln w="12700">
            <a:solidFill>
              <a:srgbClr val="EAF2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46634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55E5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uso como ferramenta de apoio à decisão clínica é permitido e está alinhado com as discussões do CFM sobre uso responsável de tecnologia.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Benchmark Cego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5E5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Metodologia do Teste Cego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55E5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200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548640" y="24688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casos clínicos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429000" y="15544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55E5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3429000" y="24688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 (cegos: A-I)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09360" y="15544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55E5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6309360" y="24688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especialidades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189720" y="15544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D97B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1.800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9189720" y="24688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respostas para revisão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108960"/>
            <a:ext cx="11091672" cy="0"/>
          </a:xfrm>
          <a:prstGeom prst="line">
            <a:avLst/>
          </a:prstGeom>
          <a:noFill/>
          <a:ln w="9525">
            <a:solidFill>
              <a:srgbClr val="CFDC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29184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5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Cego: </a:t>
            </a:r>
            <a:pPr indent="0" marL="0">
              <a:buNone/>
            </a:pPr>
            <a:r>
              <a:rPr lang="en-US" sz="1500" dirty="0">
                <a:solidFill>
                  <a:srgbClr val="182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recebe 200 casos com respostas de 9 modelos (Modelo A até Modelo I), sem saber qual modelo gerou cada resposta. Avalia cada resposta. As identidades são reveladas após a revisão completa.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Benchmark Cego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5E5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Avaliar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Simples e objetivo — menos de 3 minutos por caso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91440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286000"/>
                <a:gridCol w="2286000"/>
                <a:gridCol w="2286000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Critério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34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0" y="4389120"/>
            <a:ext cx="12188952" cy="1097280"/>
          </a:xfrm>
          <a:prstGeom prst="rect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8640" y="44805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 CLÍNICO GRAVE = BLOQUEADOR. </a:t>
            </a:r>
            <a:pPr indent="0" marL="0">
              <a:buNone/>
            </a:pPr>
            <a:r>
              <a:rPr lang="en-US" sz="1500" dirty="0">
                <a:solidFill>
                  <a:srgbClr val="182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qualquer modelo cometer erro grave em qualquer caso, ele não passa para produção — independentemente da nota média.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Benchmark Cego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5E5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Resultados Preliminares (avaliação automática)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Indicadores — a sua revisão é o que transforma em prova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64008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828800"/>
                <a:gridCol w="22860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Coverage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Abstenções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3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0" y="1645920"/>
            <a:ext cx="3840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82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avaliação automática mede </a:t>
            </a:r>
            <a:pPr indent="0" marL="0">
              <a:buNone/>
            </a:pPr>
            <a:r>
              <a:rPr lang="en-US" sz="1400" b="1" dirty="0">
                <a:solidFill>
                  <a:srgbClr val="155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correspondência literal de texto</a:t>
            </a:r>
            <a:pPr indent="0" marL="0">
              <a:buNone/>
            </a:pPr>
            <a:r>
              <a:rPr lang="en-US" sz="1400" dirty="0">
                <a:solidFill>
                  <a:srgbClr val="182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Um modelo que diz 'ventilação não invasiva' em vez de 'VNI' perde o ponto. A revisão humana corrige isso.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Benchmark Cego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5E5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Convite ao Einstein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de validação em parceria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1097280" cy="640080"/>
          </a:xfrm>
          <a:prstGeom prst="rect">
            <a:avLst/>
          </a:prstGeom>
          <a:solidFill>
            <a:srgbClr val="155E56"/>
          </a:solidFill>
          <a:ln w="12700">
            <a:solidFill>
              <a:srgbClr val="155E5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6459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920240" y="16916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semanas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474720" y="16916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82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Especialidade prioritária, 200 casos reais anonimizados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2560320"/>
            <a:ext cx="1097280" cy="640080"/>
          </a:xfrm>
          <a:prstGeom prst="rect">
            <a:avLst/>
          </a:prstGeom>
          <a:solidFill>
            <a:srgbClr val="155E56"/>
          </a:solidFill>
          <a:ln w="12700">
            <a:solidFill>
              <a:srgbClr val="155E5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5603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920240" y="26060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semanas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474720" y="2606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82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Respostas avaliadas por 2 revisores independentes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3474720"/>
            <a:ext cx="1097280" cy="640080"/>
          </a:xfrm>
          <a:prstGeom prst="rect">
            <a:avLst/>
          </a:prstGeom>
          <a:solidFill>
            <a:srgbClr val="155E56"/>
          </a:solidFill>
          <a:ln w="12700">
            <a:solidFill>
              <a:srgbClr val="155E5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34747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920240" y="35204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semanas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74720" y="35204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82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Relatório: erro clínico, custo, recomendação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48640" y="475488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5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Einstein recebe: </a:t>
            </a:r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co-autoria na metodologia (publicável), acesso à plataforma, benchmark exclusivo. </a:t>
            </a:r>
            <a:pPr indent="0" marL="0">
              <a:buNone/>
            </a:pPr>
            <a:r>
              <a:rPr lang="en-US" sz="1400" b="1" dirty="0">
                <a:solidFill>
                  <a:srgbClr val="155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Einstein não cede: </a:t>
            </a:r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 dado de paciente, nada além de perguntas anonimizadas e tempo de revisão.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Benchmark Cego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5E5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Participar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5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Repositório: </a:t>
            </a:r>
            <a:pPr indent="0" marL="0">
              <a:buNone/>
            </a:pPr>
            <a:r>
              <a:rPr lang="en-US" sz="1600" dirty="0">
                <a:solidFill>
                  <a:srgbClr val="182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github.com/beanstechhub/einstein-benchmark (privado — convite por email)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22860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5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Conteúdo: </a:t>
            </a:r>
            <a:pPr indent="0" marL="0">
              <a:buNone/>
            </a:pPr>
            <a:r>
              <a:rPr lang="en-US" sz="1600" dirty="0">
                <a:solidFill>
                  <a:srgbClr val="182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blind_package.json (200 casos + respostas cegas) · review_form.tsv (formulário)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29260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5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Prazo sugerido: </a:t>
            </a:r>
            <a:pPr indent="0" marL="0">
              <a:buNone/>
            </a:pPr>
            <a:r>
              <a:rPr lang="en-US" sz="1600" dirty="0">
                <a:solidFill>
                  <a:srgbClr val="182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semanas para revisão dos 200 casos (~3 min/caso = 10 horas)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CFDC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38404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abra </a:t>
            </a:r>
            <a:pPr indent="0" marL="0">
              <a:buNone/>
            </a:pPr>
            <a:r>
              <a:rPr lang="en-US" sz="1800" b="1" i="1" dirty="0">
                <a:solidFill>
                  <a:srgbClr val="155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gabarito.json</a:t>
            </a:r>
            <a:pPr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ou </a:t>
            </a:r>
            <a:pPr indent="0" marL="0">
              <a:buNone/>
            </a:pPr>
            <a:r>
              <a:rPr lang="en-US" sz="1800" b="1" i="1" dirty="0">
                <a:solidFill>
                  <a:srgbClr val="155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blind_key.json</a:t>
            </a:r>
            <a:pPr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antes de terminar a revisão.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50292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3C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Matheus Feijão · WhatsApp +55 11 92507-9058 · matheus@beanstech.com.br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57607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55E5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IA é sempre um meio. </a:t>
            </a:r>
            <a:pPr indent="0" marL="0">
              <a:buNone/>
            </a:pPr>
            <a:r>
              <a:rPr lang="en-US" sz="1800" b="1" i="1" dirty="0">
                <a:solidFill>
                  <a:srgbClr val="D97B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médico decide. Sempre.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Benchmark Cego — Revisão Médica</dc:title>
  <dc:subject>PptxGenJS Presentation</dc:subject>
  <dc:creator>BeansTech Health</dc:creator>
  <cp:lastModifiedBy>BeansTech Health</cp:lastModifiedBy>
  <cp:revision>1</cp:revision>
  <dcterms:created xsi:type="dcterms:W3CDTF">2026-09-18T16:19:19Z</dcterms:created>
  <dcterms:modified xsi:type="dcterms:W3CDTF">2026-09-18T16:19:19Z</dcterms:modified>
</cp:coreProperties>
</file>